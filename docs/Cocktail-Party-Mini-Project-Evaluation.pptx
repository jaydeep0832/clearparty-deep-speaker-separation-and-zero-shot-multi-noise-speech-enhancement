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Carlito" panose="020B0604020202020204" charset="0"/>
      <p:regular r:id="rId12"/>
    </p:embeddedFont>
    <p:embeddedFont>
      <p:font typeface="Inter" panose="020B0604020202020204" charset="0"/>
      <p:regular r:id="rId13"/>
    </p:embeddedFont>
    <p:embeddedFont>
      <p:font typeface="Inter Bold" panose="020B0604020202020204" charset="0"/>
      <p:regular r:id="rId14"/>
    </p:embeddedFont>
    <p:embeddedFont>
      <p:font typeface="Petrona Bold"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0206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[Jaydeep, ~20s] Good afternoon, sir. Our project is on the Cocktail Party Problem: picking one voice out of a mixed recording. We started by removing background noise, and then moved to separating two overlapping speakers using Conv-TasNet. First, why this problem is hard.KEY: We moved from removing noise to separating overlapping voices.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[Jaydeep, ~50s] In a crowded room, a person can focus on one speaker. A microphone can't: it records every voice added together as one waveform. This matters for hearing aids, voice assistants, meeting calls and transcription. Now the key distinction. Denoising takes speech plus noise and returns speech; the noise is a different kind of sound, so it is easier. Separation takes two speakers and must return both. Both are human speech with similar frequencies, so it is much harder. That is the true Cocktail Party Problem, and it is our target. (Diagram shows 2 speakers, the case we built.)KEY: Denoising removes non-speech; separation untangles speech from speech.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[Jaydeep, ~40s] We had five objectives. One: compare a frequency-domain model, the Spectrogram U-Net, with a time-domain model, Conv-TasNet. Two, Phase 1: remove environmental noise. Three, Phase 2: separate two overlapping speakers, the real Cocktail Party Problem. Four: build a training pipeline efficient enough for large data on a single Colab T4. Five: evaluate with SI-SDR for distortion, PESQ for quality, STOI for intelligibility.KEY: Compare, denoise, separate, optimize, evaluate.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[Jaydeep, ~60s] The literature shows a progression. Traditional methods, spectral subtraction and Wiener filtering, assume stationary noise, so they struggle in real environments. Deep learning moved to spectrograms: a U-Net predicts a mask on the STFT magnitude but reuses the noisy phase; in our Phase 1 it worked very well for denoising. The key paper is Conv-TasNet by Luo and Mesgarani, 2019. It removes the STFT: a learned encoder turns the raw waveform into features, a temporal convolutional network estimates masks, and a decoder rebuilds the audio. The paper reports 15.3 dB SI-SDR improvement on WSJ0-2mix. Transformer models like SepFormer are future work. Now, the gap.KEY: Conv-TasNet separates directly on the waveform: encoder, TCN, decoder, no STFT.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[Jaydeep, ~50s] Phase 1 only handled one speaker plus environmental noise, which does not solve overlapping people: gap one. Gap two is scale. Our Phase 2A baseline had only 2,700 training pairs and a 1.4 million parameter model, and reached 6.98 dB improvement against the paper's 15.3. Large-scale training also hit I/O and GPU limits. Gap three is evaluation: Phase 1 used one test sample and no PESQ or STOI. So our improvement is two-speaker separation, 14,269 pairs, a scaled 3.4M Conv-TasNet, an optimized pipeline, and SI-SDR, PESQ and STOI evaluation. Over to Yatharth.KEY: The gap is not noise removal; it is separating speech from speech at scale.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[Yatharth, ~90s] We start with LibriSpeech train-clean-100: 28,539 utterances from 251 speakers. We group by speaker so we never mix a person with themselves, and resample from 16 to 8 kHz, the benchmark rate that halves computation. We pair Speaker A with a different Speaker B, trim to the shorter, scale B at a random relative SNR between minus 5 and plus 5 dB, add them, guard against clipping, and take a random 4-second chunk. That gives 14,269 pairs. The model is Conv-TasNet. The encoder, a 1D convolution, turns the waveform into learned features, replacing the STFT. The separator, a temporal convolutional network, builds one mask per speaker, deciding which features belong to whom. The decoder rebuilds the waveform. The network outputs two signals but does not know which is Speaker 1, so Permutation Invariant Training tries both assignments and trains on the better one, with negative SI-SDR as the loss. We evaluate with SI-SDR and its improvement, plus PESQ and STOI.KEY: Encoder learns features, TCN assigns them to speakers, decoder rebuilds audio, PIT fixes the speaker order.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[Yatharth, ~60s] Our work has three stages. Phase 1: the denoising dataset, a Spectrogram U-Net and a Conv-TasNet. Phase 2A: our first separation baseline: 2,700 training pairs, a 1.4 million parameter model, 50 epochs, and 6.98 dB improvement on the test set. Phase 2B: 14,269 pairs from 251 speakers and a 3.4 million parameter model. The biggest engineering result is training time: Phase 2B epochs dropped from about 14 minutes to 4.5, roughly 70 percent less. Four fixes: data moved from Google Drive to the local SSD, batch size from 4 to 12, FP16 mixed precision on the T4's Tensor Cores, and epsilon raised to 1e-5 to stop FP16 NaN errors. We also fixed audio clipping at inference with peak normalization.KEY: Phase 2B epochs went from 14 to 4.5 minutes through storage, batch size, FP16 and a stability fix.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[Yatharth, ~70s] Three views, kept separate because they are different measurements. Training: validation SI-SDR rose from 1.84 dB at epoch 1 to 10.10 at epoch 12 and peaked at 11.76 dB at epoch 48; training SI-SDR reached 12.99 at epoch 49. The gap is about one dB and validation is flattening, so more training with learning-rate decay is next. Comparison with our baseline, like for like: validation SI-SDR went from 8.66 to 11.76 dB; on the test evaluation, mean SI-SDR improvement went from 6.98 to 11.06 dB and the median from 8.26 to 12.23. Perceptual: PESQ, perceived quality, rose from 1.59 to 2.36; STOI, intelligibility, from 71.3 to 88.1 percent. The Phase 1 numbers are a different task and not comparable.KEY: Best validation 11.76 dB; test SI-SDRi 6.98 → 11.06 dB; PESQ 1.59 → 2.36; STOI 71.3 → 88.1%.CONFIRM before presenting: 11.06 / 12.23 / PESQ / STOI come from the mid-evaluation document only.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[Yatharth, ~20s: conclusion] We moved from denoising to true two-speaker separation. We scaled the model and the data, cut Phase 2B training time by about 70 percent, and reached 11.76 dB best validation SI-SDR with clear PESQ and STOI gains. We are still below the original paper's 15.3 dB, which used a different dataset, and training has not fully converged.[Jaydeep, ~20s: future work] Next we will continue training with learning-rate decay, evaluate on full-length held-out audio, fine-tune on speakers plus noise, and compare with SepFormer. Thank you; we are happy to take questions.KEY: Denoising → separation, scaled and optimized; next step is speakers plus noise.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C0524"/>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842963"/>
            <a:ext cx="6404410" cy="1799729"/>
          </a:xfrm>
          <a:prstGeom prst="rect">
            <a:avLst/>
          </a:prstGeom>
          <a:noFill/>
          <a:ln/>
        </p:spPr>
        <p:txBody>
          <a:bodyPr wrap="square" lIns="0" tIns="118424" rIns="0" bIns="118424" rtlCol="0" anchor="t">
            <a:normAutofit lnSpcReduction="10000"/>
          </a:bodyPr>
          <a:lstStyle/>
          <a:p>
            <a:pPr marL="0" indent="0" algn="l">
              <a:lnSpc>
                <a:spcPct val="92000"/>
              </a:lnSpc>
              <a:buNone/>
            </a:pPr>
            <a:r>
              <a:rPr lang="en-US" sz="3750" b="1" kern="100" spc="-75" dirty="0">
                <a:solidFill>
                  <a:srgbClr val="F1F5F9"/>
                </a:solidFill>
                <a:latin typeface="Petrona Bold" pitchFamily="34" charset="0"/>
                <a:ea typeface="Petrona Bold" pitchFamily="34" charset="-122"/>
                <a:cs typeface="Petrona Bold" pitchFamily="34" charset="-120"/>
              </a:rPr>
              <a:t>Deep Learning-Based Speech Enhancement &amp; Separation for the Cocktail Party Problem</a:t>
            </a:r>
            <a:endParaRPr lang="en-US" sz="3750" dirty="0"/>
          </a:p>
        </p:txBody>
      </p:sp>
      <p:sp>
        <p:nvSpPr>
          <p:cNvPr id="3" name="Text 1"/>
          <p:cNvSpPr/>
          <p:nvPr/>
        </p:nvSpPr>
        <p:spPr>
          <a:xfrm>
            <a:off x="609585" y="3460750"/>
            <a:ext cx="7071143" cy="426641"/>
          </a:xfrm>
          <a:prstGeom prst="rect">
            <a:avLst/>
          </a:prstGeom>
          <a:noFill/>
          <a:ln/>
        </p:spPr>
        <p:txBody>
          <a:bodyPr wrap="none" lIns="0" tIns="0" rIns="0" bIns="0" rtlCol="0" anchor="t"/>
          <a:lstStyle/>
          <a:p>
            <a:pPr marL="0" indent="0" algn="l">
              <a:lnSpc>
                <a:spcPct val="117000"/>
              </a:lnSpc>
              <a:buNone/>
            </a:pPr>
            <a:r>
              <a:rPr lang="en-US" sz="2400" b="1" kern="100" spc="-28" dirty="0">
                <a:solidFill>
                  <a:srgbClr val="22D3EE"/>
                </a:solidFill>
                <a:latin typeface="Inter Bold" pitchFamily="34" charset="0"/>
                <a:ea typeface="Inter Bold" pitchFamily="34" charset="-122"/>
                <a:cs typeface="Inter Bold" pitchFamily="34" charset="-120"/>
              </a:rPr>
              <a:t>Minor Project Evaluation</a:t>
            </a:r>
            <a:endParaRPr lang="en-US" sz="2400" dirty="0"/>
          </a:p>
        </p:txBody>
      </p:sp>
      <p:sp>
        <p:nvSpPr>
          <p:cNvPr id="4" name="Text 2"/>
          <p:cNvSpPr/>
          <p:nvPr/>
        </p:nvSpPr>
        <p:spPr>
          <a:xfrm>
            <a:off x="609585" y="4131270"/>
            <a:ext cx="6461559" cy="711200"/>
          </a:xfrm>
          <a:prstGeom prst="rect">
            <a:avLst/>
          </a:prstGeom>
          <a:noFill/>
          <a:ln/>
        </p:spPr>
        <p:txBody>
          <a:bodyPr wrap="square" lIns="0" tIns="0" rIns="0" bIns="0" rtlCol="0" anchor="t">
            <a:normAutofit/>
          </a:bodyPr>
          <a:lstStyle/>
          <a:p>
            <a:pPr marL="0" indent="0" algn="l">
              <a:lnSpc>
                <a:spcPct val="117000"/>
              </a:lnSpc>
              <a:buNone/>
            </a:pPr>
            <a:r>
              <a:rPr lang="en-US" sz="2000" kern="100" spc="-28" dirty="0">
                <a:solidFill>
                  <a:srgbClr val="E0D6DE"/>
                </a:solidFill>
                <a:latin typeface="Inter" pitchFamily="34" charset="0"/>
                <a:ea typeface="Inter" pitchFamily="34" charset="-122"/>
                <a:cs typeface="Inter" pitchFamily="34" charset="-120"/>
              </a:rPr>
              <a:t>Jaydeep Parmar — 23BIT133</a:t>
            </a:r>
            <a:endParaRPr lang="en-US" sz="2000" dirty="0"/>
          </a:p>
          <a:p>
            <a:pPr marL="0" indent="0" algn="l">
              <a:lnSpc>
                <a:spcPct val="117000"/>
              </a:lnSpc>
              <a:buNone/>
            </a:pPr>
            <a:r>
              <a:rPr lang="en-US" sz="2000" kern="100" spc="-28" dirty="0">
                <a:solidFill>
                  <a:srgbClr val="E0D6DE"/>
                </a:solidFill>
                <a:latin typeface="Inter" pitchFamily="34" charset="0"/>
                <a:ea typeface="Inter" pitchFamily="34" charset="-122"/>
                <a:cs typeface="Inter" pitchFamily="34" charset="-120"/>
              </a:rPr>
              <a:t>Yatharth Tadvi — 23BIT143</a:t>
            </a:r>
            <a:endParaRPr lang="en-US" sz="2000" dirty="0"/>
          </a:p>
        </p:txBody>
      </p:sp>
      <p:sp>
        <p:nvSpPr>
          <p:cNvPr id="5" name="Text 3"/>
          <p:cNvSpPr/>
          <p:nvPr/>
        </p:nvSpPr>
        <p:spPr>
          <a:xfrm>
            <a:off x="609585" y="5106591"/>
            <a:ext cx="6461559" cy="614958"/>
          </a:xfrm>
          <a:prstGeom prst="rect">
            <a:avLst/>
          </a:prstGeom>
          <a:noFill/>
          <a:ln/>
        </p:spPr>
        <p:txBody>
          <a:bodyPr wrap="square" lIns="0" tIns="0" rIns="0" bIns="0" rtlCol="0" anchor="t">
            <a:normAutofit/>
          </a:bodyPr>
          <a:lstStyle/>
          <a:p>
            <a:pPr marL="0" indent="0" algn="l">
              <a:lnSpc>
                <a:spcPct val="117000"/>
              </a:lnSpc>
              <a:buNone/>
            </a:pPr>
            <a:r>
              <a:rPr lang="en-US" sz="1750" kern="100" spc="-28" dirty="0">
                <a:solidFill>
                  <a:srgbClr val="94A3B8"/>
                </a:solidFill>
                <a:latin typeface="Inter" pitchFamily="34" charset="0"/>
                <a:ea typeface="Inter" pitchFamily="34" charset="-122"/>
                <a:cs typeface="Inter" pitchFamily="34" charset="-120"/>
              </a:rPr>
              <a:t>Department of ICT, PDEU</a:t>
            </a:r>
            <a:endParaRPr lang="en-US" sz="1750" dirty="0"/>
          </a:p>
          <a:p>
            <a:pPr marL="0" indent="0" algn="l">
              <a:lnSpc>
                <a:spcPct val="117000"/>
              </a:lnSpc>
              <a:buNone/>
            </a:pPr>
            <a:r>
              <a:rPr lang="en-US" sz="1750" kern="100" spc="-28" dirty="0">
                <a:solidFill>
                  <a:srgbClr val="94A3B8"/>
                </a:solidFill>
                <a:latin typeface="Inter" pitchFamily="34" charset="0"/>
                <a:ea typeface="Inter" pitchFamily="34" charset="-122"/>
                <a:cs typeface="Inter" pitchFamily="34" charset="-120"/>
              </a:rPr>
              <a:t>Mentor: Dr. Jigar Shah  </a:t>
            </a:r>
            <a:endParaRPr lang="en-US" sz="1750" dirty="0"/>
          </a:p>
        </p:txBody>
      </p:sp>
      <p:sp>
        <p:nvSpPr>
          <p:cNvPr id="6" name="Shape 4"/>
          <p:cNvSpPr/>
          <p:nvPr/>
        </p:nvSpPr>
        <p:spPr>
          <a:xfrm>
            <a:off x="7619809" y="3390900"/>
            <a:ext cx="76198" cy="76200"/>
          </a:xfrm>
          <a:prstGeom prst="roundRect">
            <a:avLst>
              <a:gd name="adj" fmla="val 45000"/>
            </a:avLst>
          </a:prstGeom>
          <a:solidFill>
            <a:srgbClr val="22D3EE">
              <a:alpha val="55000"/>
            </a:srgbClr>
          </a:solidFill>
          <a:ln/>
        </p:spPr>
        <p:txBody>
          <a:bodyPr/>
          <a:lstStyle/>
          <a:p>
            <a:endParaRPr lang="en-IN"/>
          </a:p>
        </p:txBody>
      </p:sp>
      <p:sp>
        <p:nvSpPr>
          <p:cNvPr id="7" name="Shape 5"/>
          <p:cNvSpPr/>
          <p:nvPr/>
        </p:nvSpPr>
        <p:spPr>
          <a:xfrm>
            <a:off x="7753156" y="3288010"/>
            <a:ext cx="76198" cy="281880"/>
          </a:xfrm>
          <a:prstGeom prst="roundRect">
            <a:avLst>
              <a:gd name="adj" fmla="val 45000"/>
            </a:avLst>
          </a:prstGeom>
          <a:solidFill>
            <a:srgbClr val="22D3EE">
              <a:alpha val="55000"/>
            </a:srgbClr>
          </a:solidFill>
          <a:ln/>
        </p:spPr>
        <p:txBody>
          <a:bodyPr/>
          <a:lstStyle/>
          <a:p>
            <a:endParaRPr lang="en-IN"/>
          </a:p>
        </p:txBody>
      </p:sp>
      <p:sp>
        <p:nvSpPr>
          <p:cNvPr id="8" name="Shape 6"/>
          <p:cNvSpPr/>
          <p:nvPr/>
        </p:nvSpPr>
        <p:spPr>
          <a:xfrm>
            <a:off x="7886503" y="3206750"/>
            <a:ext cx="76198" cy="444500"/>
          </a:xfrm>
          <a:prstGeom prst="roundRect">
            <a:avLst>
              <a:gd name="adj" fmla="val 45000"/>
            </a:avLst>
          </a:prstGeom>
          <a:solidFill>
            <a:srgbClr val="22D3EE">
              <a:alpha val="55000"/>
            </a:srgbClr>
          </a:solidFill>
          <a:ln/>
        </p:spPr>
        <p:txBody>
          <a:bodyPr/>
          <a:lstStyle/>
          <a:p>
            <a:endParaRPr lang="en-IN"/>
          </a:p>
        </p:txBody>
      </p:sp>
      <p:sp>
        <p:nvSpPr>
          <p:cNvPr id="9" name="Shape 7"/>
          <p:cNvSpPr/>
          <p:nvPr/>
        </p:nvSpPr>
        <p:spPr>
          <a:xfrm>
            <a:off x="8019849" y="3138091"/>
            <a:ext cx="76198" cy="581620"/>
          </a:xfrm>
          <a:prstGeom prst="roundRect">
            <a:avLst>
              <a:gd name="adj" fmla="val 45000"/>
            </a:avLst>
          </a:prstGeom>
          <a:solidFill>
            <a:srgbClr val="22D3EE">
              <a:alpha val="55000"/>
            </a:srgbClr>
          </a:solidFill>
          <a:ln/>
        </p:spPr>
        <p:txBody>
          <a:bodyPr/>
          <a:lstStyle/>
          <a:p>
            <a:endParaRPr lang="en-IN"/>
          </a:p>
        </p:txBody>
      </p:sp>
      <p:sp>
        <p:nvSpPr>
          <p:cNvPr id="10" name="Shape 8"/>
          <p:cNvSpPr/>
          <p:nvPr/>
        </p:nvSpPr>
        <p:spPr>
          <a:xfrm>
            <a:off x="8153196" y="2999680"/>
            <a:ext cx="76198" cy="858441"/>
          </a:xfrm>
          <a:prstGeom prst="roundRect">
            <a:avLst>
              <a:gd name="adj" fmla="val 45000"/>
            </a:avLst>
          </a:prstGeom>
          <a:solidFill>
            <a:srgbClr val="22D3EE">
              <a:alpha val="55000"/>
            </a:srgbClr>
          </a:solidFill>
          <a:ln/>
        </p:spPr>
        <p:txBody>
          <a:bodyPr/>
          <a:lstStyle/>
          <a:p>
            <a:endParaRPr lang="en-IN"/>
          </a:p>
        </p:txBody>
      </p:sp>
      <p:sp>
        <p:nvSpPr>
          <p:cNvPr id="11" name="Shape 9"/>
          <p:cNvSpPr/>
          <p:nvPr/>
        </p:nvSpPr>
        <p:spPr>
          <a:xfrm>
            <a:off x="8286543" y="3082230"/>
            <a:ext cx="76198" cy="693341"/>
          </a:xfrm>
          <a:prstGeom prst="roundRect">
            <a:avLst>
              <a:gd name="adj" fmla="val 45000"/>
            </a:avLst>
          </a:prstGeom>
          <a:solidFill>
            <a:srgbClr val="22D3EE">
              <a:alpha val="55000"/>
            </a:srgbClr>
          </a:solidFill>
          <a:ln/>
        </p:spPr>
        <p:txBody>
          <a:bodyPr/>
          <a:lstStyle/>
          <a:p>
            <a:endParaRPr lang="en-IN"/>
          </a:p>
        </p:txBody>
      </p:sp>
      <p:sp>
        <p:nvSpPr>
          <p:cNvPr id="12" name="Shape 10"/>
          <p:cNvSpPr/>
          <p:nvPr/>
        </p:nvSpPr>
        <p:spPr>
          <a:xfrm>
            <a:off x="8419889" y="2809180"/>
            <a:ext cx="76198" cy="1238250"/>
          </a:xfrm>
          <a:prstGeom prst="roundRect">
            <a:avLst>
              <a:gd name="adj" fmla="val 45000"/>
            </a:avLst>
          </a:prstGeom>
          <a:solidFill>
            <a:srgbClr val="22D3EE">
              <a:alpha val="55000"/>
            </a:srgbClr>
          </a:solidFill>
          <a:ln/>
        </p:spPr>
        <p:txBody>
          <a:bodyPr/>
          <a:lstStyle/>
          <a:p>
            <a:endParaRPr lang="en-IN"/>
          </a:p>
        </p:txBody>
      </p:sp>
      <p:sp>
        <p:nvSpPr>
          <p:cNvPr id="13" name="Shape 11"/>
          <p:cNvSpPr/>
          <p:nvPr/>
        </p:nvSpPr>
        <p:spPr>
          <a:xfrm>
            <a:off x="8553236" y="3106341"/>
            <a:ext cx="76198" cy="646410"/>
          </a:xfrm>
          <a:prstGeom prst="roundRect">
            <a:avLst>
              <a:gd name="adj" fmla="val 45000"/>
            </a:avLst>
          </a:prstGeom>
          <a:solidFill>
            <a:srgbClr val="22D3EE">
              <a:alpha val="55000"/>
            </a:srgbClr>
          </a:solidFill>
          <a:ln/>
        </p:spPr>
        <p:txBody>
          <a:bodyPr/>
          <a:lstStyle/>
          <a:p>
            <a:endParaRPr lang="en-IN"/>
          </a:p>
        </p:txBody>
      </p:sp>
      <p:sp>
        <p:nvSpPr>
          <p:cNvPr id="14" name="Shape 12"/>
          <p:cNvSpPr/>
          <p:nvPr/>
        </p:nvSpPr>
        <p:spPr>
          <a:xfrm>
            <a:off x="8686583" y="2663130"/>
            <a:ext cx="76198" cy="1532830"/>
          </a:xfrm>
          <a:prstGeom prst="roundRect">
            <a:avLst>
              <a:gd name="adj" fmla="val 45000"/>
            </a:avLst>
          </a:prstGeom>
          <a:solidFill>
            <a:srgbClr val="22D3EE">
              <a:alpha val="55000"/>
            </a:srgbClr>
          </a:solidFill>
          <a:ln/>
        </p:spPr>
        <p:txBody>
          <a:bodyPr/>
          <a:lstStyle/>
          <a:p>
            <a:endParaRPr lang="en-IN"/>
          </a:p>
        </p:txBody>
      </p:sp>
      <p:sp>
        <p:nvSpPr>
          <p:cNvPr id="15" name="Shape 13"/>
          <p:cNvSpPr/>
          <p:nvPr/>
        </p:nvSpPr>
        <p:spPr>
          <a:xfrm>
            <a:off x="8819929" y="3093641"/>
            <a:ext cx="76198" cy="670520"/>
          </a:xfrm>
          <a:prstGeom prst="roundRect">
            <a:avLst>
              <a:gd name="adj" fmla="val 45000"/>
            </a:avLst>
          </a:prstGeom>
          <a:solidFill>
            <a:srgbClr val="22D3EE">
              <a:alpha val="55000"/>
            </a:srgbClr>
          </a:solidFill>
          <a:ln/>
        </p:spPr>
        <p:txBody>
          <a:bodyPr/>
          <a:lstStyle/>
          <a:p>
            <a:endParaRPr lang="en-IN"/>
          </a:p>
        </p:txBody>
      </p:sp>
      <p:sp>
        <p:nvSpPr>
          <p:cNvPr id="16" name="Shape 14"/>
          <p:cNvSpPr/>
          <p:nvPr/>
        </p:nvSpPr>
        <p:spPr>
          <a:xfrm>
            <a:off x="8953276" y="2580580"/>
            <a:ext cx="76198" cy="1697930"/>
          </a:xfrm>
          <a:prstGeom prst="roundRect">
            <a:avLst>
              <a:gd name="adj" fmla="val 45000"/>
            </a:avLst>
          </a:prstGeom>
          <a:solidFill>
            <a:srgbClr val="22D3EE">
              <a:alpha val="55000"/>
            </a:srgbClr>
          </a:solidFill>
          <a:ln/>
        </p:spPr>
        <p:txBody>
          <a:bodyPr/>
          <a:lstStyle/>
          <a:p>
            <a:endParaRPr lang="en-IN"/>
          </a:p>
        </p:txBody>
      </p:sp>
      <p:sp>
        <p:nvSpPr>
          <p:cNvPr id="17" name="Shape 15"/>
          <p:cNvSpPr/>
          <p:nvPr/>
        </p:nvSpPr>
        <p:spPr>
          <a:xfrm>
            <a:off x="9086623" y="2913360"/>
            <a:ext cx="76198" cy="1029891"/>
          </a:xfrm>
          <a:prstGeom prst="roundRect">
            <a:avLst>
              <a:gd name="adj" fmla="val 45000"/>
            </a:avLst>
          </a:prstGeom>
          <a:solidFill>
            <a:srgbClr val="22D3EE">
              <a:alpha val="55000"/>
            </a:srgbClr>
          </a:solidFill>
          <a:ln/>
        </p:spPr>
        <p:txBody>
          <a:bodyPr/>
          <a:lstStyle/>
          <a:p>
            <a:endParaRPr lang="en-IN"/>
          </a:p>
        </p:txBody>
      </p:sp>
      <p:sp>
        <p:nvSpPr>
          <p:cNvPr id="18" name="Shape 16"/>
          <p:cNvSpPr/>
          <p:nvPr/>
        </p:nvSpPr>
        <p:spPr>
          <a:xfrm>
            <a:off x="9219969" y="2572941"/>
            <a:ext cx="76198" cy="1713210"/>
          </a:xfrm>
          <a:prstGeom prst="roundRect">
            <a:avLst>
              <a:gd name="adj" fmla="val 45000"/>
            </a:avLst>
          </a:prstGeom>
          <a:solidFill>
            <a:srgbClr val="22D3EE">
              <a:alpha val="55000"/>
            </a:srgbClr>
          </a:solidFill>
          <a:ln/>
        </p:spPr>
        <p:txBody>
          <a:bodyPr/>
          <a:lstStyle/>
          <a:p>
            <a:endParaRPr lang="en-IN"/>
          </a:p>
        </p:txBody>
      </p:sp>
      <p:sp>
        <p:nvSpPr>
          <p:cNvPr id="19" name="Shape 17"/>
          <p:cNvSpPr/>
          <p:nvPr/>
        </p:nvSpPr>
        <p:spPr>
          <a:xfrm>
            <a:off x="9353316" y="2748260"/>
            <a:ext cx="76198" cy="1360091"/>
          </a:xfrm>
          <a:prstGeom prst="roundRect">
            <a:avLst>
              <a:gd name="adj" fmla="val 45000"/>
            </a:avLst>
          </a:prstGeom>
          <a:solidFill>
            <a:srgbClr val="22D3EE">
              <a:alpha val="55000"/>
            </a:srgbClr>
          </a:solidFill>
          <a:ln/>
        </p:spPr>
        <p:txBody>
          <a:bodyPr/>
          <a:lstStyle/>
          <a:p>
            <a:endParaRPr lang="en-IN"/>
          </a:p>
        </p:txBody>
      </p:sp>
      <p:sp>
        <p:nvSpPr>
          <p:cNvPr id="20" name="Shape 18"/>
          <p:cNvSpPr/>
          <p:nvPr/>
        </p:nvSpPr>
        <p:spPr>
          <a:xfrm>
            <a:off x="9486663" y="2639020"/>
            <a:ext cx="76198" cy="1581150"/>
          </a:xfrm>
          <a:prstGeom prst="roundRect">
            <a:avLst>
              <a:gd name="adj" fmla="val 45000"/>
            </a:avLst>
          </a:prstGeom>
          <a:solidFill>
            <a:srgbClr val="22D3EE">
              <a:alpha val="55000"/>
            </a:srgbClr>
          </a:solidFill>
          <a:ln/>
        </p:spPr>
        <p:txBody>
          <a:bodyPr/>
          <a:lstStyle/>
          <a:p>
            <a:endParaRPr lang="en-IN"/>
          </a:p>
        </p:txBody>
      </p:sp>
      <p:sp>
        <p:nvSpPr>
          <p:cNvPr id="21" name="Shape 19"/>
          <p:cNvSpPr/>
          <p:nvPr/>
        </p:nvSpPr>
        <p:spPr>
          <a:xfrm>
            <a:off x="9620009" y="2625030"/>
            <a:ext cx="76198" cy="1609030"/>
          </a:xfrm>
          <a:prstGeom prst="roundRect">
            <a:avLst>
              <a:gd name="adj" fmla="val 45000"/>
            </a:avLst>
          </a:prstGeom>
          <a:solidFill>
            <a:srgbClr val="22D3EE">
              <a:alpha val="55000"/>
            </a:srgbClr>
          </a:solidFill>
          <a:ln/>
        </p:spPr>
        <p:txBody>
          <a:bodyPr/>
          <a:lstStyle/>
          <a:p>
            <a:endParaRPr lang="en-IN"/>
          </a:p>
        </p:txBody>
      </p:sp>
      <p:sp>
        <p:nvSpPr>
          <p:cNvPr id="22" name="Shape 20"/>
          <p:cNvSpPr/>
          <p:nvPr/>
        </p:nvSpPr>
        <p:spPr>
          <a:xfrm>
            <a:off x="9753356" y="2766020"/>
            <a:ext cx="76198" cy="1325860"/>
          </a:xfrm>
          <a:prstGeom prst="roundRect">
            <a:avLst>
              <a:gd name="adj" fmla="val 45000"/>
            </a:avLst>
          </a:prstGeom>
          <a:solidFill>
            <a:srgbClr val="22D3EE">
              <a:alpha val="55000"/>
            </a:srgbClr>
          </a:solidFill>
          <a:ln/>
        </p:spPr>
        <p:txBody>
          <a:bodyPr/>
          <a:lstStyle/>
          <a:p>
            <a:endParaRPr lang="en-IN"/>
          </a:p>
        </p:txBody>
      </p:sp>
      <p:sp>
        <p:nvSpPr>
          <p:cNvPr id="23" name="Shape 21"/>
          <p:cNvSpPr/>
          <p:nvPr/>
        </p:nvSpPr>
        <p:spPr>
          <a:xfrm>
            <a:off x="9886703" y="2562820"/>
            <a:ext cx="76198" cy="1732260"/>
          </a:xfrm>
          <a:prstGeom prst="roundRect">
            <a:avLst>
              <a:gd name="adj" fmla="val 45000"/>
            </a:avLst>
          </a:prstGeom>
          <a:solidFill>
            <a:srgbClr val="22D3EE">
              <a:alpha val="55000"/>
            </a:srgbClr>
          </a:solidFill>
          <a:ln/>
        </p:spPr>
        <p:txBody>
          <a:bodyPr/>
          <a:lstStyle/>
          <a:p>
            <a:endParaRPr lang="en-IN"/>
          </a:p>
        </p:txBody>
      </p:sp>
      <p:sp>
        <p:nvSpPr>
          <p:cNvPr id="24" name="Shape 22"/>
          <p:cNvSpPr/>
          <p:nvPr/>
        </p:nvSpPr>
        <p:spPr>
          <a:xfrm>
            <a:off x="10020049" y="2932410"/>
            <a:ext cx="76198" cy="991791"/>
          </a:xfrm>
          <a:prstGeom prst="roundRect">
            <a:avLst>
              <a:gd name="adj" fmla="val 45000"/>
            </a:avLst>
          </a:prstGeom>
          <a:solidFill>
            <a:srgbClr val="22D3EE">
              <a:alpha val="55000"/>
            </a:srgbClr>
          </a:solidFill>
          <a:ln/>
        </p:spPr>
        <p:txBody>
          <a:bodyPr/>
          <a:lstStyle/>
          <a:p>
            <a:endParaRPr lang="en-IN"/>
          </a:p>
        </p:txBody>
      </p:sp>
      <p:sp>
        <p:nvSpPr>
          <p:cNvPr id="25" name="Shape 23"/>
          <p:cNvSpPr/>
          <p:nvPr/>
        </p:nvSpPr>
        <p:spPr>
          <a:xfrm>
            <a:off x="10153396" y="2575520"/>
            <a:ext cx="76198" cy="1705570"/>
          </a:xfrm>
          <a:prstGeom prst="roundRect">
            <a:avLst>
              <a:gd name="adj" fmla="val 45000"/>
            </a:avLst>
          </a:prstGeom>
          <a:solidFill>
            <a:srgbClr val="22D3EE">
              <a:alpha val="55000"/>
            </a:srgbClr>
          </a:solidFill>
          <a:ln/>
        </p:spPr>
        <p:txBody>
          <a:bodyPr/>
          <a:lstStyle/>
          <a:p>
            <a:endParaRPr lang="en-IN"/>
          </a:p>
        </p:txBody>
      </p:sp>
      <p:sp>
        <p:nvSpPr>
          <p:cNvPr id="26" name="Shape 24"/>
          <p:cNvSpPr/>
          <p:nvPr/>
        </p:nvSpPr>
        <p:spPr>
          <a:xfrm>
            <a:off x="10286743" y="3112691"/>
            <a:ext cx="76198" cy="633710"/>
          </a:xfrm>
          <a:prstGeom prst="roundRect">
            <a:avLst>
              <a:gd name="adj" fmla="val 45000"/>
            </a:avLst>
          </a:prstGeom>
          <a:solidFill>
            <a:srgbClr val="22D3EE">
              <a:alpha val="55000"/>
            </a:srgbClr>
          </a:solidFill>
          <a:ln/>
        </p:spPr>
        <p:txBody>
          <a:bodyPr/>
          <a:lstStyle/>
          <a:p>
            <a:endParaRPr lang="en-IN"/>
          </a:p>
        </p:txBody>
      </p:sp>
      <p:sp>
        <p:nvSpPr>
          <p:cNvPr id="27" name="Shape 25"/>
          <p:cNvSpPr/>
          <p:nvPr/>
        </p:nvSpPr>
        <p:spPr>
          <a:xfrm>
            <a:off x="10420089" y="2664420"/>
            <a:ext cx="76198" cy="1530350"/>
          </a:xfrm>
          <a:prstGeom prst="roundRect">
            <a:avLst>
              <a:gd name="adj" fmla="val 45000"/>
            </a:avLst>
          </a:prstGeom>
          <a:solidFill>
            <a:srgbClr val="22D3EE">
              <a:alpha val="55000"/>
            </a:srgbClr>
          </a:solidFill>
          <a:ln/>
        </p:spPr>
        <p:txBody>
          <a:bodyPr/>
          <a:lstStyle/>
          <a:p>
            <a:endParaRPr lang="en-IN"/>
          </a:p>
        </p:txBody>
      </p:sp>
      <p:sp>
        <p:nvSpPr>
          <p:cNvPr id="28" name="Shape 26"/>
          <p:cNvSpPr/>
          <p:nvPr/>
        </p:nvSpPr>
        <p:spPr>
          <a:xfrm>
            <a:off x="10553436" y="3089870"/>
            <a:ext cx="76198" cy="676870"/>
          </a:xfrm>
          <a:prstGeom prst="roundRect">
            <a:avLst>
              <a:gd name="adj" fmla="val 45000"/>
            </a:avLst>
          </a:prstGeom>
          <a:solidFill>
            <a:srgbClr val="22D3EE">
              <a:alpha val="55000"/>
            </a:srgbClr>
          </a:solidFill>
          <a:ln/>
        </p:spPr>
        <p:txBody>
          <a:bodyPr/>
          <a:lstStyle/>
          <a:p>
            <a:endParaRPr lang="en-IN"/>
          </a:p>
        </p:txBody>
      </p:sp>
      <p:sp>
        <p:nvSpPr>
          <p:cNvPr id="29" name="Shape 27"/>
          <p:cNvSpPr/>
          <p:nvPr/>
        </p:nvSpPr>
        <p:spPr>
          <a:xfrm>
            <a:off x="10686783" y="2814241"/>
            <a:ext cx="76198" cy="1229320"/>
          </a:xfrm>
          <a:prstGeom prst="roundRect">
            <a:avLst>
              <a:gd name="adj" fmla="val 45000"/>
            </a:avLst>
          </a:prstGeom>
          <a:solidFill>
            <a:srgbClr val="22D3EE">
              <a:alpha val="55000"/>
            </a:srgbClr>
          </a:solidFill>
          <a:ln/>
        </p:spPr>
        <p:txBody>
          <a:bodyPr/>
          <a:lstStyle/>
          <a:p>
            <a:endParaRPr lang="en-IN"/>
          </a:p>
        </p:txBody>
      </p:sp>
      <p:sp>
        <p:nvSpPr>
          <p:cNvPr id="30" name="Shape 28"/>
          <p:cNvSpPr/>
          <p:nvPr/>
        </p:nvSpPr>
        <p:spPr>
          <a:xfrm>
            <a:off x="10820129" y="3070820"/>
            <a:ext cx="76198" cy="714970"/>
          </a:xfrm>
          <a:prstGeom prst="roundRect">
            <a:avLst>
              <a:gd name="adj" fmla="val 45000"/>
            </a:avLst>
          </a:prstGeom>
          <a:solidFill>
            <a:srgbClr val="22D3EE">
              <a:alpha val="55000"/>
            </a:srgbClr>
          </a:solidFill>
          <a:ln/>
        </p:spPr>
        <p:txBody>
          <a:bodyPr/>
          <a:lstStyle/>
          <a:p>
            <a:endParaRPr lang="en-IN"/>
          </a:p>
        </p:txBody>
      </p:sp>
      <p:sp>
        <p:nvSpPr>
          <p:cNvPr id="31" name="Shape 29"/>
          <p:cNvSpPr/>
          <p:nvPr/>
        </p:nvSpPr>
        <p:spPr>
          <a:xfrm>
            <a:off x="10953476" y="3006030"/>
            <a:ext cx="76198" cy="847030"/>
          </a:xfrm>
          <a:prstGeom prst="roundRect">
            <a:avLst>
              <a:gd name="adj" fmla="val 45000"/>
            </a:avLst>
          </a:prstGeom>
          <a:solidFill>
            <a:srgbClr val="22D3EE">
              <a:alpha val="55000"/>
            </a:srgbClr>
          </a:solidFill>
          <a:ln/>
        </p:spPr>
        <p:txBody>
          <a:bodyPr/>
          <a:lstStyle/>
          <a:p>
            <a:endParaRPr lang="en-IN"/>
          </a:p>
        </p:txBody>
      </p:sp>
      <p:sp>
        <p:nvSpPr>
          <p:cNvPr id="32" name="Shape 30"/>
          <p:cNvSpPr/>
          <p:nvPr/>
        </p:nvSpPr>
        <p:spPr>
          <a:xfrm>
            <a:off x="11086823" y="3131741"/>
            <a:ext cx="76198" cy="594320"/>
          </a:xfrm>
          <a:prstGeom prst="roundRect">
            <a:avLst>
              <a:gd name="adj" fmla="val 45000"/>
            </a:avLst>
          </a:prstGeom>
          <a:solidFill>
            <a:srgbClr val="22D3EE">
              <a:alpha val="55000"/>
            </a:srgbClr>
          </a:solidFill>
          <a:ln/>
        </p:spPr>
        <p:txBody>
          <a:bodyPr/>
          <a:lstStyle/>
          <a:p>
            <a:endParaRPr lang="en-IN"/>
          </a:p>
        </p:txBody>
      </p:sp>
      <p:sp>
        <p:nvSpPr>
          <p:cNvPr id="33" name="Shape 31"/>
          <p:cNvSpPr/>
          <p:nvPr/>
        </p:nvSpPr>
        <p:spPr>
          <a:xfrm>
            <a:off x="11220169" y="3211810"/>
            <a:ext cx="76198" cy="434280"/>
          </a:xfrm>
          <a:prstGeom prst="roundRect">
            <a:avLst>
              <a:gd name="adj" fmla="val 45000"/>
            </a:avLst>
          </a:prstGeom>
          <a:solidFill>
            <a:srgbClr val="22D3EE">
              <a:alpha val="55000"/>
            </a:srgbClr>
          </a:solidFill>
          <a:ln/>
        </p:spPr>
        <p:txBody>
          <a:bodyPr/>
          <a:lstStyle/>
          <a:p>
            <a:endParaRPr lang="en-IN"/>
          </a:p>
        </p:txBody>
      </p:sp>
      <p:sp>
        <p:nvSpPr>
          <p:cNvPr id="34" name="Shape 32"/>
          <p:cNvSpPr/>
          <p:nvPr/>
        </p:nvSpPr>
        <p:spPr>
          <a:xfrm>
            <a:off x="11353516" y="3286720"/>
            <a:ext cx="76198" cy="285750"/>
          </a:xfrm>
          <a:prstGeom prst="roundRect">
            <a:avLst>
              <a:gd name="adj" fmla="val 45000"/>
            </a:avLst>
          </a:prstGeom>
          <a:solidFill>
            <a:srgbClr val="22D3EE">
              <a:alpha val="55000"/>
            </a:srgbClr>
          </a:solidFill>
          <a:ln/>
        </p:spPr>
        <p:txBody>
          <a:bodyPr/>
          <a:lstStyle/>
          <a:p>
            <a:endParaRPr lang="en-IN"/>
          </a:p>
        </p:txBody>
      </p:sp>
      <p:sp>
        <p:nvSpPr>
          <p:cNvPr id="35" name="Shape 33"/>
          <p:cNvSpPr/>
          <p:nvPr/>
        </p:nvSpPr>
        <p:spPr>
          <a:xfrm>
            <a:off x="11486863" y="3390900"/>
            <a:ext cx="76198" cy="76200"/>
          </a:xfrm>
          <a:prstGeom prst="roundRect">
            <a:avLst>
              <a:gd name="adj" fmla="val 45000"/>
            </a:avLst>
          </a:prstGeom>
          <a:solidFill>
            <a:srgbClr val="22D3EE">
              <a:alpha val="55000"/>
            </a:srgbClr>
          </a:solidFill>
          <a:ln/>
        </p:spPr>
        <p:txBody>
          <a:bodyPr/>
          <a:lstStyle/>
          <a:p>
            <a:endParaRPr lang="en-IN"/>
          </a:p>
        </p:txBody>
      </p:sp>
      <p:sp>
        <p:nvSpPr>
          <p:cNvPr id="36" name="Shape 34"/>
          <p:cNvSpPr/>
          <p:nvPr/>
        </p:nvSpPr>
        <p:spPr>
          <a:xfrm>
            <a:off x="7619809" y="3429000"/>
            <a:ext cx="4000400" cy="12700"/>
          </a:xfrm>
          <a:prstGeom prst="roundRect">
            <a:avLst>
              <a:gd name="adj" fmla="val 49999"/>
            </a:avLst>
          </a:prstGeom>
          <a:solidFill>
            <a:srgbClr val="94A3B8"/>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09585" y="390128"/>
            <a:ext cx="97530" cy="609600"/>
          </a:xfrm>
          <a:prstGeom prst="rect">
            <a:avLst/>
          </a:prstGeom>
          <a:solidFill>
            <a:srgbClr val="22D3EE"/>
          </a:solidFill>
          <a:ln w="12700">
            <a:solidFill>
              <a:srgbClr val="22D3EE"/>
            </a:solidFill>
            <a:prstDash val="solid"/>
          </a:ln>
        </p:spPr>
        <p:txBody>
          <a:bodyPr/>
          <a:lstStyle/>
          <a:p>
            <a:endParaRPr lang="en-IN"/>
          </a:p>
        </p:txBody>
      </p:sp>
      <p:sp>
        <p:nvSpPr>
          <p:cNvPr id="3" name="Text 1"/>
          <p:cNvSpPr/>
          <p:nvPr/>
        </p:nvSpPr>
        <p:spPr>
          <a:xfrm>
            <a:off x="877766" y="318790"/>
            <a:ext cx="10728652" cy="1189831"/>
          </a:xfrm>
          <a:prstGeom prst="rect">
            <a:avLst/>
          </a:prstGeom>
          <a:noFill/>
          <a:ln/>
        </p:spPr>
        <p:txBody>
          <a:bodyPr wrap="square" lIns="0" tIns="110170" rIns="0" bIns="110170" rtlCol="0" anchor="t">
            <a:normAutofit lnSpcReduction="10000"/>
          </a:bodyPr>
          <a:lstStyle/>
          <a:p>
            <a:pPr marL="0" indent="0" algn="l">
              <a:lnSpc>
                <a:spcPct val="92000"/>
              </a:lnSpc>
              <a:buNone/>
            </a:pPr>
            <a:r>
              <a:rPr lang="en-US" sz="3450" b="1" kern="100" spc="-69" dirty="0">
                <a:solidFill>
                  <a:srgbClr val="F1F5F9"/>
                </a:solidFill>
                <a:latin typeface="Petrona Bold" pitchFamily="34" charset="0"/>
                <a:ea typeface="Petrona Bold" pitchFamily="34" charset="-122"/>
                <a:cs typeface="Petrona Bold" pitchFamily="34" charset="-120"/>
              </a:rPr>
              <a:t>Introduction &amp; Motivation — The Cocktail Party Problem</a:t>
            </a:r>
            <a:endParaRPr lang="en-US" sz="3450" dirty="0"/>
          </a:p>
        </p:txBody>
      </p:sp>
      <p:sp>
        <p:nvSpPr>
          <p:cNvPr id="4" name="Text 2"/>
          <p:cNvSpPr/>
          <p:nvPr/>
        </p:nvSpPr>
        <p:spPr>
          <a:xfrm>
            <a:off x="609585" y="1205210"/>
            <a:ext cx="10972526" cy="757238"/>
          </a:xfrm>
          <a:prstGeom prst="rect">
            <a:avLst/>
          </a:prstGeom>
          <a:noFill/>
          <a:ln/>
        </p:spPr>
        <p:txBody>
          <a:bodyPr wrap="square" lIns="0" tIns="0" rIns="0" bIns="0" rtlCol="0" anchor="t">
            <a:normAutofit/>
          </a:bodyPr>
          <a:lstStyle/>
          <a:p>
            <a:pPr marL="0" indent="0" algn="l">
              <a:lnSpc>
                <a:spcPct val="117000"/>
              </a:lnSpc>
              <a:buNone/>
            </a:pPr>
            <a:r>
              <a:rPr lang="en-US" sz="2150" kern="100" spc="-28" dirty="0">
                <a:solidFill>
                  <a:srgbClr val="E0D6DE"/>
                </a:solidFill>
                <a:latin typeface="Inter" pitchFamily="34" charset="0"/>
                <a:ea typeface="Inter" pitchFamily="34" charset="-122"/>
                <a:cs typeface="Inter" pitchFamily="34" charset="-120"/>
              </a:rPr>
              <a:t>Humans can focus on one voice in a crowd. A microphone records one overlapping mixture:   x(t) = s₁(t) + s₂(t)</a:t>
            </a:r>
            <a:endParaRPr lang="en-US" sz="2150" dirty="0"/>
          </a:p>
        </p:txBody>
      </p:sp>
      <p:sp>
        <p:nvSpPr>
          <p:cNvPr id="5" name="Text 3"/>
          <p:cNvSpPr/>
          <p:nvPr/>
        </p:nvSpPr>
        <p:spPr>
          <a:xfrm>
            <a:off x="304792" y="5092700"/>
            <a:ext cx="11582110" cy="307479"/>
          </a:xfrm>
          <a:prstGeom prst="rect">
            <a:avLst/>
          </a:prstGeom>
          <a:noFill/>
          <a:ln/>
        </p:spPr>
        <p:txBody>
          <a:bodyPr wrap="none" lIns="0" tIns="0" rIns="0" bIns="0" rtlCol="0" anchor="t"/>
          <a:lstStyle/>
          <a:p>
            <a:pPr marL="0" indent="0" algn="ctr">
              <a:lnSpc>
                <a:spcPct val="117000"/>
              </a:lnSpc>
              <a:buNone/>
            </a:pPr>
            <a:r>
              <a:rPr lang="en-US" sz="1750" kern="100" spc="-28" dirty="0">
                <a:solidFill>
                  <a:srgbClr val="94A3B8"/>
                </a:solidFill>
                <a:latin typeface="Inter" pitchFamily="34" charset="0"/>
                <a:ea typeface="Inter" pitchFamily="34" charset="-122"/>
                <a:cs typeface="Inter" pitchFamily="34" charset="-120"/>
              </a:rPr>
              <a:t>Applications: hearing aids · voice assistants · teleconferencing · speech recognition</a:t>
            </a:r>
            <a:endParaRPr lang="en-US" sz="1750" dirty="0"/>
          </a:p>
        </p:txBody>
      </p:sp>
      <p:sp>
        <p:nvSpPr>
          <p:cNvPr id="6" name="Shape 4"/>
          <p:cNvSpPr/>
          <p:nvPr/>
        </p:nvSpPr>
        <p:spPr>
          <a:xfrm>
            <a:off x="609585" y="5562600"/>
            <a:ext cx="10972526" cy="609600"/>
          </a:xfrm>
          <a:prstGeom prst="roundRect">
            <a:avLst>
              <a:gd name="adj" fmla="val 14400"/>
            </a:avLst>
          </a:prstGeom>
          <a:solidFill>
            <a:srgbClr val="3B1D4A"/>
          </a:solidFill>
          <a:ln w="12700">
            <a:solidFill>
              <a:srgbClr val="E879F9"/>
            </a:solidFill>
            <a:prstDash val="solid"/>
          </a:ln>
        </p:spPr>
        <p:txBody>
          <a:bodyPr/>
          <a:lstStyle/>
          <a:p>
            <a:endParaRPr lang="en-IN"/>
          </a:p>
        </p:txBody>
      </p:sp>
      <p:sp>
        <p:nvSpPr>
          <p:cNvPr id="7" name="Text 5"/>
          <p:cNvSpPr/>
          <p:nvPr/>
        </p:nvSpPr>
        <p:spPr>
          <a:xfrm>
            <a:off x="305785" y="5665589"/>
            <a:ext cx="11580126" cy="403622"/>
          </a:xfrm>
          <a:prstGeom prst="rect">
            <a:avLst/>
          </a:prstGeom>
          <a:noFill/>
          <a:ln/>
        </p:spPr>
        <p:txBody>
          <a:bodyPr wrap="none" lIns="0" tIns="0" rIns="0" bIns="0" rtlCol="0" anchor="t"/>
          <a:lstStyle/>
          <a:p>
            <a:pPr marL="0" indent="0" algn="ctr">
              <a:lnSpc>
                <a:spcPct val="117000"/>
              </a:lnSpc>
              <a:buNone/>
            </a:pPr>
            <a:r>
              <a:rPr lang="en-US" sz="2250" b="1" kern="100" spc="-28" dirty="0">
                <a:solidFill>
                  <a:srgbClr val="F1F5F9"/>
                </a:solidFill>
                <a:latin typeface="Inter Bold" pitchFamily="34" charset="0"/>
                <a:ea typeface="Inter Bold" pitchFamily="34" charset="-122"/>
                <a:cs typeface="Inter Bold" pitchFamily="34" charset="-120"/>
              </a:rPr>
              <a:t>True Cocktail Party Problem = overlapping human speech</a:t>
            </a:r>
            <a:endParaRPr lang="en-US" sz="2250" dirty="0"/>
          </a:p>
        </p:txBody>
      </p:sp>
      <p:sp>
        <p:nvSpPr>
          <p:cNvPr id="8" name="Shape 6"/>
          <p:cNvSpPr/>
          <p:nvPr/>
        </p:nvSpPr>
        <p:spPr>
          <a:xfrm>
            <a:off x="609585" y="2095500"/>
            <a:ext cx="5364326" cy="2997200"/>
          </a:xfrm>
          <a:prstGeom prst="roundRect">
            <a:avLst>
              <a:gd name="adj" fmla="val 2929"/>
            </a:avLst>
          </a:prstGeom>
          <a:solidFill>
            <a:srgbClr val="15233B"/>
          </a:solidFill>
          <a:ln w="12700">
            <a:solidFill>
              <a:srgbClr val="22D3EE"/>
            </a:solidFill>
            <a:prstDash val="solid"/>
          </a:ln>
        </p:spPr>
        <p:txBody>
          <a:bodyPr/>
          <a:lstStyle/>
          <a:p>
            <a:endParaRPr lang="en-IN"/>
          </a:p>
        </p:txBody>
      </p:sp>
      <p:sp>
        <p:nvSpPr>
          <p:cNvPr id="9" name="Text 7"/>
          <p:cNvSpPr/>
          <p:nvPr/>
        </p:nvSpPr>
        <p:spPr>
          <a:xfrm>
            <a:off x="361941" y="2230140"/>
            <a:ext cx="5859614" cy="391120"/>
          </a:xfrm>
          <a:prstGeom prst="rect">
            <a:avLst/>
          </a:prstGeom>
          <a:noFill/>
          <a:ln/>
        </p:spPr>
        <p:txBody>
          <a:bodyPr wrap="none" lIns="0" tIns="0" rIns="0" bIns="0" rtlCol="0" anchor="t"/>
          <a:lstStyle/>
          <a:p>
            <a:pPr marL="0" indent="0" algn="ctr">
              <a:lnSpc>
                <a:spcPct val="117000"/>
              </a:lnSpc>
              <a:buNone/>
            </a:pPr>
            <a:r>
              <a:rPr lang="en-US" sz="2200" b="1" kern="100" spc="-28" dirty="0">
                <a:solidFill>
                  <a:srgbClr val="22D3EE"/>
                </a:solidFill>
                <a:latin typeface="Inter Bold" pitchFamily="34" charset="0"/>
                <a:ea typeface="Inter Bold" pitchFamily="34" charset="-122"/>
                <a:cs typeface="Inter Bold" pitchFamily="34" charset="-120"/>
              </a:rPr>
              <a:t>Speech Denoising</a:t>
            </a:r>
            <a:endParaRPr lang="en-US" sz="2200" dirty="0"/>
          </a:p>
        </p:txBody>
      </p:sp>
      <p:sp>
        <p:nvSpPr>
          <p:cNvPr id="10" name="Text 8"/>
          <p:cNvSpPr/>
          <p:nvPr/>
        </p:nvSpPr>
        <p:spPr>
          <a:xfrm>
            <a:off x="488938" y="4620220"/>
            <a:ext cx="5600560"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F1F5F9"/>
                </a:solidFill>
                <a:latin typeface="Inter" pitchFamily="34" charset="0"/>
                <a:ea typeface="Inter" pitchFamily="34" charset="-122"/>
                <a:cs typeface="Inter" pitchFamily="34" charset="-120"/>
              </a:rPr>
              <a:t>Speech + Noise → Clean Speech</a:t>
            </a:r>
            <a:endParaRPr lang="en-US" sz="1600" dirty="0"/>
          </a:p>
        </p:txBody>
      </p:sp>
      <p:sp>
        <p:nvSpPr>
          <p:cNvPr id="11" name="Shape 9"/>
          <p:cNvSpPr/>
          <p:nvPr/>
        </p:nvSpPr>
        <p:spPr>
          <a:xfrm>
            <a:off x="6217685" y="2095500"/>
            <a:ext cx="5364326" cy="2997200"/>
          </a:xfrm>
          <a:prstGeom prst="roundRect">
            <a:avLst>
              <a:gd name="adj" fmla="val 2929"/>
            </a:avLst>
          </a:prstGeom>
          <a:solidFill>
            <a:srgbClr val="15233B"/>
          </a:solidFill>
          <a:ln w="12700">
            <a:solidFill>
              <a:srgbClr val="E879F9"/>
            </a:solidFill>
            <a:prstDash val="solid"/>
          </a:ln>
        </p:spPr>
        <p:txBody>
          <a:bodyPr/>
          <a:lstStyle/>
          <a:p>
            <a:endParaRPr lang="en-IN"/>
          </a:p>
        </p:txBody>
      </p:sp>
      <p:sp>
        <p:nvSpPr>
          <p:cNvPr id="12" name="Text 10"/>
          <p:cNvSpPr/>
          <p:nvPr/>
        </p:nvSpPr>
        <p:spPr>
          <a:xfrm>
            <a:off x="5970041" y="2230140"/>
            <a:ext cx="5859614" cy="391120"/>
          </a:xfrm>
          <a:prstGeom prst="rect">
            <a:avLst/>
          </a:prstGeom>
          <a:noFill/>
          <a:ln/>
        </p:spPr>
        <p:txBody>
          <a:bodyPr wrap="none" lIns="0" tIns="0" rIns="0" bIns="0" rtlCol="0" anchor="t"/>
          <a:lstStyle/>
          <a:p>
            <a:pPr marL="0" indent="0" algn="ctr">
              <a:lnSpc>
                <a:spcPct val="117000"/>
              </a:lnSpc>
              <a:buNone/>
            </a:pPr>
            <a:r>
              <a:rPr lang="en-US" sz="2200" b="1" kern="100" spc="-28" dirty="0">
                <a:solidFill>
                  <a:srgbClr val="E879F9"/>
                </a:solidFill>
                <a:latin typeface="Inter Bold" pitchFamily="34" charset="0"/>
                <a:ea typeface="Inter Bold" pitchFamily="34" charset="-122"/>
                <a:cs typeface="Inter Bold" pitchFamily="34" charset="-120"/>
              </a:rPr>
              <a:t>Speech Separation</a:t>
            </a:r>
            <a:endParaRPr lang="en-US" sz="2200" dirty="0"/>
          </a:p>
        </p:txBody>
      </p:sp>
      <p:sp>
        <p:nvSpPr>
          <p:cNvPr id="13" name="Text 11"/>
          <p:cNvSpPr/>
          <p:nvPr/>
        </p:nvSpPr>
        <p:spPr>
          <a:xfrm>
            <a:off x="6097038" y="4620220"/>
            <a:ext cx="5600560"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F1F5F9"/>
                </a:solidFill>
                <a:latin typeface="Inter" pitchFamily="34" charset="0"/>
                <a:ea typeface="Inter" pitchFamily="34" charset="-122"/>
                <a:cs typeface="Inter" pitchFamily="34" charset="-120"/>
              </a:rPr>
              <a:t>Speaker 1 + Speaker 2 → Speaker 1 / Speaker 2</a:t>
            </a:r>
            <a:endParaRPr lang="en-US" sz="1600" dirty="0"/>
          </a:p>
        </p:txBody>
      </p:sp>
      <p:sp>
        <p:nvSpPr>
          <p:cNvPr id="14" name="Shape 12"/>
          <p:cNvSpPr/>
          <p:nvPr/>
        </p:nvSpPr>
        <p:spPr>
          <a:xfrm>
            <a:off x="761981" y="3454400"/>
            <a:ext cx="1396965" cy="711200"/>
          </a:xfrm>
          <a:prstGeom prst="roundRect">
            <a:avLst>
              <a:gd name="adj" fmla="val 12343"/>
            </a:avLst>
          </a:prstGeom>
          <a:solidFill>
            <a:srgbClr val="0E4F5C"/>
          </a:solidFill>
          <a:ln w="12700">
            <a:solidFill>
              <a:srgbClr val="22D3EE"/>
            </a:solidFill>
            <a:prstDash val="solid"/>
          </a:ln>
        </p:spPr>
        <p:txBody>
          <a:bodyPr/>
          <a:lstStyle/>
          <a:p>
            <a:endParaRPr lang="en-IN"/>
          </a:p>
        </p:txBody>
      </p:sp>
      <p:sp>
        <p:nvSpPr>
          <p:cNvPr id="15" name="Text 13"/>
          <p:cNvSpPr/>
          <p:nvPr/>
        </p:nvSpPr>
        <p:spPr>
          <a:xfrm>
            <a:off x="514337" y="3667720"/>
            <a:ext cx="1892253"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F1F5F9"/>
                </a:solidFill>
                <a:latin typeface="Inter" pitchFamily="34" charset="0"/>
                <a:ea typeface="Inter" pitchFamily="34" charset="-122"/>
                <a:cs typeface="Inter" pitchFamily="34" charset="-120"/>
              </a:rPr>
              <a:t>Speech</a:t>
            </a:r>
            <a:endParaRPr lang="en-US" sz="1600" dirty="0"/>
          </a:p>
        </p:txBody>
      </p:sp>
      <p:sp>
        <p:nvSpPr>
          <p:cNvPr id="16" name="Text 14"/>
          <p:cNvSpPr/>
          <p:nvPr/>
        </p:nvSpPr>
        <p:spPr>
          <a:xfrm>
            <a:off x="1911302" y="3596680"/>
            <a:ext cx="800080" cy="426641"/>
          </a:xfrm>
          <a:prstGeom prst="rect">
            <a:avLst/>
          </a:prstGeom>
          <a:noFill/>
          <a:ln/>
        </p:spPr>
        <p:txBody>
          <a:bodyPr wrap="none" lIns="0" tIns="0" rIns="0" bIns="0" rtlCol="0" anchor="t"/>
          <a:lstStyle/>
          <a:p>
            <a:pPr marL="0" indent="0" algn="ctr">
              <a:lnSpc>
                <a:spcPct val="117000"/>
              </a:lnSpc>
              <a:buNone/>
            </a:pPr>
            <a:r>
              <a:rPr lang="en-US" sz="2400" b="1" kern="100" spc="-28" dirty="0">
                <a:solidFill>
                  <a:srgbClr val="F1F5F9"/>
                </a:solidFill>
                <a:latin typeface="Inter Bold" pitchFamily="34" charset="0"/>
                <a:ea typeface="Inter Bold" pitchFamily="34" charset="-122"/>
                <a:cs typeface="Inter Bold" pitchFamily="34" charset="-120"/>
              </a:rPr>
              <a:t>+</a:t>
            </a:r>
            <a:endParaRPr lang="en-US" sz="2400" dirty="0"/>
          </a:p>
        </p:txBody>
      </p:sp>
      <p:sp>
        <p:nvSpPr>
          <p:cNvPr id="17" name="Shape 15"/>
          <p:cNvSpPr/>
          <p:nvPr/>
        </p:nvSpPr>
        <p:spPr>
          <a:xfrm>
            <a:off x="2463738" y="3454400"/>
            <a:ext cx="1396965" cy="711200"/>
          </a:xfrm>
          <a:prstGeom prst="roundRect">
            <a:avLst>
              <a:gd name="adj" fmla="val 12343"/>
            </a:avLst>
          </a:prstGeom>
          <a:solidFill>
            <a:srgbClr val="334155"/>
          </a:solidFill>
          <a:ln w="12700">
            <a:solidFill>
              <a:srgbClr val="94A3B8"/>
            </a:solidFill>
            <a:prstDash val="solid"/>
          </a:ln>
        </p:spPr>
        <p:txBody>
          <a:bodyPr/>
          <a:lstStyle/>
          <a:p>
            <a:endParaRPr lang="en-IN"/>
          </a:p>
        </p:txBody>
      </p:sp>
      <p:sp>
        <p:nvSpPr>
          <p:cNvPr id="18" name="Text 16"/>
          <p:cNvSpPr/>
          <p:nvPr/>
        </p:nvSpPr>
        <p:spPr>
          <a:xfrm>
            <a:off x="2216095" y="3667720"/>
            <a:ext cx="1892253"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F1F5F9"/>
                </a:solidFill>
                <a:latin typeface="Inter" pitchFamily="34" charset="0"/>
                <a:ea typeface="Inter" pitchFamily="34" charset="-122"/>
                <a:cs typeface="Inter" pitchFamily="34" charset="-120"/>
              </a:rPr>
              <a:t>Noise</a:t>
            </a:r>
            <a:endParaRPr lang="en-US" sz="1600" dirty="0"/>
          </a:p>
        </p:txBody>
      </p:sp>
      <p:sp>
        <p:nvSpPr>
          <p:cNvPr id="19" name="Shape 17"/>
          <p:cNvSpPr/>
          <p:nvPr/>
        </p:nvSpPr>
        <p:spPr>
          <a:xfrm>
            <a:off x="3936902" y="3797300"/>
            <a:ext cx="304792" cy="25400"/>
          </a:xfrm>
          <a:prstGeom prst="roundRect">
            <a:avLst>
              <a:gd name="adj" fmla="val 49999"/>
            </a:avLst>
          </a:prstGeom>
          <a:solidFill>
            <a:srgbClr val="94A3B8"/>
          </a:solidFill>
          <a:ln/>
        </p:spPr>
        <p:txBody>
          <a:bodyPr/>
          <a:lstStyle/>
          <a:p>
            <a:endParaRPr lang="en-IN"/>
          </a:p>
        </p:txBody>
      </p:sp>
      <p:sp>
        <p:nvSpPr>
          <p:cNvPr id="20" name="Shape 18"/>
          <p:cNvSpPr/>
          <p:nvPr/>
        </p:nvSpPr>
        <p:spPr>
          <a:xfrm>
            <a:off x="4241694" y="37592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21" name="Shape 19"/>
          <p:cNvSpPr/>
          <p:nvPr/>
        </p:nvSpPr>
        <p:spPr>
          <a:xfrm>
            <a:off x="4444889" y="3454400"/>
            <a:ext cx="1422364" cy="711200"/>
          </a:xfrm>
          <a:prstGeom prst="roundRect">
            <a:avLst>
              <a:gd name="adj" fmla="val 12343"/>
            </a:avLst>
          </a:prstGeom>
          <a:solidFill>
            <a:srgbClr val="123B2E"/>
          </a:solidFill>
          <a:ln w="12700">
            <a:solidFill>
              <a:srgbClr val="34D399"/>
            </a:solidFill>
            <a:prstDash val="solid"/>
          </a:ln>
        </p:spPr>
        <p:txBody>
          <a:bodyPr/>
          <a:lstStyle/>
          <a:p>
            <a:endParaRPr lang="en-IN"/>
          </a:p>
        </p:txBody>
      </p:sp>
      <p:sp>
        <p:nvSpPr>
          <p:cNvPr id="22" name="Text 20"/>
          <p:cNvSpPr/>
          <p:nvPr/>
        </p:nvSpPr>
        <p:spPr>
          <a:xfrm>
            <a:off x="4197245" y="3667720"/>
            <a:ext cx="1917652"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F1F5F9"/>
                </a:solidFill>
                <a:latin typeface="Inter" pitchFamily="34" charset="0"/>
                <a:ea typeface="Inter" pitchFamily="34" charset="-122"/>
                <a:cs typeface="Inter" pitchFamily="34" charset="-120"/>
              </a:rPr>
              <a:t>Clean Speech</a:t>
            </a:r>
            <a:endParaRPr lang="en-US" sz="1600" dirty="0"/>
          </a:p>
        </p:txBody>
      </p:sp>
      <p:sp>
        <p:nvSpPr>
          <p:cNvPr id="23" name="Shape 21"/>
          <p:cNvSpPr/>
          <p:nvPr/>
        </p:nvSpPr>
        <p:spPr>
          <a:xfrm>
            <a:off x="6370081" y="3454400"/>
            <a:ext cx="1396965" cy="711200"/>
          </a:xfrm>
          <a:prstGeom prst="roundRect">
            <a:avLst>
              <a:gd name="adj" fmla="val 12343"/>
            </a:avLst>
          </a:prstGeom>
          <a:solidFill>
            <a:srgbClr val="0E4F5C"/>
          </a:solidFill>
          <a:ln w="12700">
            <a:solidFill>
              <a:srgbClr val="22D3EE"/>
            </a:solidFill>
            <a:prstDash val="solid"/>
          </a:ln>
        </p:spPr>
        <p:txBody>
          <a:bodyPr/>
          <a:lstStyle/>
          <a:p>
            <a:endParaRPr lang="en-IN"/>
          </a:p>
        </p:txBody>
      </p:sp>
      <p:sp>
        <p:nvSpPr>
          <p:cNvPr id="24" name="Text 22"/>
          <p:cNvSpPr/>
          <p:nvPr/>
        </p:nvSpPr>
        <p:spPr>
          <a:xfrm>
            <a:off x="6122437" y="3667720"/>
            <a:ext cx="1892253"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F1F5F9"/>
                </a:solidFill>
                <a:latin typeface="Inter" pitchFamily="34" charset="0"/>
                <a:ea typeface="Inter" pitchFamily="34" charset="-122"/>
                <a:cs typeface="Inter" pitchFamily="34" charset="-120"/>
              </a:rPr>
              <a:t>Speaker 1</a:t>
            </a:r>
            <a:endParaRPr lang="en-US" sz="1600" dirty="0"/>
          </a:p>
        </p:txBody>
      </p:sp>
      <p:sp>
        <p:nvSpPr>
          <p:cNvPr id="25" name="Text 23"/>
          <p:cNvSpPr/>
          <p:nvPr/>
        </p:nvSpPr>
        <p:spPr>
          <a:xfrm>
            <a:off x="7519403" y="3596680"/>
            <a:ext cx="800080" cy="426641"/>
          </a:xfrm>
          <a:prstGeom prst="rect">
            <a:avLst/>
          </a:prstGeom>
          <a:noFill/>
          <a:ln/>
        </p:spPr>
        <p:txBody>
          <a:bodyPr wrap="none" lIns="0" tIns="0" rIns="0" bIns="0" rtlCol="0" anchor="t"/>
          <a:lstStyle/>
          <a:p>
            <a:pPr marL="0" indent="0" algn="ctr">
              <a:lnSpc>
                <a:spcPct val="117000"/>
              </a:lnSpc>
              <a:buNone/>
            </a:pPr>
            <a:r>
              <a:rPr lang="en-US" sz="2400" b="1" kern="100" spc="-28" dirty="0">
                <a:solidFill>
                  <a:srgbClr val="F1F5F9"/>
                </a:solidFill>
                <a:latin typeface="Inter Bold" pitchFamily="34" charset="0"/>
                <a:ea typeface="Inter Bold" pitchFamily="34" charset="-122"/>
                <a:cs typeface="Inter Bold" pitchFamily="34" charset="-120"/>
              </a:rPr>
              <a:t>+</a:t>
            </a:r>
            <a:endParaRPr lang="en-US" sz="2400" dirty="0"/>
          </a:p>
        </p:txBody>
      </p:sp>
      <p:sp>
        <p:nvSpPr>
          <p:cNvPr id="26" name="Shape 24"/>
          <p:cNvSpPr/>
          <p:nvPr/>
        </p:nvSpPr>
        <p:spPr>
          <a:xfrm>
            <a:off x="8071839" y="3454400"/>
            <a:ext cx="1396965" cy="711200"/>
          </a:xfrm>
          <a:prstGeom prst="roundRect">
            <a:avLst>
              <a:gd name="adj" fmla="val 12343"/>
            </a:avLst>
          </a:prstGeom>
          <a:solidFill>
            <a:srgbClr val="5A4410"/>
          </a:solidFill>
          <a:ln w="12700">
            <a:solidFill>
              <a:srgbClr val="FBBF24"/>
            </a:solidFill>
            <a:prstDash val="solid"/>
          </a:ln>
        </p:spPr>
        <p:txBody>
          <a:bodyPr/>
          <a:lstStyle/>
          <a:p>
            <a:endParaRPr lang="en-IN"/>
          </a:p>
        </p:txBody>
      </p:sp>
      <p:sp>
        <p:nvSpPr>
          <p:cNvPr id="27" name="Text 25"/>
          <p:cNvSpPr/>
          <p:nvPr/>
        </p:nvSpPr>
        <p:spPr>
          <a:xfrm>
            <a:off x="7824195" y="3667720"/>
            <a:ext cx="1892253"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F1F5F9"/>
                </a:solidFill>
                <a:latin typeface="Inter" pitchFamily="34" charset="0"/>
                <a:ea typeface="Inter" pitchFamily="34" charset="-122"/>
                <a:cs typeface="Inter" pitchFamily="34" charset="-120"/>
              </a:rPr>
              <a:t>Speaker 2</a:t>
            </a:r>
            <a:endParaRPr lang="en-US" sz="1600" dirty="0"/>
          </a:p>
        </p:txBody>
      </p:sp>
      <p:sp>
        <p:nvSpPr>
          <p:cNvPr id="28" name="Shape 26"/>
          <p:cNvSpPr/>
          <p:nvPr/>
        </p:nvSpPr>
        <p:spPr>
          <a:xfrm>
            <a:off x="9545002" y="3797300"/>
            <a:ext cx="304792" cy="25400"/>
          </a:xfrm>
          <a:prstGeom prst="roundRect">
            <a:avLst>
              <a:gd name="adj" fmla="val 49999"/>
            </a:avLst>
          </a:prstGeom>
          <a:solidFill>
            <a:srgbClr val="94A3B8"/>
          </a:solidFill>
          <a:ln/>
        </p:spPr>
        <p:txBody>
          <a:bodyPr/>
          <a:lstStyle/>
          <a:p>
            <a:endParaRPr lang="en-IN"/>
          </a:p>
        </p:txBody>
      </p:sp>
      <p:sp>
        <p:nvSpPr>
          <p:cNvPr id="29" name="Shape 27"/>
          <p:cNvSpPr/>
          <p:nvPr/>
        </p:nvSpPr>
        <p:spPr>
          <a:xfrm>
            <a:off x="9849794" y="37592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30" name="Shape 28"/>
          <p:cNvSpPr/>
          <p:nvPr/>
        </p:nvSpPr>
        <p:spPr>
          <a:xfrm>
            <a:off x="10052989" y="3149600"/>
            <a:ext cx="1422364" cy="558800"/>
          </a:xfrm>
          <a:prstGeom prst="roundRect">
            <a:avLst>
              <a:gd name="adj" fmla="val 15709"/>
            </a:avLst>
          </a:prstGeom>
          <a:solidFill>
            <a:srgbClr val="0E4F5C"/>
          </a:solidFill>
          <a:ln w="12700">
            <a:solidFill>
              <a:srgbClr val="22D3EE"/>
            </a:solidFill>
            <a:prstDash val="solid"/>
          </a:ln>
        </p:spPr>
        <p:txBody>
          <a:bodyPr/>
          <a:lstStyle/>
          <a:p>
            <a:endParaRPr lang="en-IN"/>
          </a:p>
        </p:txBody>
      </p:sp>
      <p:sp>
        <p:nvSpPr>
          <p:cNvPr id="31" name="Text 29"/>
          <p:cNvSpPr/>
          <p:nvPr/>
        </p:nvSpPr>
        <p:spPr>
          <a:xfrm>
            <a:off x="9805345" y="3286720"/>
            <a:ext cx="1917652"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F1F5F9"/>
                </a:solidFill>
                <a:latin typeface="Inter" pitchFamily="34" charset="0"/>
                <a:ea typeface="Inter" pitchFamily="34" charset="-122"/>
                <a:cs typeface="Inter" pitchFamily="34" charset="-120"/>
              </a:rPr>
              <a:t>Speaker 1</a:t>
            </a:r>
            <a:endParaRPr lang="en-US" sz="1600" dirty="0"/>
          </a:p>
        </p:txBody>
      </p:sp>
      <p:sp>
        <p:nvSpPr>
          <p:cNvPr id="32" name="Shape 30"/>
          <p:cNvSpPr/>
          <p:nvPr/>
        </p:nvSpPr>
        <p:spPr>
          <a:xfrm>
            <a:off x="10052989" y="3911600"/>
            <a:ext cx="1422364" cy="558800"/>
          </a:xfrm>
          <a:prstGeom prst="roundRect">
            <a:avLst>
              <a:gd name="adj" fmla="val 15709"/>
            </a:avLst>
          </a:prstGeom>
          <a:solidFill>
            <a:srgbClr val="5A4410"/>
          </a:solidFill>
          <a:ln w="12700">
            <a:solidFill>
              <a:srgbClr val="FBBF24"/>
            </a:solidFill>
            <a:prstDash val="solid"/>
          </a:ln>
        </p:spPr>
        <p:txBody>
          <a:bodyPr/>
          <a:lstStyle/>
          <a:p>
            <a:endParaRPr lang="en-IN"/>
          </a:p>
        </p:txBody>
      </p:sp>
      <p:sp>
        <p:nvSpPr>
          <p:cNvPr id="33" name="Text 31"/>
          <p:cNvSpPr/>
          <p:nvPr/>
        </p:nvSpPr>
        <p:spPr>
          <a:xfrm>
            <a:off x="9805345" y="4048720"/>
            <a:ext cx="1917652"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F1F5F9"/>
                </a:solidFill>
                <a:latin typeface="Inter" pitchFamily="34" charset="0"/>
                <a:ea typeface="Inter" pitchFamily="34" charset="-122"/>
                <a:cs typeface="Inter" pitchFamily="34" charset="-120"/>
              </a:rPr>
              <a:t>Speaker 2</a:t>
            </a:r>
            <a:endParaRPr lang="en-US" sz="1600" dirty="0"/>
          </a:p>
        </p:txBody>
      </p:sp>
      <p:sp>
        <p:nvSpPr>
          <p:cNvPr id="35" name="Text 33"/>
          <p:cNvSpPr/>
          <p:nvPr/>
        </p:nvSpPr>
        <p:spPr>
          <a:xfrm>
            <a:off x="11338237" y="6527155"/>
            <a:ext cx="681913" cy="174129"/>
          </a:xfrm>
          <a:prstGeom prst="rect">
            <a:avLst/>
          </a:prstGeom>
          <a:noFill/>
          <a:ln/>
        </p:spPr>
        <p:txBody>
          <a:bodyPr wrap="none" lIns="0" tIns="0" rIns="0" bIns="0" rtlCol="0" anchor="ctr"/>
          <a:lstStyle/>
          <a:p>
            <a:pPr marL="0" indent="0" algn="l">
              <a:lnSpc>
                <a:spcPct val="117000"/>
              </a:lnSpc>
              <a:buNone/>
            </a:pPr>
            <a:r>
              <a:rPr lang="en-US" sz="1000" kern="100" spc="-28" dirty="0">
                <a:solidFill>
                  <a:srgbClr val="94A3B8"/>
                </a:solidFill>
                <a:latin typeface="Inter" pitchFamily="34" charset="0"/>
                <a:ea typeface="Inter" pitchFamily="34" charset="-122"/>
                <a:cs typeface="Inter"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09585" y="390128"/>
            <a:ext cx="97530" cy="609600"/>
          </a:xfrm>
          <a:prstGeom prst="rect">
            <a:avLst/>
          </a:prstGeom>
          <a:solidFill>
            <a:srgbClr val="22D3EE"/>
          </a:solidFill>
          <a:ln w="12700">
            <a:solidFill>
              <a:srgbClr val="22D3EE"/>
            </a:solidFill>
            <a:prstDash val="solid"/>
          </a:ln>
        </p:spPr>
        <p:txBody>
          <a:bodyPr/>
          <a:lstStyle/>
          <a:p>
            <a:endParaRPr lang="en-IN"/>
          </a:p>
        </p:txBody>
      </p:sp>
      <p:sp>
        <p:nvSpPr>
          <p:cNvPr id="3" name="Text 1"/>
          <p:cNvSpPr/>
          <p:nvPr/>
        </p:nvSpPr>
        <p:spPr>
          <a:xfrm>
            <a:off x="877766" y="318790"/>
            <a:ext cx="10728652" cy="705048"/>
          </a:xfrm>
          <a:prstGeom prst="rect">
            <a:avLst/>
          </a:prstGeom>
          <a:noFill/>
          <a:ln/>
        </p:spPr>
        <p:txBody>
          <a:bodyPr wrap="none" lIns="0" tIns="110170" rIns="0" bIns="110170" rtlCol="0" anchor="t"/>
          <a:lstStyle/>
          <a:p>
            <a:pPr marL="0" indent="0" algn="l">
              <a:lnSpc>
                <a:spcPct val="92000"/>
              </a:lnSpc>
              <a:buNone/>
            </a:pPr>
            <a:r>
              <a:rPr lang="en-US" sz="3450" b="1" kern="100" spc="-69" dirty="0">
                <a:solidFill>
                  <a:srgbClr val="F1F5F9"/>
                </a:solidFill>
                <a:latin typeface="Petrona Bold" pitchFamily="34" charset="0"/>
                <a:ea typeface="Petrona Bold" pitchFamily="34" charset="-122"/>
                <a:cs typeface="Petrona Bold" pitchFamily="34" charset="-120"/>
              </a:rPr>
              <a:t>Objectives</a:t>
            </a:r>
            <a:endParaRPr lang="en-US" sz="3450" dirty="0"/>
          </a:p>
        </p:txBody>
      </p:sp>
      <p:sp>
        <p:nvSpPr>
          <p:cNvPr id="4" name="Shape 2"/>
          <p:cNvSpPr/>
          <p:nvPr/>
        </p:nvSpPr>
        <p:spPr>
          <a:xfrm>
            <a:off x="609585" y="1524000"/>
            <a:ext cx="2096936" cy="4267200"/>
          </a:xfrm>
          <a:prstGeom prst="roundRect">
            <a:avLst>
              <a:gd name="adj" fmla="val 4186"/>
            </a:avLst>
          </a:prstGeom>
          <a:solidFill>
            <a:srgbClr val="15233B"/>
          </a:solidFill>
          <a:ln w="12700">
            <a:solidFill>
              <a:srgbClr val="15233B"/>
            </a:solidFill>
            <a:prstDash val="solid"/>
          </a:ln>
        </p:spPr>
        <p:txBody>
          <a:bodyPr/>
          <a:lstStyle/>
          <a:p>
            <a:endParaRPr lang="en-IN"/>
          </a:p>
        </p:txBody>
      </p:sp>
      <p:sp>
        <p:nvSpPr>
          <p:cNvPr id="5" name="Text 3"/>
          <p:cNvSpPr/>
          <p:nvPr/>
        </p:nvSpPr>
        <p:spPr>
          <a:xfrm>
            <a:off x="611569" y="1390452"/>
            <a:ext cx="2037803" cy="867569"/>
          </a:xfrm>
          <a:prstGeom prst="rect">
            <a:avLst/>
          </a:prstGeom>
          <a:noFill/>
          <a:ln/>
        </p:spPr>
        <p:txBody>
          <a:bodyPr wrap="none" lIns="0" tIns="135569" rIns="0" bIns="135569" rtlCol="0" anchor="t"/>
          <a:lstStyle/>
          <a:p>
            <a:pPr marL="0" indent="0" algn="l">
              <a:lnSpc>
                <a:spcPct val="92000"/>
              </a:lnSpc>
              <a:buNone/>
            </a:pPr>
            <a:r>
              <a:rPr lang="en-US" sz="4250" b="1" kern="100" spc="-85" dirty="0">
                <a:solidFill>
                  <a:srgbClr val="22D3EE"/>
                </a:solidFill>
                <a:latin typeface="Petrona Bold" pitchFamily="34" charset="0"/>
                <a:ea typeface="Petrona Bold" pitchFamily="34" charset="-122"/>
                <a:cs typeface="Petrona Bold" pitchFamily="34" charset="-120"/>
              </a:rPr>
              <a:t>01</a:t>
            </a:r>
            <a:endParaRPr lang="en-US" sz="4250" dirty="0"/>
          </a:p>
        </p:txBody>
      </p:sp>
      <p:sp>
        <p:nvSpPr>
          <p:cNvPr id="6" name="Text 4"/>
          <p:cNvSpPr/>
          <p:nvPr/>
        </p:nvSpPr>
        <p:spPr>
          <a:xfrm>
            <a:off x="611569" y="2176264"/>
            <a:ext cx="2647388" cy="365720"/>
          </a:xfrm>
          <a:prstGeom prst="rect">
            <a:avLst/>
          </a:prstGeom>
          <a:noFill/>
          <a:ln/>
        </p:spPr>
        <p:txBody>
          <a:bodyPr wrap="none" lIns="0" tIns="0" rIns="0" bIns="0" rtlCol="0" anchor="t"/>
          <a:lstStyle/>
          <a:p>
            <a:pPr marL="0" indent="0" algn="l">
              <a:lnSpc>
                <a:spcPct val="100000"/>
              </a:lnSpc>
              <a:buNone/>
            </a:pPr>
            <a:r>
              <a:rPr lang="en-US" sz="2400" b="1" kern="100" spc="-28" dirty="0">
                <a:solidFill>
                  <a:srgbClr val="F1F5F9"/>
                </a:solidFill>
                <a:latin typeface="Inter Bold" pitchFamily="34" charset="0"/>
                <a:ea typeface="Inter Bold" pitchFamily="34" charset="-122"/>
                <a:cs typeface="Inter Bold" pitchFamily="34" charset="-120"/>
              </a:rPr>
              <a:t>Compare</a:t>
            </a:r>
            <a:endParaRPr lang="en-US" sz="2400" dirty="0"/>
          </a:p>
        </p:txBody>
      </p:sp>
      <p:sp>
        <p:nvSpPr>
          <p:cNvPr id="7" name="Text 5"/>
          <p:cNvSpPr/>
          <p:nvPr/>
        </p:nvSpPr>
        <p:spPr>
          <a:xfrm>
            <a:off x="611569" y="2541984"/>
            <a:ext cx="2037803" cy="914400"/>
          </a:xfrm>
          <a:prstGeom prst="rect">
            <a:avLst/>
          </a:prstGeom>
          <a:noFill/>
          <a:ln/>
        </p:spPr>
        <p:txBody>
          <a:bodyPr wrap="square" lIns="0" tIns="0" rIns="0" bIns="0" rtlCol="0" anchor="t">
            <a:normAutofit/>
          </a:bodyPr>
          <a:lstStyle/>
          <a:p>
            <a:pPr marL="0" indent="0" algn="l">
              <a:lnSpc>
                <a:spcPct val="100000"/>
              </a:lnSpc>
              <a:buNone/>
            </a:pPr>
            <a:r>
              <a:rPr lang="en-US" sz="2000" kern="100" spc="-28" dirty="0">
                <a:solidFill>
                  <a:srgbClr val="94A3B8"/>
                </a:solidFill>
                <a:latin typeface="Inter" pitchFamily="34" charset="0"/>
                <a:ea typeface="Inter" pitchFamily="34" charset="-122"/>
                <a:cs typeface="Inter" pitchFamily="34" charset="-120"/>
              </a:rPr>
              <a:t>Spectrogram U-Net vs Conv-TasNet</a:t>
            </a:r>
            <a:endParaRPr lang="en-US" sz="2000" dirty="0"/>
          </a:p>
        </p:txBody>
      </p:sp>
      <p:sp>
        <p:nvSpPr>
          <p:cNvPr id="8" name="Shape 6"/>
          <p:cNvSpPr/>
          <p:nvPr/>
        </p:nvSpPr>
        <p:spPr>
          <a:xfrm>
            <a:off x="2828457" y="1524000"/>
            <a:ext cx="2096936" cy="4267200"/>
          </a:xfrm>
          <a:prstGeom prst="roundRect">
            <a:avLst>
              <a:gd name="adj" fmla="val 4186"/>
            </a:avLst>
          </a:prstGeom>
          <a:solidFill>
            <a:srgbClr val="15233B"/>
          </a:solidFill>
          <a:ln w="12700">
            <a:solidFill>
              <a:srgbClr val="15233B"/>
            </a:solidFill>
            <a:prstDash val="solid"/>
          </a:ln>
        </p:spPr>
        <p:txBody>
          <a:bodyPr/>
          <a:lstStyle/>
          <a:p>
            <a:endParaRPr lang="en-IN"/>
          </a:p>
        </p:txBody>
      </p:sp>
      <p:sp>
        <p:nvSpPr>
          <p:cNvPr id="9" name="Text 7"/>
          <p:cNvSpPr/>
          <p:nvPr/>
        </p:nvSpPr>
        <p:spPr>
          <a:xfrm>
            <a:off x="2830442" y="1390452"/>
            <a:ext cx="2037803" cy="867569"/>
          </a:xfrm>
          <a:prstGeom prst="rect">
            <a:avLst/>
          </a:prstGeom>
          <a:noFill/>
          <a:ln/>
        </p:spPr>
        <p:txBody>
          <a:bodyPr wrap="none" lIns="0" tIns="135569" rIns="0" bIns="135569" rtlCol="0" anchor="t"/>
          <a:lstStyle/>
          <a:p>
            <a:pPr marL="0" indent="0" algn="l">
              <a:lnSpc>
                <a:spcPct val="92000"/>
              </a:lnSpc>
              <a:buNone/>
            </a:pPr>
            <a:r>
              <a:rPr lang="en-US" sz="4250" b="1" kern="100" spc="-85" dirty="0">
                <a:solidFill>
                  <a:srgbClr val="22D3EE"/>
                </a:solidFill>
                <a:latin typeface="Petrona Bold" pitchFamily="34" charset="0"/>
                <a:ea typeface="Petrona Bold" pitchFamily="34" charset="-122"/>
                <a:cs typeface="Petrona Bold" pitchFamily="34" charset="-120"/>
              </a:rPr>
              <a:t>02</a:t>
            </a:r>
            <a:endParaRPr lang="en-US" sz="4250" dirty="0"/>
          </a:p>
        </p:txBody>
      </p:sp>
      <p:sp>
        <p:nvSpPr>
          <p:cNvPr id="10" name="Text 8"/>
          <p:cNvSpPr/>
          <p:nvPr/>
        </p:nvSpPr>
        <p:spPr>
          <a:xfrm>
            <a:off x="2830442" y="2176264"/>
            <a:ext cx="2647388" cy="365720"/>
          </a:xfrm>
          <a:prstGeom prst="rect">
            <a:avLst/>
          </a:prstGeom>
          <a:noFill/>
          <a:ln/>
        </p:spPr>
        <p:txBody>
          <a:bodyPr wrap="none" lIns="0" tIns="0" rIns="0" bIns="0" rtlCol="0" anchor="t"/>
          <a:lstStyle/>
          <a:p>
            <a:pPr marL="0" indent="0" algn="l">
              <a:lnSpc>
                <a:spcPct val="100000"/>
              </a:lnSpc>
              <a:buNone/>
            </a:pPr>
            <a:r>
              <a:rPr lang="en-US" sz="2400" b="1" kern="100" spc="-28" dirty="0">
                <a:solidFill>
                  <a:srgbClr val="F1F5F9"/>
                </a:solidFill>
                <a:latin typeface="Inter Bold" pitchFamily="34" charset="0"/>
                <a:ea typeface="Inter Bold" pitchFamily="34" charset="-122"/>
                <a:cs typeface="Inter Bold" pitchFamily="34" charset="-120"/>
              </a:rPr>
              <a:t>Denoise</a:t>
            </a:r>
            <a:endParaRPr lang="en-US" sz="2400" dirty="0"/>
          </a:p>
        </p:txBody>
      </p:sp>
      <p:sp>
        <p:nvSpPr>
          <p:cNvPr id="11" name="Text 9"/>
          <p:cNvSpPr/>
          <p:nvPr/>
        </p:nvSpPr>
        <p:spPr>
          <a:xfrm>
            <a:off x="2830442" y="2541984"/>
            <a:ext cx="2037803" cy="609600"/>
          </a:xfrm>
          <a:prstGeom prst="rect">
            <a:avLst/>
          </a:prstGeom>
          <a:noFill/>
          <a:ln/>
        </p:spPr>
        <p:txBody>
          <a:bodyPr wrap="square" lIns="0" tIns="0" rIns="0" bIns="0" rtlCol="0" anchor="t">
            <a:normAutofit/>
          </a:bodyPr>
          <a:lstStyle/>
          <a:p>
            <a:pPr marL="0" indent="0" algn="l">
              <a:lnSpc>
                <a:spcPct val="100000"/>
              </a:lnSpc>
              <a:buNone/>
            </a:pPr>
            <a:r>
              <a:rPr lang="en-US" sz="2000" kern="100" spc="-28" dirty="0">
                <a:solidFill>
                  <a:srgbClr val="94A3B8"/>
                </a:solidFill>
                <a:latin typeface="Inter" pitchFamily="34" charset="0"/>
                <a:ea typeface="Inter" pitchFamily="34" charset="-122"/>
                <a:cs typeface="Inter" pitchFamily="34" charset="-120"/>
              </a:rPr>
              <a:t>Speech + noise → clean speech</a:t>
            </a:r>
            <a:endParaRPr lang="en-US" sz="2000" dirty="0"/>
          </a:p>
        </p:txBody>
      </p:sp>
      <p:sp>
        <p:nvSpPr>
          <p:cNvPr id="12" name="Shape 10"/>
          <p:cNvSpPr/>
          <p:nvPr/>
        </p:nvSpPr>
        <p:spPr>
          <a:xfrm>
            <a:off x="5047330" y="1524000"/>
            <a:ext cx="2096936" cy="4267200"/>
          </a:xfrm>
          <a:prstGeom prst="roundRect">
            <a:avLst>
              <a:gd name="adj" fmla="val 4186"/>
            </a:avLst>
          </a:prstGeom>
          <a:solidFill>
            <a:srgbClr val="15233B"/>
          </a:solidFill>
          <a:ln w="12700">
            <a:solidFill>
              <a:srgbClr val="15233B"/>
            </a:solidFill>
            <a:prstDash val="solid"/>
          </a:ln>
        </p:spPr>
        <p:txBody>
          <a:bodyPr/>
          <a:lstStyle/>
          <a:p>
            <a:endParaRPr lang="en-IN"/>
          </a:p>
        </p:txBody>
      </p:sp>
      <p:sp>
        <p:nvSpPr>
          <p:cNvPr id="13" name="Text 11"/>
          <p:cNvSpPr/>
          <p:nvPr/>
        </p:nvSpPr>
        <p:spPr>
          <a:xfrm>
            <a:off x="5049314" y="1390452"/>
            <a:ext cx="2037803" cy="867569"/>
          </a:xfrm>
          <a:prstGeom prst="rect">
            <a:avLst/>
          </a:prstGeom>
          <a:noFill/>
          <a:ln/>
        </p:spPr>
        <p:txBody>
          <a:bodyPr wrap="none" lIns="0" tIns="135569" rIns="0" bIns="135569" rtlCol="0" anchor="t"/>
          <a:lstStyle/>
          <a:p>
            <a:pPr marL="0" indent="0" algn="l">
              <a:lnSpc>
                <a:spcPct val="92000"/>
              </a:lnSpc>
              <a:buNone/>
            </a:pPr>
            <a:r>
              <a:rPr lang="en-US" sz="4250" b="1" kern="100" spc="-85" dirty="0">
                <a:solidFill>
                  <a:srgbClr val="22D3EE"/>
                </a:solidFill>
                <a:latin typeface="Petrona Bold" pitchFamily="34" charset="0"/>
                <a:ea typeface="Petrona Bold" pitchFamily="34" charset="-122"/>
                <a:cs typeface="Petrona Bold" pitchFamily="34" charset="-120"/>
              </a:rPr>
              <a:t>03</a:t>
            </a:r>
            <a:endParaRPr lang="en-US" sz="4250" dirty="0"/>
          </a:p>
        </p:txBody>
      </p:sp>
      <p:sp>
        <p:nvSpPr>
          <p:cNvPr id="14" name="Text 12"/>
          <p:cNvSpPr/>
          <p:nvPr/>
        </p:nvSpPr>
        <p:spPr>
          <a:xfrm>
            <a:off x="5049314" y="2176264"/>
            <a:ext cx="2647388" cy="365720"/>
          </a:xfrm>
          <a:prstGeom prst="rect">
            <a:avLst/>
          </a:prstGeom>
          <a:noFill/>
          <a:ln/>
        </p:spPr>
        <p:txBody>
          <a:bodyPr wrap="none" lIns="0" tIns="0" rIns="0" bIns="0" rtlCol="0" anchor="t"/>
          <a:lstStyle/>
          <a:p>
            <a:pPr marL="0" indent="0" algn="l">
              <a:lnSpc>
                <a:spcPct val="100000"/>
              </a:lnSpc>
              <a:buNone/>
            </a:pPr>
            <a:r>
              <a:rPr lang="en-US" sz="2400" b="1" kern="100" spc="-28" dirty="0">
                <a:solidFill>
                  <a:srgbClr val="F1F5F9"/>
                </a:solidFill>
                <a:latin typeface="Inter Bold" pitchFamily="34" charset="0"/>
                <a:ea typeface="Inter Bold" pitchFamily="34" charset="-122"/>
                <a:cs typeface="Inter Bold" pitchFamily="34" charset="-120"/>
              </a:rPr>
              <a:t>Separate</a:t>
            </a:r>
            <a:endParaRPr lang="en-US" sz="2400" dirty="0"/>
          </a:p>
        </p:txBody>
      </p:sp>
      <p:sp>
        <p:nvSpPr>
          <p:cNvPr id="15" name="Text 13"/>
          <p:cNvSpPr/>
          <p:nvPr/>
        </p:nvSpPr>
        <p:spPr>
          <a:xfrm>
            <a:off x="5049314" y="2541984"/>
            <a:ext cx="2037803" cy="914400"/>
          </a:xfrm>
          <a:prstGeom prst="rect">
            <a:avLst/>
          </a:prstGeom>
          <a:noFill/>
          <a:ln/>
        </p:spPr>
        <p:txBody>
          <a:bodyPr wrap="square" lIns="0" tIns="0" rIns="0" bIns="0" rtlCol="0" anchor="t">
            <a:normAutofit/>
          </a:bodyPr>
          <a:lstStyle/>
          <a:p>
            <a:pPr marL="0" indent="0" algn="l">
              <a:lnSpc>
                <a:spcPct val="100000"/>
              </a:lnSpc>
              <a:buNone/>
            </a:pPr>
            <a:r>
              <a:rPr lang="en-US" sz="2000" kern="100" spc="-28" dirty="0">
                <a:solidFill>
                  <a:srgbClr val="94A3B8"/>
                </a:solidFill>
                <a:latin typeface="Inter" pitchFamily="34" charset="0"/>
                <a:ea typeface="Inter" pitchFamily="34" charset="-122"/>
                <a:cs typeface="Inter" pitchFamily="34" charset="-120"/>
              </a:rPr>
              <a:t>Two overlapping speakers → two voices</a:t>
            </a:r>
            <a:endParaRPr lang="en-US" sz="2000" dirty="0"/>
          </a:p>
        </p:txBody>
      </p:sp>
      <p:sp>
        <p:nvSpPr>
          <p:cNvPr id="16" name="Shape 14"/>
          <p:cNvSpPr/>
          <p:nvPr/>
        </p:nvSpPr>
        <p:spPr>
          <a:xfrm>
            <a:off x="7266203" y="1524000"/>
            <a:ext cx="2096936" cy="4267200"/>
          </a:xfrm>
          <a:prstGeom prst="roundRect">
            <a:avLst>
              <a:gd name="adj" fmla="val 4186"/>
            </a:avLst>
          </a:prstGeom>
          <a:solidFill>
            <a:srgbClr val="15233B"/>
          </a:solidFill>
          <a:ln w="12700">
            <a:solidFill>
              <a:srgbClr val="15233B"/>
            </a:solidFill>
            <a:prstDash val="solid"/>
          </a:ln>
        </p:spPr>
        <p:txBody>
          <a:bodyPr/>
          <a:lstStyle/>
          <a:p>
            <a:endParaRPr lang="en-IN"/>
          </a:p>
        </p:txBody>
      </p:sp>
      <p:sp>
        <p:nvSpPr>
          <p:cNvPr id="17" name="Text 15"/>
          <p:cNvSpPr/>
          <p:nvPr/>
        </p:nvSpPr>
        <p:spPr>
          <a:xfrm>
            <a:off x="7268187" y="1390452"/>
            <a:ext cx="2037803" cy="867569"/>
          </a:xfrm>
          <a:prstGeom prst="rect">
            <a:avLst/>
          </a:prstGeom>
          <a:noFill/>
          <a:ln/>
        </p:spPr>
        <p:txBody>
          <a:bodyPr wrap="none" lIns="0" tIns="135569" rIns="0" bIns="135569" rtlCol="0" anchor="t"/>
          <a:lstStyle/>
          <a:p>
            <a:pPr marL="0" indent="0" algn="l">
              <a:lnSpc>
                <a:spcPct val="92000"/>
              </a:lnSpc>
              <a:buNone/>
            </a:pPr>
            <a:r>
              <a:rPr lang="en-US" sz="4250" b="1" kern="100" spc="-85" dirty="0">
                <a:solidFill>
                  <a:srgbClr val="22D3EE"/>
                </a:solidFill>
                <a:latin typeface="Petrona Bold" pitchFamily="34" charset="0"/>
                <a:ea typeface="Petrona Bold" pitchFamily="34" charset="-122"/>
                <a:cs typeface="Petrona Bold" pitchFamily="34" charset="-120"/>
              </a:rPr>
              <a:t>04</a:t>
            </a:r>
            <a:endParaRPr lang="en-US" sz="4250" dirty="0"/>
          </a:p>
        </p:txBody>
      </p:sp>
      <p:sp>
        <p:nvSpPr>
          <p:cNvPr id="18" name="Text 16"/>
          <p:cNvSpPr/>
          <p:nvPr/>
        </p:nvSpPr>
        <p:spPr>
          <a:xfrm>
            <a:off x="7268187" y="2176264"/>
            <a:ext cx="2647388" cy="365720"/>
          </a:xfrm>
          <a:prstGeom prst="rect">
            <a:avLst/>
          </a:prstGeom>
          <a:noFill/>
          <a:ln/>
        </p:spPr>
        <p:txBody>
          <a:bodyPr wrap="none" lIns="0" tIns="0" rIns="0" bIns="0" rtlCol="0" anchor="t"/>
          <a:lstStyle/>
          <a:p>
            <a:pPr marL="0" indent="0" algn="l">
              <a:lnSpc>
                <a:spcPct val="100000"/>
              </a:lnSpc>
              <a:buNone/>
            </a:pPr>
            <a:r>
              <a:rPr lang="en-US" sz="2400" b="1" kern="100" spc="-28" dirty="0">
                <a:solidFill>
                  <a:srgbClr val="F1F5F9"/>
                </a:solidFill>
                <a:latin typeface="Inter Bold" pitchFamily="34" charset="0"/>
                <a:ea typeface="Inter Bold" pitchFamily="34" charset="-122"/>
                <a:cs typeface="Inter Bold" pitchFamily="34" charset="-120"/>
              </a:rPr>
              <a:t>Optimize</a:t>
            </a:r>
            <a:endParaRPr lang="en-US" sz="2400" dirty="0"/>
          </a:p>
        </p:txBody>
      </p:sp>
      <p:sp>
        <p:nvSpPr>
          <p:cNvPr id="19" name="Text 17"/>
          <p:cNvSpPr/>
          <p:nvPr/>
        </p:nvSpPr>
        <p:spPr>
          <a:xfrm>
            <a:off x="7268187" y="2541984"/>
            <a:ext cx="2037803" cy="914400"/>
          </a:xfrm>
          <a:prstGeom prst="rect">
            <a:avLst/>
          </a:prstGeom>
          <a:noFill/>
          <a:ln/>
        </p:spPr>
        <p:txBody>
          <a:bodyPr wrap="square" lIns="0" tIns="0" rIns="0" bIns="0" rtlCol="0" anchor="t">
            <a:normAutofit/>
          </a:bodyPr>
          <a:lstStyle/>
          <a:p>
            <a:pPr marL="0" indent="0" algn="l">
              <a:lnSpc>
                <a:spcPct val="100000"/>
              </a:lnSpc>
              <a:buNone/>
            </a:pPr>
            <a:r>
              <a:rPr lang="en-US" sz="2000" kern="100" spc="-28" dirty="0">
                <a:solidFill>
                  <a:srgbClr val="94A3B8"/>
                </a:solidFill>
                <a:latin typeface="Inter" pitchFamily="34" charset="0"/>
                <a:ea typeface="Inter" pitchFamily="34" charset="-122"/>
                <a:cs typeface="Inter" pitchFamily="34" charset="-120"/>
              </a:rPr>
              <a:t>Scale data and accelerate training</a:t>
            </a:r>
            <a:endParaRPr lang="en-US" sz="2000" dirty="0"/>
          </a:p>
        </p:txBody>
      </p:sp>
      <p:sp>
        <p:nvSpPr>
          <p:cNvPr id="20" name="Shape 18"/>
          <p:cNvSpPr/>
          <p:nvPr/>
        </p:nvSpPr>
        <p:spPr>
          <a:xfrm>
            <a:off x="9485075" y="1524000"/>
            <a:ext cx="2096936" cy="4267200"/>
          </a:xfrm>
          <a:prstGeom prst="roundRect">
            <a:avLst>
              <a:gd name="adj" fmla="val 4186"/>
            </a:avLst>
          </a:prstGeom>
          <a:solidFill>
            <a:srgbClr val="15233B"/>
          </a:solidFill>
          <a:ln w="12700">
            <a:solidFill>
              <a:srgbClr val="15233B"/>
            </a:solidFill>
            <a:prstDash val="solid"/>
          </a:ln>
        </p:spPr>
        <p:txBody>
          <a:bodyPr/>
          <a:lstStyle/>
          <a:p>
            <a:endParaRPr lang="en-IN"/>
          </a:p>
        </p:txBody>
      </p:sp>
      <p:sp>
        <p:nvSpPr>
          <p:cNvPr id="21" name="Text 19"/>
          <p:cNvSpPr/>
          <p:nvPr/>
        </p:nvSpPr>
        <p:spPr>
          <a:xfrm>
            <a:off x="9487060" y="1390452"/>
            <a:ext cx="2037803" cy="867569"/>
          </a:xfrm>
          <a:prstGeom prst="rect">
            <a:avLst/>
          </a:prstGeom>
          <a:noFill/>
          <a:ln/>
        </p:spPr>
        <p:txBody>
          <a:bodyPr wrap="none" lIns="0" tIns="135569" rIns="0" bIns="135569" rtlCol="0" anchor="t"/>
          <a:lstStyle/>
          <a:p>
            <a:pPr marL="0" indent="0" algn="l">
              <a:lnSpc>
                <a:spcPct val="92000"/>
              </a:lnSpc>
              <a:buNone/>
            </a:pPr>
            <a:r>
              <a:rPr lang="en-US" sz="4250" b="1" kern="100" spc="-85" dirty="0">
                <a:solidFill>
                  <a:srgbClr val="22D3EE"/>
                </a:solidFill>
                <a:latin typeface="Petrona Bold" pitchFamily="34" charset="0"/>
                <a:ea typeface="Petrona Bold" pitchFamily="34" charset="-122"/>
                <a:cs typeface="Petrona Bold" pitchFamily="34" charset="-120"/>
              </a:rPr>
              <a:t>05</a:t>
            </a:r>
            <a:endParaRPr lang="en-US" sz="4250" dirty="0"/>
          </a:p>
        </p:txBody>
      </p:sp>
      <p:sp>
        <p:nvSpPr>
          <p:cNvPr id="22" name="Text 20"/>
          <p:cNvSpPr/>
          <p:nvPr/>
        </p:nvSpPr>
        <p:spPr>
          <a:xfrm>
            <a:off x="9487060" y="2176264"/>
            <a:ext cx="2647388" cy="426641"/>
          </a:xfrm>
          <a:prstGeom prst="rect">
            <a:avLst/>
          </a:prstGeom>
          <a:noFill/>
          <a:ln/>
        </p:spPr>
        <p:txBody>
          <a:bodyPr wrap="none" lIns="0" tIns="0" rIns="0" bIns="0" rtlCol="0" anchor="t"/>
          <a:lstStyle/>
          <a:p>
            <a:pPr marL="0" indent="0" algn="l">
              <a:lnSpc>
                <a:spcPct val="117000"/>
              </a:lnSpc>
              <a:buNone/>
            </a:pPr>
            <a:r>
              <a:rPr lang="en-US" sz="2400" b="1" kern="100" spc="-28" dirty="0">
                <a:solidFill>
                  <a:srgbClr val="F1F5F9"/>
                </a:solidFill>
                <a:latin typeface="Inter Bold" pitchFamily="34" charset="0"/>
                <a:ea typeface="Inter Bold" pitchFamily="34" charset="-122"/>
                <a:cs typeface="Inter Bold" pitchFamily="34" charset="-120"/>
              </a:rPr>
              <a:t>Evaluate</a:t>
            </a:r>
            <a:endParaRPr lang="en-US" sz="2400" dirty="0"/>
          </a:p>
        </p:txBody>
      </p:sp>
      <p:sp>
        <p:nvSpPr>
          <p:cNvPr id="23" name="Text 21"/>
          <p:cNvSpPr/>
          <p:nvPr/>
        </p:nvSpPr>
        <p:spPr>
          <a:xfrm>
            <a:off x="9487060" y="2602905"/>
            <a:ext cx="2037803" cy="711200"/>
          </a:xfrm>
          <a:prstGeom prst="rect">
            <a:avLst/>
          </a:prstGeom>
          <a:noFill/>
          <a:ln/>
        </p:spPr>
        <p:txBody>
          <a:bodyPr wrap="square" lIns="0" tIns="0" rIns="0" bIns="0" rtlCol="0" anchor="t">
            <a:normAutofit/>
          </a:bodyPr>
          <a:lstStyle/>
          <a:p>
            <a:pPr marL="0" indent="0" algn="l">
              <a:lnSpc>
                <a:spcPct val="117000"/>
              </a:lnSpc>
              <a:buNone/>
            </a:pPr>
            <a:r>
              <a:rPr lang="en-US" sz="2000" kern="100" spc="-28" dirty="0">
                <a:solidFill>
                  <a:srgbClr val="94A3B8"/>
                </a:solidFill>
                <a:latin typeface="Inter" pitchFamily="34" charset="0"/>
                <a:ea typeface="Inter" pitchFamily="34" charset="-122"/>
                <a:cs typeface="Inter" pitchFamily="34" charset="-120"/>
              </a:rPr>
              <a:t>SI-SDR / SI-SDRi, PESQ, STOI</a:t>
            </a:r>
            <a:endParaRPr lang="en-US" sz="2000" dirty="0"/>
          </a:p>
        </p:txBody>
      </p:sp>
      <p:sp>
        <p:nvSpPr>
          <p:cNvPr id="25" name="Text 23"/>
          <p:cNvSpPr/>
          <p:nvPr/>
        </p:nvSpPr>
        <p:spPr>
          <a:xfrm>
            <a:off x="11338237" y="6527155"/>
            <a:ext cx="682906" cy="174129"/>
          </a:xfrm>
          <a:prstGeom prst="rect">
            <a:avLst/>
          </a:prstGeom>
          <a:noFill/>
          <a:ln/>
        </p:spPr>
        <p:txBody>
          <a:bodyPr wrap="none" lIns="0" tIns="0" rIns="0" bIns="0" rtlCol="0" anchor="ctr"/>
          <a:lstStyle/>
          <a:p>
            <a:pPr marL="0" indent="0" algn="l">
              <a:lnSpc>
                <a:spcPct val="117000"/>
              </a:lnSpc>
              <a:buNone/>
            </a:pPr>
            <a:r>
              <a:rPr lang="en-US" sz="1000" kern="100" spc="-28" dirty="0">
                <a:solidFill>
                  <a:srgbClr val="94A3B8"/>
                </a:solidFill>
                <a:latin typeface="Inter" pitchFamily="34" charset="0"/>
                <a:ea typeface="Inter" pitchFamily="34" charset="-122"/>
                <a:cs typeface="Inter"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09585" y="390128"/>
            <a:ext cx="97530" cy="609600"/>
          </a:xfrm>
          <a:prstGeom prst="rect">
            <a:avLst/>
          </a:prstGeom>
          <a:solidFill>
            <a:srgbClr val="22D3EE"/>
          </a:solidFill>
          <a:ln w="12700">
            <a:solidFill>
              <a:srgbClr val="22D3EE"/>
            </a:solidFill>
            <a:prstDash val="solid"/>
          </a:ln>
        </p:spPr>
        <p:txBody>
          <a:bodyPr/>
          <a:lstStyle/>
          <a:p>
            <a:endParaRPr lang="en-IN"/>
          </a:p>
        </p:txBody>
      </p:sp>
      <p:sp>
        <p:nvSpPr>
          <p:cNvPr id="3" name="Text 1"/>
          <p:cNvSpPr/>
          <p:nvPr/>
        </p:nvSpPr>
        <p:spPr>
          <a:xfrm>
            <a:off x="877766" y="318790"/>
            <a:ext cx="10728652" cy="705048"/>
          </a:xfrm>
          <a:prstGeom prst="rect">
            <a:avLst/>
          </a:prstGeom>
          <a:noFill/>
          <a:ln/>
        </p:spPr>
        <p:txBody>
          <a:bodyPr wrap="none" lIns="0" tIns="110170" rIns="0" bIns="110170" rtlCol="0" anchor="t"/>
          <a:lstStyle/>
          <a:p>
            <a:pPr marL="0" indent="0" algn="l">
              <a:lnSpc>
                <a:spcPct val="92000"/>
              </a:lnSpc>
              <a:buNone/>
            </a:pPr>
            <a:r>
              <a:rPr lang="en-US" sz="3450" b="1" kern="100" spc="-69" dirty="0">
                <a:solidFill>
                  <a:srgbClr val="F1F5F9"/>
                </a:solidFill>
                <a:latin typeface="Petrona Bold" pitchFamily="34" charset="0"/>
                <a:ea typeface="Petrona Bold" pitchFamily="34" charset="-122"/>
                <a:cs typeface="Petrona Bold" pitchFamily="34" charset="-120"/>
              </a:rPr>
              <a:t>Literature Survey</a:t>
            </a:r>
            <a:endParaRPr lang="en-US" sz="34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1280120"/>
          <a:ext cx="10972525" cy="2648082"/>
        </p:xfrm>
        <a:graphic>
          <a:graphicData uri="http://schemas.openxmlformats.org/drawingml/2006/table">
            <a:tbl>
              <a:tblPr/>
              <a:tblGrid>
                <a:gridCol w="3291678">
                  <a:extLst>
                    <a:ext uri="{9D8B030D-6E8A-4147-A177-3AD203B41FA5}">
                      <a16:colId xmlns:a16="http://schemas.microsoft.com/office/drawing/2014/main" val="20000"/>
                    </a:ext>
                  </a:extLst>
                </a:gridCol>
                <a:gridCol w="4169492">
                  <a:extLst>
                    <a:ext uri="{9D8B030D-6E8A-4147-A177-3AD203B41FA5}">
                      <a16:colId xmlns:a16="http://schemas.microsoft.com/office/drawing/2014/main" val="20001"/>
                    </a:ext>
                  </a:extLst>
                </a:gridCol>
                <a:gridCol w="3511355">
                  <a:extLst>
                    <a:ext uri="{9D8B030D-6E8A-4147-A177-3AD203B41FA5}">
                      <a16:colId xmlns:a16="http://schemas.microsoft.com/office/drawing/2014/main" val="20002"/>
                    </a:ext>
                  </a:extLst>
                </a:gridCol>
              </a:tblGrid>
              <a:tr h="376724">
                <a:tc>
                  <a:txBody>
                    <a:bodyPr/>
                    <a:lstStyle/>
                    <a:p>
                      <a:pPr marL="0" indent="0" algn="l">
                        <a:buNone/>
                      </a:pPr>
                      <a:r>
                        <a:rPr lang="en-US" sz="1700" b="1" kern="100" spc="-28" dirty="0">
                          <a:solidFill>
                            <a:srgbClr val="0B1220"/>
                          </a:solidFill>
                          <a:latin typeface="Carlito" pitchFamily="34" charset="0"/>
                          <a:ea typeface="Carlito" pitchFamily="34" charset="-122"/>
                          <a:cs typeface="Carlito" pitchFamily="34" charset="-120"/>
                        </a:rPr>
                        <a:t>Approach</a:t>
                      </a:r>
                      <a:endParaRPr lang="en-US" sz="1700" dirty="0">
                        <a:latin typeface="Carlito" charset="0"/>
                        <a:ea typeface="Carlito" charset="0"/>
                        <a:cs typeface="Carlito" charset="0"/>
                      </a:endParaRPr>
                    </a:p>
                  </a:txBody>
                  <a:tcPr marL="121917" marR="10502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22D3EE"/>
                    </a:solidFill>
                  </a:tcPr>
                </a:tc>
                <a:tc>
                  <a:txBody>
                    <a:bodyPr/>
                    <a:lstStyle/>
                    <a:p>
                      <a:pPr marL="0" indent="0" algn="l">
                        <a:buNone/>
                      </a:pPr>
                      <a:r>
                        <a:rPr lang="en-US" sz="1700" b="1" kern="100" spc="-28" dirty="0">
                          <a:solidFill>
                            <a:srgbClr val="0B1220"/>
                          </a:solidFill>
                          <a:latin typeface="Carlito" pitchFamily="34" charset="0"/>
                          <a:ea typeface="Carlito" pitchFamily="34" charset="-122"/>
                          <a:cs typeface="Carlito" pitchFamily="34" charset="-120"/>
                        </a:rPr>
                        <a:t>Main idea</a:t>
                      </a:r>
                      <a:endParaRPr lang="en-US" sz="1700" dirty="0">
                        <a:latin typeface="Carlito" charset="0"/>
                        <a:ea typeface="Carlito" charset="0"/>
                        <a:cs typeface="Carlito" charset="0"/>
                      </a:endParaRPr>
                    </a:p>
                  </a:txBody>
                  <a:tcPr marL="121917" marR="10502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22D3EE"/>
                    </a:solidFill>
                  </a:tcPr>
                </a:tc>
                <a:tc>
                  <a:txBody>
                    <a:bodyPr/>
                    <a:lstStyle/>
                    <a:p>
                      <a:pPr marL="0" indent="0" algn="l">
                        <a:buNone/>
                      </a:pPr>
                      <a:r>
                        <a:rPr lang="en-US" sz="1700" b="1" kern="100" spc="-28" dirty="0">
                          <a:solidFill>
                            <a:srgbClr val="0B1220"/>
                          </a:solidFill>
                          <a:latin typeface="Carlito" pitchFamily="34" charset="0"/>
                          <a:ea typeface="Carlito" pitchFamily="34" charset="-122"/>
                          <a:cs typeface="Carlito" pitchFamily="34" charset="-120"/>
                        </a:rPr>
                        <a:t>Limitation</a:t>
                      </a:r>
                      <a:endParaRPr lang="en-US" sz="1700" dirty="0">
                        <a:latin typeface="Carlito" charset="0"/>
                        <a:ea typeface="Carlito" charset="0"/>
                        <a:cs typeface="Carlito" charset="0"/>
                      </a:endParaRPr>
                    </a:p>
                  </a:txBody>
                  <a:tcPr marL="121917" marR="12191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635778">
                <a:tc>
                  <a:txBody>
                    <a:bodyPr/>
                    <a:lstStyle/>
                    <a:p>
                      <a:pPr marL="0" indent="0" algn="l">
                        <a:buNone/>
                      </a:pPr>
                      <a:r>
                        <a:rPr lang="en-US" sz="1700" b="1" kern="100" spc="-28" dirty="0">
                          <a:solidFill>
                            <a:srgbClr val="F1F5F9"/>
                          </a:solidFill>
                          <a:latin typeface="Carlito" pitchFamily="34" charset="0"/>
                          <a:ea typeface="Carlito" pitchFamily="34" charset="-122"/>
                          <a:cs typeface="Carlito" pitchFamily="34" charset="-120"/>
                        </a:rPr>
                        <a:t>Spectral Subtraction / Wiener Filter</a:t>
                      </a:r>
                      <a:endParaRPr lang="en-US" sz="1700" dirty="0">
                        <a:latin typeface="Carlito" charset="0"/>
                        <a:ea typeface="Carlito" charset="0"/>
                        <a:cs typeface="Carlito" charset="0"/>
                      </a:endParaRPr>
                    </a:p>
                  </a:txBody>
                  <a:tcPr marL="121917" marR="10502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700" kern="100" spc="-28" dirty="0">
                          <a:solidFill>
                            <a:srgbClr val="F1F5F9"/>
                          </a:solidFill>
                          <a:latin typeface="Carlito" pitchFamily="34" charset="0"/>
                          <a:ea typeface="Carlito" pitchFamily="34" charset="-122"/>
                          <a:cs typeface="Carlito" pitchFamily="34" charset="-120"/>
                        </a:rPr>
                        <a:t>Estimate and suppress noise</a:t>
                      </a:r>
                      <a:endParaRPr lang="en-US" sz="1700" dirty="0">
                        <a:latin typeface="Carlito" charset="0"/>
                        <a:ea typeface="Carlito" charset="0"/>
                        <a:cs typeface="Carlito" charset="0"/>
                      </a:endParaRPr>
                    </a:p>
                  </a:txBody>
                  <a:tcPr marL="121917" marR="10502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700" kern="100" spc="-28" dirty="0">
                          <a:solidFill>
                            <a:srgbClr val="F1F5F9"/>
                          </a:solidFill>
                          <a:latin typeface="Carlito" pitchFamily="34" charset="0"/>
                          <a:ea typeface="Carlito" pitchFamily="34" charset="-122"/>
                          <a:cs typeface="Carlito" pitchFamily="34" charset="-120"/>
                        </a:rPr>
                        <a:t>Stationary-noise assumption</a:t>
                      </a:r>
                      <a:endParaRPr lang="en-US" sz="1700" dirty="0">
                        <a:latin typeface="Carlito" charset="0"/>
                        <a:ea typeface="Carlito" charset="0"/>
                        <a:cs typeface="Carlito" charset="0"/>
                      </a:endParaRPr>
                    </a:p>
                  </a:txBody>
                  <a:tcPr marL="121917" marR="12191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extLst>
                  <a:ext uri="{0D108BD9-81ED-4DB2-BD59-A6C34878D82A}">
                    <a16:rowId xmlns:a16="http://schemas.microsoft.com/office/drawing/2014/main" val="10001"/>
                  </a:ext>
                </a:extLst>
              </a:tr>
              <a:tr h="376724">
                <a:tc>
                  <a:txBody>
                    <a:bodyPr/>
                    <a:lstStyle/>
                    <a:p>
                      <a:pPr marL="0" indent="0" algn="l">
                        <a:buNone/>
                      </a:pPr>
                      <a:r>
                        <a:rPr lang="en-US" sz="1700" b="1" kern="100" spc="-28" dirty="0">
                          <a:solidFill>
                            <a:srgbClr val="F1F5F9"/>
                          </a:solidFill>
                          <a:latin typeface="Carlito" pitchFamily="34" charset="0"/>
                          <a:ea typeface="Carlito" pitchFamily="34" charset="-122"/>
                          <a:cs typeface="Carlito" pitchFamily="34" charset="-120"/>
                        </a:rPr>
                        <a:t>Spectrogram U-Net</a:t>
                      </a:r>
                      <a:endParaRPr lang="en-US" sz="1700" dirty="0">
                        <a:latin typeface="Carlito" charset="0"/>
                        <a:ea typeface="Carlito" charset="0"/>
                        <a:cs typeface="Carlito" charset="0"/>
                      </a:endParaRPr>
                    </a:p>
                  </a:txBody>
                  <a:tcPr marL="121917" marR="10502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700" kern="100" spc="-28" dirty="0">
                          <a:solidFill>
                            <a:srgbClr val="F1F5F9"/>
                          </a:solidFill>
                          <a:latin typeface="Carlito" pitchFamily="34" charset="0"/>
                          <a:ea typeface="Carlito" pitchFamily="34" charset="-122"/>
                          <a:cs typeface="Carlito" pitchFamily="34" charset="-120"/>
                        </a:rPr>
                        <a:t>Predict spectrogram mask</a:t>
                      </a:r>
                      <a:endParaRPr lang="en-US" sz="1700" dirty="0">
                        <a:latin typeface="Carlito" charset="0"/>
                        <a:ea typeface="Carlito" charset="0"/>
                        <a:cs typeface="Carlito" charset="0"/>
                      </a:endParaRPr>
                    </a:p>
                  </a:txBody>
                  <a:tcPr marL="121917" marR="10502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700" kern="100" spc="-28" dirty="0">
                          <a:solidFill>
                            <a:srgbClr val="F1F5F9"/>
                          </a:solidFill>
                          <a:latin typeface="Carlito" pitchFamily="34" charset="0"/>
                          <a:ea typeface="Carlito" pitchFamily="34" charset="-122"/>
                          <a:cs typeface="Carlito" pitchFamily="34" charset="-120"/>
                        </a:rPr>
                        <a:t>Uses noisy phase</a:t>
                      </a:r>
                      <a:endParaRPr lang="en-US" sz="1700" dirty="0">
                        <a:latin typeface="Carlito" charset="0"/>
                        <a:ea typeface="Carlito" charset="0"/>
                        <a:cs typeface="Carlito" charset="0"/>
                      </a:endParaRPr>
                    </a:p>
                  </a:txBody>
                  <a:tcPr marL="121917" marR="12191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extLst>
                  <a:ext uri="{0D108BD9-81ED-4DB2-BD59-A6C34878D82A}">
                    <a16:rowId xmlns:a16="http://schemas.microsoft.com/office/drawing/2014/main" val="10002"/>
                  </a:ext>
                </a:extLst>
              </a:tr>
              <a:tr h="635778">
                <a:tc>
                  <a:txBody>
                    <a:bodyPr/>
                    <a:lstStyle/>
                    <a:p>
                      <a:pPr marL="0" indent="0" algn="l">
                        <a:buNone/>
                      </a:pPr>
                      <a:r>
                        <a:rPr lang="en-US" sz="1700" b="1" kern="100" spc="-28" dirty="0">
                          <a:solidFill>
                            <a:srgbClr val="F1F5F9"/>
                          </a:solidFill>
                          <a:latin typeface="Carlito" pitchFamily="34" charset="0"/>
                          <a:ea typeface="Carlito" pitchFamily="34" charset="-122"/>
                          <a:cs typeface="Carlito" pitchFamily="34" charset="-120"/>
                        </a:rPr>
                        <a:t>Conv-TasNet (Luo &amp; Mesgarani, 2019)</a:t>
                      </a:r>
                      <a:endParaRPr lang="en-US" sz="1700" dirty="0">
                        <a:latin typeface="Carlito" charset="0"/>
                        <a:ea typeface="Carlito" charset="0"/>
                        <a:cs typeface="Carlito" charset="0"/>
                      </a:endParaRPr>
                    </a:p>
                  </a:txBody>
                  <a:tcPr marL="121917" marR="10502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0E4F5C"/>
                    </a:solidFill>
                  </a:tcPr>
                </a:tc>
                <a:tc>
                  <a:txBody>
                    <a:bodyPr/>
                    <a:lstStyle/>
                    <a:p>
                      <a:pPr marL="0" indent="0" algn="l">
                        <a:buNone/>
                      </a:pPr>
                      <a:r>
                        <a:rPr lang="en-US" sz="1700" kern="100" spc="-28" dirty="0">
                          <a:solidFill>
                            <a:srgbClr val="F1F5F9"/>
                          </a:solidFill>
                          <a:latin typeface="Carlito" pitchFamily="34" charset="0"/>
                          <a:ea typeface="Carlito" pitchFamily="34" charset="-122"/>
                          <a:cs typeface="Carlito" pitchFamily="34" charset="-120"/>
                        </a:rPr>
                        <a:t>Waveform → TCN → separated speakers</a:t>
                      </a:r>
                      <a:endParaRPr lang="en-US" sz="1700" dirty="0">
                        <a:latin typeface="Carlito" charset="0"/>
                        <a:ea typeface="Carlito" charset="0"/>
                        <a:cs typeface="Carlito" charset="0"/>
                      </a:endParaRPr>
                    </a:p>
                  </a:txBody>
                  <a:tcPr marL="121917" marR="10502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0E4F5C"/>
                    </a:solidFill>
                  </a:tcPr>
                </a:tc>
                <a:tc>
                  <a:txBody>
                    <a:bodyPr/>
                    <a:lstStyle/>
                    <a:p>
                      <a:pPr marL="0" indent="0" algn="l">
                        <a:buNone/>
                      </a:pPr>
                      <a:r>
                        <a:rPr lang="en-US" sz="1700" kern="100" spc="-28" dirty="0">
                          <a:solidFill>
                            <a:srgbClr val="F1F5F9"/>
                          </a:solidFill>
                          <a:latin typeface="Carlito" pitchFamily="34" charset="0"/>
                          <a:ea typeface="Carlito" pitchFamily="34" charset="-122"/>
                          <a:cs typeface="Carlito" pitchFamily="34" charset="-120"/>
                        </a:rPr>
                        <a:t>Data/compute intensive</a:t>
                      </a:r>
                      <a:endParaRPr lang="en-US" sz="1700" dirty="0">
                        <a:latin typeface="Carlito" charset="0"/>
                        <a:ea typeface="Carlito" charset="0"/>
                        <a:cs typeface="Carlito" charset="0"/>
                      </a:endParaRPr>
                    </a:p>
                  </a:txBody>
                  <a:tcPr marL="121917" marR="12191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0E4F5C"/>
                    </a:solidFill>
                  </a:tcPr>
                </a:tc>
                <a:extLst>
                  <a:ext uri="{0D108BD9-81ED-4DB2-BD59-A6C34878D82A}">
                    <a16:rowId xmlns:a16="http://schemas.microsoft.com/office/drawing/2014/main" val="10003"/>
                  </a:ext>
                </a:extLst>
              </a:tr>
              <a:tr h="623078">
                <a:tc>
                  <a:txBody>
                    <a:bodyPr/>
                    <a:lstStyle/>
                    <a:p>
                      <a:pPr marL="0" indent="0" algn="l">
                        <a:buNone/>
                      </a:pPr>
                      <a:r>
                        <a:rPr lang="en-US" sz="1700" b="1" kern="100" spc="-28" dirty="0">
                          <a:solidFill>
                            <a:srgbClr val="F1F5F9"/>
                          </a:solidFill>
                          <a:latin typeface="Carlito" pitchFamily="34" charset="0"/>
                          <a:ea typeface="Carlito" pitchFamily="34" charset="-122"/>
                          <a:cs typeface="Carlito" pitchFamily="34" charset="-120"/>
                        </a:rPr>
                        <a:t>SepFormer</a:t>
                      </a:r>
                      <a:endParaRPr lang="en-US" sz="1700" dirty="0">
                        <a:latin typeface="Carlito" charset="0"/>
                        <a:ea typeface="Carlito" charset="0"/>
                        <a:cs typeface="Carlito" charset="0"/>
                      </a:endParaRPr>
                    </a:p>
                  </a:txBody>
                  <a:tcPr marL="121917" marR="10502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700" kern="100" spc="-28" dirty="0">
                          <a:solidFill>
                            <a:srgbClr val="F1F5F9"/>
                          </a:solidFill>
                          <a:latin typeface="Carlito" pitchFamily="34" charset="0"/>
                          <a:ea typeface="Carlito" pitchFamily="34" charset="-122"/>
                          <a:cs typeface="Carlito" pitchFamily="34" charset="-120"/>
                        </a:rPr>
                        <a:t>Transformer-based separation</a:t>
                      </a:r>
                      <a:endParaRPr lang="en-US" sz="1700" dirty="0">
                        <a:latin typeface="Carlito" charset="0"/>
                        <a:ea typeface="Carlito" charset="0"/>
                        <a:cs typeface="Carlito" charset="0"/>
                      </a:endParaRPr>
                    </a:p>
                  </a:txBody>
                  <a:tcPr marL="121917" marR="10502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700" kern="100" spc="-28" dirty="0">
                          <a:solidFill>
                            <a:srgbClr val="F1F5F9"/>
                          </a:solidFill>
                          <a:latin typeface="Carlito" pitchFamily="34" charset="0"/>
                          <a:ea typeface="Carlito" pitchFamily="34" charset="-122"/>
                          <a:cs typeface="Carlito" pitchFamily="34" charset="-120"/>
                        </a:rPr>
                        <a:t>Future work, not tested in this project</a:t>
                      </a:r>
                      <a:endParaRPr lang="en-US" sz="1700" dirty="0">
                        <a:latin typeface="Carlito" charset="0"/>
                        <a:ea typeface="Carlito" charset="0"/>
                        <a:cs typeface="Carlito" charset="0"/>
                      </a:endParaRPr>
                    </a:p>
                  </a:txBody>
                  <a:tcPr marL="121917" marR="121917" marT="52577" marB="52577"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extLst>
                  <a:ext uri="{0D108BD9-81ED-4DB2-BD59-A6C34878D82A}">
                    <a16:rowId xmlns:a16="http://schemas.microsoft.com/office/drawing/2014/main" val="10004"/>
                  </a:ext>
                </a:extLst>
              </a:tr>
            </a:tbl>
          </a:graphicData>
        </a:graphic>
      </p:graphicFrame>
      <p:sp>
        <p:nvSpPr>
          <p:cNvPr id="4" name="Shape 2"/>
          <p:cNvSpPr/>
          <p:nvPr/>
        </p:nvSpPr>
        <p:spPr>
          <a:xfrm>
            <a:off x="609585" y="4241800"/>
            <a:ext cx="10972526" cy="584200"/>
          </a:xfrm>
          <a:prstGeom prst="roundRect">
            <a:avLst>
              <a:gd name="adj" fmla="val 15026"/>
            </a:avLst>
          </a:prstGeom>
          <a:solidFill>
            <a:srgbClr val="22D3EE"/>
          </a:solidFill>
          <a:ln/>
        </p:spPr>
        <p:txBody>
          <a:bodyPr/>
          <a:lstStyle/>
          <a:p>
            <a:endParaRPr lang="en-IN"/>
          </a:p>
        </p:txBody>
      </p:sp>
      <p:sp>
        <p:nvSpPr>
          <p:cNvPr id="6" name="Text 3"/>
          <p:cNvSpPr/>
          <p:nvPr/>
        </p:nvSpPr>
        <p:spPr>
          <a:xfrm>
            <a:off x="361941" y="4320580"/>
            <a:ext cx="11467813" cy="426641"/>
          </a:xfrm>
          <a:prstGeom prst="rect">
            <a:avLst/>
          </a:prstGeom>
          <a:noFill/>
          <a:ln/>
        </p:spPr>
        <p:txBody>
          <a:bodyPr wrap="none" lIns="0" tIns="0" rIns="0" bIns="0" rtlCol="0" anchor="t"/>
          <a:lstStyle/>
          <a:p>
            <a:pPr marL="0" indent="0" algn="ctr">
              <a:lnSpc>
                <a:spcPct val="117000"/>
              </a:lnSpc>
              <a:buNone/>
            </a:pPr>
            <a:r>
              <a:rPr lang="en-US" sz="2400" b="1" kern="100" spc="-28" dirty="0">
                <a:solidFill>
                  <a:srgbClr val="0B1220"/>
                </a:solidFill>
                <a:latin typeface="Inter Bold" pitchFamily="34" charset="0"/>
                <a:ea typeface="Inter Bold" pitchFamily="34" charset="-122"/>
                <a:cs typeface="Inter Bold" pitchFamily="34" charset="-120"/>
              </a:rPr>
              <a:t>Our chosen approach: Conv-TasNet</a:t>
            </a:r>
            <a:endParaRPr lang="en-US" sz="2400" dirty="0"/>
          </a:p>
        </p:txBody>
      </p:sp>
      <p:sp>
        <p:nvSpPr>
          <p:cNvPr id="7" name="Shape 4"/>
          <p:cNvSpPr/>
          <p:nvPr/>
        </p:nvSpPr>
        <p:spPr>
          <a:xfrm>
            <a:off x="609585" y="5181600"/>
            <a:ext cx="1767736" cy="670520"/>
          </a:xfrm>
          <a:prstGeom prst="roundRect">
            <a:avLst>
              <a:gd name="adj" fmla="val 13091"/>
            </a:avLst>
          </a:prstGeom>
          <a:solidFill>
            <a:srgbClr val="15233B"/>
          </a:solidFill>
          <a:ln w="12700">
            <a:solidFill>
              <a:srgbClr val="15233B"/>
            </a:solidFill>
            <a:prstDash val="solid"/>
          </a:ln>
        </p:spPr>
        <p:txBody>
          <a:bodyPr/>
          <a:lstStyle/>
          <a:p>
            <a:endParaRPr lang="en-IN"/>
          </a:p>
        </p:txBody>
      </p:sp>
      <p:sp>
        <p:nvSpPr>
          <p:cNvPr id="8" name="Text 5"/>
          <p:cNvSpPr/>
          <p:nvPr/>
        </p:nvSpPr>
        <p:spPr>
          <a:xfrm>
            <a:off x="305785" y="5374580"/>
            <a:ext cx="2375337" cy="284460"/>
          </a:xfrm>
          <a:prstGeom prst="rect">
            <a:avLst/>
          </a:prstGeom>
          <a:noFill/>
          <a:ln/>
        </p:spPr>
        <p:txBody>
          <a:bodyPr wrap="none" lIns="0" tIns="0" rIns="0" bIns="0" rtlCol="0" anchor="t"/>
          <a:lstStyle/>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Raw waveform</a:t>
            </a:r>
            <a:endParaRPr lang="en-US" sz="1600" dirty="0"/>
          </a:p>
        </p:txBody>
      </p:sp>
      <p:sp>
        <p:nvSpPr>
          <p:cNvPr id="9" name="Shape 6"/>
          <p:cNvSpPr/>
          <p:nvPr/>
        </p:nvSpPr>
        <p:spPr>
          <a:xfrm>
            <a:off x="2377321" y="5499100"/>
            <a:ext cx="386050" cy="25400"/>
          </a:xfrm>
          <a:prstGeom prst="rect">
            <a:avLst/>
          </a:prstGeom>
          <a:solidFill>
            <a:srgbClr val="94A3B8"/>
          </a:solidFill>
          <a:ln/>
        </p:spPr>
        <p:txBody>
          <a:bodyPr/>
          <a:lstStyle/>
          <a:p>
            <a:endParaRPr lang="en-IN"/>
          </a:p>
        </p:txBody>
      </p:sp>
      <p:sp>
        <p:nvSpPr>
          <p:cNvPr id="10" name="Shape 7"/>
          <p:cNvSpPr/>
          <p:nvPr/>
        </p:nvSpPr>
        <p:spPr>
          <a:xfrm>
            <a:off x="2763371" y="54610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11" name="Shape 8"/>
          <p:cNvSpPr/>
          <p:nvPr/>
        </p:nvSpPr>
        <p:spPr>
          <a:xfrm>
            <a:off x="2864969" y="5181600"/>
            <a:ext cx="1767736" cy="670520"/>
          </a:xfrm>
          <a:prstGeom prst="roundRect">
            <a:avLst>
              <a:gd name="adj" fmla="val 13091"/>
            </a:avLst>
          </a:prstGeom>
          <a:solidFill>
            <a:srgbClr val="15233B"/>
          </a:solidFill>
          <a:ln w="12700">
            <a:solidFill>
              <a:srgbClr val="15233B"/>
            </a:solidFill>
            <a:prstDash val="solid"/>
          </a:ln>
        </p:spPr>
        <p:txBody>
          <a:bodyPr/>
          <a:lstStyle/>
          <a:p>
            <a:endParaRPr lang="en-IN"/>
          </a:p>
        </p:txBody>
      </p:sp>
      <p:sp>
        <p:nvSpPr>
          <p:cNvPr id="12" name="Text 9"/>
          <p:cNvSpPr/>
          <p:nvPr/>
        </p:nvSpPr>
        <p:spPr>
          <a:xfrm>
            <a:off x="2561169" y="5374580"/>
            <a:ext cx="2375337" cy="284460"/>
          </a:xfrm>
          <a:prstGeom prst="rect">
            <a:avLst/>
          </a:prstGeom>
          <a:noFill/>
          <a:ln/>
        </p:spPr>
        <p:txBody>
          <a:bodyPr wrap="none" lIns="0" tIns="0" rIns="0" bIns="0" rtlCol="0" anchor="t"/>
          <a:lstStyle/>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Encoder</a:t>
            </a:r>
            <a:endParaRPr lang="en-US" sz="1600" dirty="0"/>
          </a:p>
        </p:txBody>
      </p:sp>
      <p:sp>
        <p:nvSpPr>
          <p:cNvPr id="13" name="Shape 10"/>
          <p:cNvSpPr/>
          <p:nvPr/>
        </p:nvSpPr>
        <p:spPr>
          <a:xfrm>
            <a:off x="4632804" y="5499100"/>
            <a:ext cx="386050" cy="25400"/>
          </a:xfrm>
          <a:prstGeom prst="rect">
            <a:avLst/>
          </a:prstGeom>
          <a:solidFill>
            <a:srgbClr val="94A3B8"/>
          </a:solidFill>
          <a:ln/>
        </p:spPr>
        <p:txBody>
          <a:bodyPr/>
          <a:lstStyle/>
          <a:p>
            <a:endParaRPr lang="en-IN"/>
          </a:p>
        </p:txBody>
      </p:sp>
      <p:sp>
        <p:nvSpPr>
          <p:cNvPr id="14" name="Shape 11"/>
          <p:cNvSpPr/>
          <p:nvPr/>
        </p:nvSpPr>
        <p:spPr>
          <a:xfrm>
            <a:off x="5018855" y="54610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15" name="Shape 12"/>
          <p:cNvSpPr/>
          <p:nvPr/>
        </p:nvSpPr>
        <p:spPr>
          <a:xfrm>
            <a:off x="5120452" y="5181600"/>
            <a:ext cx="1767736" cy="670520"/>
          </a:xfrm>
          <a:prstGeom prst="roundRect">
            <a:avLst>
              <a:gd name="adj" fmla="val 13091"/>
            </a:avLst>
          </a:prstGeom>
          <a:solidFill>
            <a:srgbClr val="15233B"/>
          </a:solidFill>
          <a:ln w="12700">
            <a:solidFill>
              <a:srgbClr val="15233B"/>
            </a:solidFill>
            <a:prstDash val="solid"/>
          </a:ln>
        </p:spPr>
        <p:txBody>
          <a:bodyPr/>
          <a:lstStyle/>
          <a:p>
            <a:endParaRPr lang="en-IN"/>
          </a:p>
        </p:txBody>
      </p:sp>
      <p:sp>
        <p:nvSpPr>
          <p:cNvPr id="16" name="Text 13"/>
          <p:cNvSpPr/>
          <p:nvPr/>
        </p:nvSpPr>
        <p:spPr>
          <a:xfrm>
            <a:off x="4816652" y="5374580"/>
            <a:ext cx="2375337" cy="284460"/>
          </a:xfrm>
          <a:prstGeom prst="rect">
            <a:avLst/>
          </a:prstGeom>
          <a:noFill/>
          <a:ln/>
        </p:spPr>
        <p:txBody>
          <a:bodyPr wrap="none" lIns="0" tIns="0" rIns="0" bIns="0" rtlCol="0" anchor="t"/>
          <a:lstStyle/>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TCN → masks</a:t>
            </a:r>
            <a:endParaRPr lang="en-US" sz="1600" dirty="0"/>
          </a:p>
        </p:txBody>
      </p:sp>
      <p:sp>
        <p:nvSpPr>
          <p:cNvPr id="17" name="Shape 14"/>
          <p:cNvSpPr/>
          <p:nvPr/>
        </p:nvSpPr>
        <p:spPr>
          <a:xfrm>
            <a:off x="6888288" y="5499100"/>
            <a:ext cx="386050" cy="25400"/>
          </a:xfrm>
          <a:prstGeom prst="rect">
            <a:avLst/>
          </a:prstGeom>
          <a:solidFill>
            <a:srgbClr val="94A3B8"/>
          </a:solidFill>
          <a:ln/>
        </p:spPr>
        <p:txBody>
          <a:bodyPr/>
          <a:lstStyle/>
          <a:p>
            <a:endParaRPr lang="en-IN"/>
          </a:p>
        </p:txBody>
      </p:sp>
      <p:sp>
        <p:nvSpPr>
          <p:cNvPr id="18" name="Shape 15"/>
          <p:cNvSpPr/>
          <p:nvPr/>
        </p:nvSpPr>
        <p:spPr>
          <a:xfrm>
            <a:off x="7274338" y="54610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19" name="Shape 16"/>
          <p:cNvSpPr/>
          <p:nvPr/>
        </p:nvSpPr>
        <p:spPr>
          <a:xfrm>
            <a:off x="7375936" y="5181600"/>
            <a:ext cx="1767736" cy="670520"/>
          </a:xfrm>
          <a:prstGeom prst="roundRect">
            <a:avLst>
              <a:gd name="adj" fmla="val 13091"/>
            </a:avLst>
          </a:prstGeom>
          <a:solidFill>
            <a:srgbClr val="15233B"/>
          </a:solidFill>
          <a:ln w="12700">
            <a:solidFill>
              <a:srgbClr val="15233B"/>
            </a:solidFill>
            <a:prstDash val="solid"/>
          </a:ln>
        </p:spPr>
        <p:txBody>
          <a:bodyPr/>
          <a:lstStyle/>
          <a:p>
            <a:endParaRPr lang="en-IN"/>
          </a:p>
        </p:txBody>
      </p:sp>
      <p:sp>
        <p:nvSpPr>
          <p:cNvPr id="20" name="Text 17"/>
          <p:cNvSpPr/>
          <p:nvPr/>
        </p:nvSpPr>
        <p:spPr>
          <a:xfrm>
            <a:off x="7072136" y="5374580"/>
            <a:ext cx="2375337" cy="284460"/>
          </a:xfrm>
          <a:prstGeom prst="rect">
            <a:avLst/>
          </a:prstGeom>
          <a:noFill/>
          <a:ln/>
        </p:spPr>
        <p:txBody>
          <a:bodyPr wrap="none" lIns="0" tIns="0" rIns="0" bIns="0" rtlCol="0" anchor="t"/>
          <a:lstStyle/>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Decoder</a:t>
            </a:r>
            <a:endParaRPr lang="en-US" sz="1600" dirty="0"/>
          </a:p>
        </p:txBody>
      </p:sp>
      <p:sp>
        <p:nvSpPr>
          <p:cNvPr id="21" name="Shape 18"/>
          <p:cNvSpPr/>
          <p:nvPr/>
        </p:nvSpPr>
        <p:spPr>
          <a:xfrm>
            <a:off x="9245369" y="4927600"/>
            <a:ext cx="2336742" cy="1066800"/>
          </a:xfrm>
          <a:prstGeom prst="roundRect">
            <a:avLst>
              <a:gd name="adj" fmla="val 8228"/>
            </a:avLst>
          </a:prstGeom>
          <a:noFill/>
          <a:ln w="12700">
            <a:solidFill>
              <a:srgbClr val="FBBF24"/>
            </a:solidFill>
            <a:prstDash val="solid"/>
          </a:ln>
        </p:spPr>
        <p:txBody>
          <a:bodyPr/>
          <a:lstStyle/>
          <a:p>
            <a:endParaRPr lang="en-IN"/>
          </a:p>
        </p:txBody>
      </p:sp>
      <p:sp>
        <p:nvSpPr>
          <p:cNvPr id="22" name="Text 19"/>
          <p:cNvSpPr/>
          <p:nvPr/>
        </p:nvSpPr>
        <p:spPr>
          <a:xfrm>
            <a:off x="9302517" y="4963220"/>
            <a:ext cx="2222444" cy="995561"/>
          </a:xfrm>
          <a:prstGeom prst="rect">
            <a:avLst/>
          </a:prstGeom>
          <a:noFill/>
          <a:ln/>
        </p:spPr>
        <p:txBody>
          <a:bodyPr wrap="square" lIns="0" tIns="0" rIns="0" bIns="0" rtlCol="0" anchor="t">
            <a:normAutofit/>
          </a:bodyPr>
          <a:lstStyle/>
          <a:p>
            <a:pPr marL="0" indent="0" algn="ctr">
              <a:lnSpc>
                <a:spcPct val="117000"/>
              </a:lnSpc>
              <a:buNone/>
            </a:pPr>
            <a:r>
              <a:rPr lang="en-US" sz="1450" b="1" kern="100" spc="-28" dirty="0">
                <a:solidFill>
                  <a:srgbClr val="FBBF24"/>
                </a:solidFill>
                <a:latin typeface="Inter Bold" pitchFamily="34" charset="0"/>
                <a:ea typeface="Inter Bold" pitchFamily="34" charset="-122"/>
                <a:cs typeface="Inter Bold" pitchFamily="34" charset="-120"/>
              </a:rPr>
              <a:t>PAPER result (not ours)</a:t>
            </a:r>
            <a:endParaRPr lang="en-US" sz="1800" dirty="0"/>
          </a:p>
          <a:p>
            <a:pPr marL="0" indent="0" algn="ctr">
              <a:lnSpc>
                <a:spcPct val="117000"/>
              </a:lnSpc>
              <a:buNone/>
            </a:pPr>
            <a:r>
              <a:rPr lang="en-US" sz="2000" b="1" kern="100" spc="-28" dirty="0">
                <a:solidFill>
                  <a:srgbClr val="F1F5F9"/>
                </a:solidFill>
                <a:latin typeface="Inter Bold" pitchFamily="34" charset="0"/>
                <a:ea typeface="Inter Bold" pitchFamily="34" charset="-122"/>
                <a:cs typeface="Inter Bold" pitchFamily="34" charset="-120"/>
              </a:rPr>
              <a:t>15.3 dB SI-SDRi</a:t>
            </a:r>
            <a:endParaRPr lang="en-US" sz="1800" dirty="0"/>
          </a:p>
          <a:p>
            <a:pPr marL="0" indent="0" algn="ctr">
              <a:lnSpc>
                <a:spcPct val="117000"/>
              </a:lnSpc>
              <a:buNone/>
            </a:pPr>
            <a:r>
              <a:rPr lang="en-US" sz="1400" kern="100" spc="-28" dirty="0">
                <a:solidFill>
                  <a:srgbClr val="94A3B8"/>
                </a:solidFill>
                <a:latin typeface="Inter" pitchFamily="34" charset="0"/>
                <a:ea typeface="Inter" pitchFamily="34" charset="-122"/>
                <a:cs typeface="Inter" pitchFamily="34" charset="-120"/>
              </a:rPr>
              <a:t>WSJ0-2mix · 5.1M params</a:t>
            </a:r>
            <a:endParaRPr lang="en-US" sz="1800" dirty="0"/>
          </a:p>
        </p:txBody>
      </p:sp>
      <p:sp>
        <p:nvSpPr>
          <p:cNvPr id="24" name="Text 21"/>
          <p:cNvSpPr/>
          <p:nvPr/>
        </p:nvSpPr>
        <p:spPr>
          <a:xfrm>
            <a:off x="11338237" y="6527155"/>
            <a:ext cx="686477" cy="174129"/>
          </a:xfrm>
          <a:prstGeom prst="rect">
            <a:avLst/>
          </a:prstGeom>
          <a:noFill/>
          <a:ln/>
        </p:spPr>
        <p:txBody>
          <a:bodyPr wrap="none" lIns="0" tIns="0" rIns="0" bIns="0" rtlCol="0" anchor="ctr"/>
          <a:lstStyle/>
          <a:p>
            <a:pPr marL="0" indent="0" algn="l">
              <a:lnSpc>
                <a:spcPct val="117000"/>
              </a:lnSpc>
              <a:buNone/>
            </a:pPr>
            <a:r>
              <a:rPr lang="en-US" sz="1000" kern="100" spc="-28" dirty="0">
                <a:solidFill>
                  <a:srgbClr val="94A3B8"/>
                </a:solidFill>
                <a:latin typeface="Inter" pitchFamily="34" charset="0"/>
                <a:ea typeface="Inter" pitchFamily="34" charset="-122"/>
                <a:cs typeface="Inter"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09585" y="390128"/>
            <a:ext cx="97530" cy="609600"/>
          </a:xfrm>
          <a:prstGeom prst="rect">
            <a:avLst/>
          </a:prstGeom>
          <a:solidFill>
            <a:srgbClr val="22D3EE"/>
          </a:solidFill>
          <a:ln w="12700">
            <a:solidFill>
              <a:srgbClr val="22D3EE"/>
            </a:solidFill>
            <a:prstDash val="solid"/>
          </a:ln>
        </p:spPr>
        <p:txBody>
          <a:bodyPr/>
          <a:lstStyle/>
          <a:p>
            <a:endParaRPr lang="en-IN"/>
          </a:p>
        </p:txBody>
      </p:sp>
      <p:sp>
        <p:nvSpPr>
          <p:cNvPr id="3" name="Text 1"/>
          <p:cNvSpPr/>
          <p:nvPr/>
        </p:nvSpPr>
        <p:spPr>
          <a:xfrm>
            <a:off x="877766" y="318790"/>
            <a:ext cx="10728652" cy="705048"/>
          </a:xfrm>
          <a:prstGeom prst="rect">
            <a:avLst/>
          </a:prstGeom>
          <a:noFill/>
          <a:ln/>
        </p:spPr>
        <p:txBody>
          <a:bodyPr wrap="none" lIns="0" tIns="110170" rIns="0" bIns="110170" rtlCol="0" anchor="t"/>
          <a:lstStyle/>
          <a:p>
            <a:pPr marL="0" indent="0" algn="l">
              <a:lnSpc>
                <a:spcPct val="92000"/>
              </a:lnSpc>
              <a:buNone/>
            </a:pPr>
            <a:r>
              <a:rPr lang="en-US" sz="3450" b="1" kern="100" spc="-69" dirty="0">
                <a:solidFill>
                  <a:srgbClr val="F1F5F9"/>
                </a:solidFill>
                <a:latin typeface="Petrona Bold" pitchFamily="34" charset="0"/>
                <a:ea typeface="Petrona Bold" pitchFamily="34" charset="-122"/>
                <a:cs typeface="Petrona Bold" pitchFamily="34" charset="-120"/>
              </a:rPr>
              <a:t>Research Gap &amp; Required Improvement</a:t>
            </a:r>
            <a:endParaRPr lang="en-US" sz="3450" dirty="0"/>
          </a:p>
        </p:txBody>
      </p:sp>
      <p:sp>
        <p:nvSpPr>
          <p:cNvPr id="4" name="Shape 2"/>
          <p:cNvSpPr/>
          <p:nvPr/>
        </p:nvSpPr>
        <p:spPr>
          <a:xfrm>
            <a:off x="609585" y="1168400"/>
            <a:ext cx="3301917" cy="1219200"/>
          </a:xfrm>
          <a:prstGeom prst="roundRect">
            <a:avLst>
              <a:gd name="adj" fmla="val 7200"/>
            </a:avLst>
          </a:prstGeom>
          <a:solidFill>
            <a:srgbClr val="15233B"/>
          </a:solidFill>
          <a:ln w="12700">
            <a:solidFill>
              <a:srgbClr val="22D3EE"/>
            </a:solidFill>
            <a:prstDash val="solid"/>
          </a:ln>
        </p:spPr>
        <p:txBody>
          <a:bodyPr/>
          <a:lstStyle/>
          <a:p>
            <a:endParaRPr lang="en-IN"/>
          </a:p>
        </p:txBody>
      </p:sp>
      <p:sp>
        <p:nvSpPr>
          <p:cNvPr id="5" name="Text 3"/>
          <p:cNvSpPr/>
          <p:nvPr/>
        </p:nvSpPr>
        <p:spPr>
          <a:xfrm>
            <a:off x="361941" y="1396405"/>
            <a:ext cx="3797205" cy="284460"/>
          </a:xfrm>
          <a:prstGeom prst="rect">
            <a:avLst/>
          </a:prstGeom>
          <a:noFill/>
          <a:ln/>
        </p:spPr>
        <p:txBody>
          <a:bodyPr wrap="none" lIns="0" tIns="0" rIns="0" bIns="0" rtlCol="0" anchor="t"/>
          <a:lstStyle/>
          <a:p>
            <a:pPr marL="0" indent="0" algn="ctr">
              <a:lnSpc>
                <a:spcPct val="117000"/>
              </a:lnSpc>
              <a:buNone/>
            </a:pPr>
            <a:r>
              <a:rPr lang="en-US" sz="1600" b="1" kern="100" spc="-28" dirty="0">
                <a:solidFill>
                  <a:srgbClr val="22D3EE"/>
                </a:solidFill>
                <a:latin typeface="Inter Bold" pitchFamily="34" charset="0"/>
                <a:ea typeface="Inter Bold" pitchFamily="34" charset="-122"/>
                <a:cs typeface="Inter Bold" pitchFamily="34" charset="-120"/>
              </a:rPr>
              <a:t>PHASE 1</a:t>
            </a:r>
            <a:endParaRPr lang="en-US" sz="1600" dirty="0"/>
          </a:p>
        </p:txBody>
      </p:sp>
      <p:sp>
        <p:nvSpPr>
          <p:cNvPr id="6" name="Text 4"/>
          <p:cNvSpPr/>
          <p:nvPr/>
        </p:nvSpPr>
        <p:spPr>
          <a:xfrm>
            <a:off x="361941" y="1839615"/>
            <a:ext cx="3797205" cy="319980"/>
          </a:xfrm>
          <a:prstGeom prst="rect">
            <a:avLst/>
          </a:prstGeom>
          <a:noFill/>
          <a:ln/>
        </p:spPr>
        <p:txBody>
          <a:bodyPr wrap="none" lIns="0" tIns="0" rIns="0" bIns="0" rtlCol="0" anchor="t"/>
          <a:lstStyle/>
          <a:p>
            <a:pPr marL="0" indent="0" algn="ctr">
              <a:lnSpc>
                <a:spcPct val="117000"/>
              </a:lnSpc>
              <a:buNone/>
            </a:pPr>
            <a:r>
              <a:rPr lang="en-US" sz="1800" b="1" kern="100" spc="-28" dirty="0">
                <a:solidFill>
                  <a:srgbClr val="F1F5F9"/>
                </a:solidFill>
                <a:latin typeface="Inter Bold" pitchFamily="34" charset="0"/>
                <a:ea typeface="Inter Bold" pitchFamily="34" charset="-122"/>
                <a:cs typeface="Inter Bold" pitchFamily="34" charset="-120"/>
              </a:rPr>
              <a:t>Speech + Noise → Denoising</a:t>
            </a:r>
            <a:endParaRPr lang="en-US" sz="1800" dirty="0"/>
          </a:p>
        </p:txBody>
      </p:sp>
      <p:sp>
        <p:nvSpPr>
          <p:cNvPr id="7" name="Shape 5"/>
          <p:cNvSpPr/>
          <p:nvPr/>
        </p:nvSpPr>
        <p:spPr>
          <a:xfrm>
            <a:off x="3924202" y="1765300"/>
            <a:ext cx="406390" cy="25400"/>
          </a:xfrm>
          <a:prstGeom prst="roundRect">
            <a:avLst>
              <a:gd name="adj" fmla="val 49999"/>
            </a:avLst>
          </a:prstGeom>
          <a:solidFill>
            <a:srgbClr val="94A3B8"/>
          </a:solidFill>
          <a:ln/>
        </p:spPr>
        <p:txBody>
          <a:bodyPr/>
          <a:lstStyle/>
          <a:p>
            <a:endParaRPr lang="en-IN"/>
          </a:p>
        </p:txBody>
      </p:sp>
      <p:sp>
        <p:nvSpPr>
          <p:cNvPr id="8" name="Shape 6"/>
          <p:cNvSpPr/>
          <p:nvPr/>
        </p:nvSpPr>
        <p:spPr>
          <a:xfrm>
            <a:off x="4330592" y="17272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9" name="Shape 7"/>
          <p:cNvSpPr/>
          <p:nvPr/>
        </p:nvSpPr>
        <p:spPr>
          <a:xfrm>
            <a:off x="4444889" y="1168400"/>
            <a:ext cx="3301917" cy="1219200"/>
          </a:xfrm>
          <a:prstGeom prst="roundRect">
            <a:avLst>
              <a:gd name="adj" fmla="val 7200"/>
            </a:avLst>
          </a:prstGeom>
          <a:solidFill>
            <a:srgbClr val="15233B"/>
          </a:solidFill>
          <a:ln w="12700">
            <a:solidFill>
              <a:srgbClr val="FBBF24"/>
            </a:solidFill>
            <a:prstDash val="solid"/>
          </a:ln>
        </p:spPr>
        <p:txBody>
          <a:bodyPr/>
          <a:lstStyle/>
          <a:p>
            <a:endParaRPr lang="en-IN"/>
          </a:p>
        </p:txBody>
      </p:sp>
      <p:sp>
        <p:nvSpPr>
          <p:cNvPr id="10" name="Text 8"/>
          <p:cNvSpPr/>
          <p:nvPr/>
        </p:nvSpPr>
        <p:spPr>
          <a:xfrm>
            <a:off x="4197245" y="1236365"/>
            <a:ext cx="3797205" cy="284460"/>
          </a:xfrm>
          <a:prstGeom prst="rect">
            <a:avLst/>
          </a:prstGeom>
          <a:noFill/>
          <a:ln/>
        </p:spPr>
        <p:txBody>
          <a:bodyPr wrap="none" lIns="0" tIns="0" rIns="0" bIns="0" rtlCol="0" anchor="t"/>
          <a:lstStyle/>
          <a:p>
            <a:pPr marL="0" indent="0" algn="ctr">
              <a:lnSpc>
                <a:spcPct val="117000"/>
              </a:lnSpc>
              <a:buNone/>
            </a:pPr>
            <a:r>
              <a:rPr lang="en-US" sz="1600" b="1" kern="100" spc="-28" dirty="0">
                <a:solidFill>
                  <a:srgbClr val="FBBF24"/>
                </a:solidFill>
                <a:latin typeface="Inter Bold" pitchFamily="34" charset="0"/>
                <a:ea typeface="Inter Bold" pitchFamily="34" charset="-122"/>
                <a:cs typeface="Inter Bold" pitchFamily="34" charset="-120"/>
              </a:rPr>
              <a:t>LIMITATION</a:t>
            </a:r>
            <a:endParaRPr lang="en-US" sz="1600" dirty="0"/>
          </a:p>
        </p:txBody>
      </p:sp>
      <p:sp>
        <p:nvSpPr>
          <p:cNvPr id="11" name="Text 9"/>
          <p:cNvSpPr/>
          <p:nvPr/>
        </p:nvSpPr>
        <p:spPr>
          <a:xfrm>
            <a:off x="4502037" y="1679575"/>
            <a:ext cx="3187620" cy="639961"/>
          </a:xfrm>
          <a:prstGeom prst="rect">
            <a:avLst/>
          </a:prstGeom>
          <a:noFill/>
          <a:ln/>
        </p:spPr>
        <p:txBody>
          <a:bodyPr wrap="square" lIns="0" tIns="0" rIns="0" bIns="0" rtlCol="0" anchor="t">
            <a:normAutofit/>
          </a:bodyPr>
          <a:lstStyle/>
          <a:p>
            <a:pPr marL="0" indent="0" algn="ctr">
              <a:lnSpc>
                <a:spcPct val="117000"/>
              </a:lnSpc>
              <a:buNone/>
            </a:pPr>
            <a:r>
              <a:rPr lang="en-US" sz="1800" b="1" kern="100" spc="-28" dirty="0">
                <a:solidFill>
                  <a:srgbClr val="F1F5F9"/>
                </a:solidFill>
                <a:latin typeface="Inter Bold" pitchFamily="34" charset="0"/>
                <a:ea typeface="Inter Bold" pitchFamily="34" charset="-122"/>
                <a:cs typeface="Inter Bold" pitchFamily="34" charset="-120"/>
              </a:rPr>
              <a:t>Overlapping speakers remain unsolved</a:t>
            </a:r>
            <a:endParaRPr lang="en-US" sz="1800" dirty="0"/>
          </a:p>
        </p:txBody>
      </p:sp>
      <p:sp>
        <p:nvSpPr>
          <p:cNvPr id="12" name="Shape 10"/>
          <p:cNvSpPr/>
          <p:nvPr/>
        </p:nvSpPr>
        <p:spPr>
          <a:xfrm>
            <a:off x="7759506" y="1765300"/>
            <a:ext cx="406390" cy="25400"/>
          </a:xfrm>
          <a:prstGeom prst="roundRect">
            <a:avLst>
              <a:gd name="adj" fmla="val 49999"/>
            </a:avLst>
          </a:prstGeom>
          <a:solidFill>
            <a:srgbClr val="94A3B8"/>
          </a:solidFill>
          <a:ln/>
        </p:spPr>
        <p:txBody>
          <a:bodyPr/>
          <a:lstStyle/>
          <a:p>
            <a:endParaRPr lang="en-IN"/>
          </a:p>
        </p:txBody>
      </p:sp>
      <p:sp>
        <p:nvSpPr>
          <p:cNvPr id="13" name="Shape 11"/>
          <p:cNvSpPr/>
          <p:nvPr/>
        </p:nvSpPr>
        <p:spPr>
          <a:xfrm>
            <a:off x="8165896" y="17272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14" name="Shape 12"/>
          <p:cNvSpPr/>
          <p:nvPr/>
        </p:nvSpPr>
        <p:spPr>
          <a:xfrm>
            <a:off x="8280193" y="1168400"/>
            <a:ext cx="3301917" cy="1219200"/>
          </a:xfrm>
          <a:prstGeom prst="roundRect">
            <a:avLst>
              <a:gd name="adj" fmla="val 7200"/>
            </a:avLst>
          </a:prstGeom>
          <a:solidFill>
            <a:srgbClr val="15233B"/>
          </a:solidFill>
          <a:ln w="12700">
            <a:solidFill>
              <a:srgbClr val="E879F9"/>
            </a:solidFill>
            <a:prstDash val="solid"/>
          </a:ln>
        </p:spPr>
        <p:txBody>
          <a:bodyPr/>
          <a:lstStyle/>
          <a:p>
            <a:endParaRPr lang="en-IN"/>
          </a:p>
        </p:txBody>
      </p:sp>
      <p:sp>
        <p:nvSpPr>
          <p:cNvPr id="15" name="Text 13"/>
          <p:cNvSpPr/>
          <p:nvPr/>
        </p:nvSpPr>
        <p:spPr>
          <a:xfrm>
            <a:off x="8032549" y="1236365"/>
            <a:ext cx="3797205" cy="284460"/>
          </a:xfrm>
          <a:prstGeom prst="rect">
            <a:avLst/>
          </a:prstGeom>
          <a:noFill/>
          <a:ln/>
        </p:spPr>
        <p:txBody>
          <a:bodyPr wrap="none" lIns="0" tIns="0" rIns="0" bIns="0" rtlCol="0" anchor="t"/>
          <a:lstStyle/>
          <a:p>
            <a:pPr marL="0" indent="0" algn="ctr">
              <a:lnSpc>
                <a:spcPct val="117000"/>
              </a:lnSpc>
              <a:buNone/>
            </a:pPr>
            <a:r>
              <a:rPr lang="en-US" sz="1600" b="1" kern="100" spc="-28" dirty="0">
                <a:solidFill>
                  <a:srgbClr val="E879F9"/>
                </a:solidFill>
                <a:latin typeface="Inter Bold" pitchFamily="34" charset="0"/>
                <a:ea typeface="Inter Bold" pitchFamily="34" charset="-122"/>
                <a:cs typeface="Inter Bold" pitchFamily="34" charset="-120"/>
              </a:rPr>
              <a:t>PHASE 2</a:t>
            </a:r>
            <a:endParaRPr lang="en-US" sz="1600" dirty="0"/>
          </a:p>
        </p:txBody>
      </p:sp>
      <p:sp>
        <p:nvSpPr>
          <p:cNvPr id="16" name="Text 14"/>
          <p:cNvSpPr/>
          <p:nvPr/>
        </p:nvSpPr>
        <p:spPr>
          <a:xfrm>
            <a:off x="8337341" y="1679575"/>
            <a:ext cx="3187620" cy="639961"/>
          </a:xfrm>
          <a:prstGeom prst="rect">
            <a:avLst/>
          </a:prstGeom>
          <a:noFill/>
          <a:ln/>
        </p:spPr>
        <p:txBody>
          <a:bodyPr wrap="square" lIns="0" tIns="0" rIns="0" bIns="0" rtlCol="0" anchor="t">
            <a:normAutofit/>
          </a:bodyPr>
          <a:lstStyle/>
          <a:p>
            <a:pPr marL="0" indent="0" algn="ctr">
              <a:lnSpc>
                <a:spcPct val="117000"/>
              </a:lnSpc>
              <a:buNone/>
            </a:pPr>
            <a:r>
              <a:rPr lang="en-US" sz="1800" b="1" kern="100" spc="-28" dirty="0">
                <a:solidFill>
                  <a:srgbClr val="F1F5F9"/>
                </a:solidFill>
                <a:latin typeface="Inter Bold" pitchFamily="34" charset="0"/>
                <a:ea typeface="Inter Bold" pitchFamily="34" charset="-122"/>
                <a:cs typeface="Inter Bold" pitchFamily="34" charset="-120"/>
              </a:rPr>
              <a:t>Speaker 1 + Speaker 2 → True Separation</a:t>
            </a:r>
            <a:endParaRPr lang="en-US" sz="1800" dirty="0"/>
          </a:p>
        </p:txBody>
      </p:sp>
      <p:sp>
        <p:nvSpPr>
          <p:cNvPr id="17" name="Text 15"/>
          <p:cNvSpPr/>
          <p:nvPr/>
        </p:nvSpPr>
        <p:spPr>
          <a:xfrm>
            <a:off x="666733" y="2489200"/>
            <a:ext cx="6845129" cy="302220"/>
          </a:xfrm>
          <a:prstGeom prst="rect">
            <a:avLst/>
          </a:prstGeom>
          <a:noFill/>
          <a:ln/>
        </p:spPr>
        <p:txBody>
          <a:bodyPr wrap="none" lIns="0" tIns="0" rIns="0" bIns="0" rtlCol="0" anchor="t"/>
          <a:lstStyle/>
          <a:p>
            <a:pPr marL="0" indent="0" algn="l">
              <a:lnSpc>
                <a:spcPct val="117000"/>
              </a:lnSpc>
              <a:buNone/>
            </a:pPr>
            <a:r>
              <a:rPr lang="en-US" sz="1700" b="1" kern="100" spc="-28" dirty="0">
                <a:solidFill>
                  <a:srgbClr val="E879F9"/>
                </a:solidFill>
                <a:latin typeface="Inter Bold" pitchFamily="34" charset="0"/>
                <a:ea typeface="Inter Bold" pitchFamily="34" charset="-122"/>
                <a:cs typeface="Inter Bold" pitchFamily="34" charset="-120"/>
              </a:rPr>
              <a:t>REQUIRED IMPROVEMENTS</a:t>
            </a:r>
            <a:endParaRPr lang="en-US" sz="1700" dirty="0"/>
          </a:p>
        </p:txBody>
      </p:sp>
      <p:sp>
        <p:nvSpPr>
          <p:cNvPr id="18" name="Shape 16"/>
          <p:cNvSpPr/>
          <p:nvPr/>
        </p:nvSpPr>
        <p:spPr>
          <a:xfrm>
            <a:off x="609585" y="2844800"/>
            <a:ext cx="2072529" cy="965200"/>
          </a:xfrm>
          <a:prstGeom prst="roundRect">
            <a:avLst>
              <a:gd name="adj" fmla="val 9095"/>
            </a:avLst>
          </a:prstGeom>
          <a:solidFill>
            <a:srgbClr val="123B2E"/>
          </a:solidFill>
          <a:ln w="12700">
            <a:solidFill>
              <a:srgbClr val="34D399"/>
            </a:solidFill>
            <a:prstDash val="solid"/>
          </a:ln>
        </p:spPr>
        <p:txBody>
          <a:bodyPr/>
          <a:lstStyle/>
          <a:p>
            <a:endParaRPr lang="en-IN"/>
          </a:p>
        </p:txBody>
      </p:sp>
      <p:sp>
        <p:nvSpPr>
          <p:cNvPr id="19" name="Text 17"/>
          <p:cNvSpPr/>
          <p:nvPr/>
        </p:nvSpPr>
        <p:spPr>
          <a:xfrm>
            <a:off x="666733" y="3025180"/>
            <a:ext cx="1958231" cy="604441"/>
          </a:xfrm>
          <a:prstGeom prst="rect">
            <a:avLst/>
          </a:prstGeom>
          <a:noFill/>
          <a:ln/>
        </p:spPr>
        <p:txBody>
          <a:bodyPr wrap="square" lIns="0" tIns="0" rIns="0" bIns="0" rtlCol="0" anchor="t">
            <a:normAutofit/>
          </a:bodyPr>
          <a:lstStyle/>
          <a:p>
            <a:pPr marL="0" indent="0" algn="ctr">
              <a:lnSpc>
                <a:spcPct val="117000"/>
              </a:lnSpc>
              <a:buNone/>
            </a:pPr>
            <a:r>
              <a:rPr lang="en-US" sz="1700" b="1" kern="100" spc="-28" dirty="0">
                <a:solidFill>
                  <a:srgbClr val="F1F5F9"/>
                </a:solidFill>
                <a:latin typeface="Inter Bold" pitchFamily="34" charset="0"/>
                <a:ea typeface="Inter Bold" pitchFamily="34" charset="-122"/>
                <a:cs typeface="Inter Bold" pitchFamily="34" charset="-120"/>
              </a:rPr>
              <a:t>More speaker pairs</a:t>
            </a:r>
            <a:endParaRPr lang="en-US" sz="1700" dirty="0"/>
          </a:p>
        </p:txBody>
      </p:sp>
      <p:sp>
        <p:nvSpPr>
          <p:cNvPr id="20" name="Shape 18"/>
          <p:cNvSpPr/>
          <p:nvPr/>
        </p:nvSpPr>
        <p:spPr>
          <a:xfrm>
            <a:off x="2834510" y="2844800"/>
            <a:ext cx="2072529" cy="965200"/>
          </a:xfrm>
          <a:prstGeom prst="roundRect">
            <a:avLst>
              <a:gd name="adj" fmla="val 9095"/>
            </a:avLst>
          </a:prstGeom>
          <a:solidFill>
            <a:srgbClr val="123B2E"/>
          </a:solidFill>
          <a:ln w="12700">
            <a:solidFill>
              <a:srgbClr val="34D399"/>
            </a:solidFill>
            <a:prstDash val="solid"/>
          </a:ln>
        </p:spPr>
        <p:txBody>
          <a:bodyPr/>
          <a:lstStyle/>
          <a:p>
            <a:endParaRPr lang="en-IN"/>
          </a:p>
        </p:txBody>
      </p:sp>
      <p:sp>
        <p:nvSpPr>
          <p:cNvPr id="21" name="Text 19"/>
          <p:cNvSpPr/>
          <p:nvPr/>
        </p:nvSpPr>
        <p:spPr>
          <a:xfrm>
            <a:off x="2586866" y="3176290"/>
            <a:ext cx="2567816" cy="302220"/>
          </a:xfrm>
          <a:prstGeom prst="rect">
            <a:avLst/>
          </a:prstGeom>
          <a:noFill/>
          <a:ln/>
        </p:spPr>
        <p:txBody>
          <a:bodyPr wrap="none" lIns="0" tIns="0" rIns="0" bIns="0" rtlCol="0" anchor="t"/>
          <a:lstStyle/>
          <a:p>
            <a:pPr marL="0" indent="0" algn="ctr">
              <a:lnSpc>
                <a:spcPct val="117000"/>
              </a:lnSpc>
              <a:buNone/>
            </a:pPr>
            <a:r>
              <a:rPr lang="en-US" sz="1700" b="1" kern="100" spc="-28" dirty="0">
                <a:solidFill>
                  <a:srgbClr val="F1F5F9"/>
                </a:solidFill>
                <a:latin typeface="Inter Bold" pitchFamily="34" charset="0"/>
                <a:ea typeface="Inter Bold" pitchFamily="34" charset="-122"/>
                <a:cs typeface="Inter Bold" pitchFamily="34" charset="-120"/>
              </a:rPr>
              <a:t>Larger model</a:t>
            </a:r>
            <a:endParaRPr lang="en-US" sz="1700" dirty="0"/>
          </a:p>
        </p:txBody>
      </p:sp>
      <p:sp>
        <p:nvSpPr>
          <p:cNvPr id="22" name="Shape 20"/>
          <p:cNvSpPr/>
          <p:nvPr/>
        </p:nvSpPr>
        <p:spPr>
          <a:xfrm>
            <a:off x="5059534" y="2844800"/>
            <a:ext cx="2072529" cy="965200"/>
          </a:xfrm>
          <a:prstGeom prst="roundRect">
            <a:avLst>
              <a:gd name="adj" fmla="val 9095"/>
            </a:avLst>
          </a:prstGeom>
          <a:solidFill>
            <a:srgbClr val="123B2E"/>
          </a:solidFill>
          <a:ln w="12700">
            <a:solidFill>
              <a:srgbClr val="34D399"/>
            </a:solidFill>
            <a:prstDash val="solid"/>
          </a:ln>
        </p:spPr>
        <p:txBody>
          <a:bodyPr/>
          <a:lstStyle/>
          <a:p>
            <a:endParaRPr lang="en-IN"/>
          </a:p>
        </p:txBody>
      </p:sp>
      <p:sp>
        <p:nvSpPr>
          <p:cNvPr id="23" name="Text 21"/>
          <p:cNvSpPr/>
          <p:nvPr/>
        </p:nvSpPr>
        <p:spPr>
          <a:xfrm>
            <a:off x="4811890" y="3176290"/>
            <a:ext cx="2567816" cy="302220"/>
          </a:xfrm>
          <a:prstGeom prst="rect">
            <a:avLst/>
          </a:prstGeom>
          <a:noFill/>
          <a:ln/>
        </p:spPr>
        <p:txBody>
          <a:bodyPr wrap="none" lIns="0" tIns="0" rIns="0" bIns="0" rtlCol="0" anchor="t"/>
          <a:lstStyle/>
          <a:p>
            <a:pPr marL="0" indent="0" algn="ctr">
              <a:lnSpc>
                <a:spcPct val="117000"/>
              </a:lnSpc>
              <a:buNone/>
            </a:pPr>
            <a:r>
              <a:rPr lang="en-US" sz="1700" b="1" kern="100" spc="-28" dirty="0">
                <a:solidFill>
                  <a:srgbClr val="F1F5F9"/>
                </a:solidFill>
                <a:latin typeface="Inter Bold" pitchFamily="34" charset="0"/>
                <a:ea typeface="Inter Bold" pitchFamily="34" charset="-122"/>
                <a:cs typeface="Inter Bold" pitchFamily="34" charset="-120"/>
              </a:rPr>
              <a:t>Faster training</a:t>
            </a:r>
            <a:endParaRPr lang="en-US" sz="1700" dirty="0"/>
          </a:p>
        </p:txBody>
      </p:sp>
      <p:sp>
        <p:nvSpPr>
          <p:cNvPr id="24" name="Shape 22"/>
          <p:cNvSpPr/>
          <p:nvPr/>
        </p:nvSpPr>
        <p:spPr>
          <a:xfrm>
            <a:off x="7284458" y="2844800"/>
            <a:ext cx="2072529" cy="965200"/>
          </a:xfrm>
          <a:prstGeom prst="roundRect">
            <a:avLst>
              <a:gd name="adj" fmla="val 9095"/>
            </a:avLst>
          </a:prstGeom>
          <a:solidFill>
            <a:srgbClr val="123B2E"/>
          </a:solidFill>
          <a:ln w="12700">
            <a:solidFill>
              <a:srgbClr val="34D399"/>
            </a:solidFill>
            <a:prstDash val="solid"/>
          </a:ln>
        </p:spPr>
        <p:txBody>
          <a:bodyPr/>
          <a:lstStyle/>
          <a:p>
            <a:endParaRPr lang="en-IN"/>
          </a:p>
        </p:txBody>
      </p:sp>
      <p:sp>
        <p:nvSpPr>
          <p:cNvPr id="25" name="Text 23"/>
          <p:cNvSpPr/>
          <p:nvPr/>
        </p:nvSpPr>
        <p:spPr>
          <a:xfrm>
            <a:off x="7036815" y="3176290"/>
            <a:ext cx="2567816" cy="302220"/>
          </a:xfrm>
          <a:prstGeom prst="rect">
            <a:avLst/>
          </a:prstGeom>
          <a:noFill/>
          <a:ln/>
        </p:spPr>
        <p:txBody>
          <a:bodyPr wrap="none" lIns="0" tIns="0" rIns="0" bIns="0" rtlCol="0" anchor="t"/>
          <a:lstStyle/>
          <a:p>
            <a:pPr marL="0" indent="0" algn="ctr">
              <a:lnSpc>
                <a:spcPct val="117000"/>
              </a:lnSpc>
              <a:buNone/>
            </a:pPr>
            <a:r>
              <a:rPr lang="en-US" sz="1700" b="1" kern="100" spc="-28" dirty="0">
                <a:solidFill>
                  <a:srgbClr val="F1F5F9"/>
                </a:solidFill>
                <a:latin typeface="Inter Bold" pitchFamily="34" charset="0"/>
                <a:ea typeface="Inter Bold" pitchFamily="34" charset="-122"/>
                <a:cs typeface="Inter Bold" pitchFamily="34" charset="-120"/>
              </a:rPr>
              <a:t>Better evaluation</a:t>
            </a:r>
            <a:endParaRPr lang="en-US" sz="1700" dirty="0"/>
          </a:p>
        </p:txBody>
      </p:sp>
      <p:sp>
        <p:nvSpPr>
          <p:cNvPr id="26" name="Shape 24"/>
          <p:cNvSpPr/>
          <p:nvPr/>
        </p:nvSpPr>
        <p:spPr>
          <a:xfrm>
            <a:off x="9509482" y="2844800"/>
            <a:ext cx="2072529" cy="965200"/>
          </a:xfrm>
          <a:prstGeom prst="roundRect">
            <a:avLst>
              <a:gd name="adj" fmla="val 9095"/>
            </a:avLst>
          </a:prstGeom>
          <a:solidFill>
            <a:srgbClr val="123B2E"/>
          </a:solidFill>
          <a:ln w="12700">
            <a:solidFill>
              <a:srgbClr val="34D399"/>
            </a:solidFill>
            <a:prstDash val="solid"/>
          </a:ln>
        </p:spPr>
        <p:txBody>
          <a:bodyPr/>
          <a:lstStyle/>
          <a:p>
            <a:endParaRPr lang="en-IN"/>
          </a:p>
        </p:txBody>
      </p:sp>
      <p:sp>
        <p:nvSpPr>
          <p:cNvPr id="27" name="Text 25"/>
          <p:cNvSpPr/>
          <p:nvPr/>
        </p:nvSpPr>
        <p:spPr>
          <a:xfrm>
            <a:off x="9566631" y="2874070"/>
            <a:ext cx="1958231" cy="906661"/>
          </a:xfrm>
          <a:prstGeom prst="rect">
            <a:avLst/>
          </a:prstGeom>
          <a:noFill/>
          <a:ln/>
        </p:spPr>
        <p:txBody>
          <a:bodyPr wrap="square" lIns="0" tIns="0" rIns="0" bIns="0" rtlCol="0" anchor="t">
            <a:normAutofit/>
          </a:bodyPr>
          <a:lstStyle/>
          <a:p>
            <a:pPr marL="0" indent="0" algn="ctr">
              <a:lnSpc>
                <a:spcPct val="117000"/>
              </a:lnSpc>
              <a:buNone/>
            </a:pPr>
            <a:r>
              <a:rPr lang="en-US" sz="1700" b="1" kern="100" spc="-28" dirty="0">
                <a:solidFill>
                  <a:srgbClr val="F1F5F9"/>
                </a:solidFill>
                <a:latin typeface="Inter Bold" pitchFamily="34" charset="0"/>
                <a:ea typeface="Inter Bold" pitchFamily="34" charset="-122"/>
                <a:cs typeface="Inter Bold" pitchFamily="34" charset="-120"/>
              </a:rPr>
              <a:t>Speaker + environmental noise together</a:t>
            </a:r>
            <a:endParaRPr lang="en-US" sz="1700" dirty="0"/>
          </a:p>
        </p:txBody>
      </p:sp>
      <p:sp>
        <p:nvSpPr>
          <p:cNvPr id="28" name="Shape 26"/>
          <p:cNvSpPr/>
          <p:nvPr/>
        </p:nvSpPr>
        <p:spPr>
          <a:xfrm>
            <a:off x="609585" y="4089400"/>
            <a:ext cx="5364326" cy="1981200"/>
          </a:xfrm>
          <a:prstGeom prst="roundRect">
            <a:avLst>
              <a:gd name="adj" fmla="val 4431"/>
            </a:avLst>
          </a:prstGeom>
          <a:solidFill>
            <a:srgbClr val="15233B"/>
          </a:solidFill>
          <a:ln w="12700">
            <a:solidFill>
              <a:srgbClr val="34D399"/>
            </a:solidFill>
            <a:prstDash val="solid"/>
          </a:ln>
        </p:spPr>
        <p:txBody>
          <a:bodyPr/>
          <a:lstStyle/>
          <a:p>
            <a:endParaRPr lang="en-IN"/>
          </a:p>
        </p:txBody>
      </p:sp>
      <p:sp>
        <p:nvSpPr>
          <p:cNvPr id="29" name="Text 27"/>
          <p:cNvSpPr/>
          <p:nvPr/>
        </p:nvSpPr>
        <p:spPr>
          <a:xfrm>
            <a:off x="361941" y="4467225"/>
            <a:ext cx="5859614" cy="711200"/>
          </a:xfrm>
          <a:prstGeom prst="rect">
            <a:avLst/>
          </a:prstGeom>
          <a:noFill/>
          <a:ln/>
        </p:spPr>
        <p:txBody>
          <a:bodyPr wrap="none" lIns="0" tIns="0" rIns="0" bIns="0" rtlCol="0" anchor="t"/>
          <a:lstStyle/>
          <a:p>
            <a:pPr marL="0" indent="0" algn="ctr">
              <a:lnSpc>
                <a:spcPct val="117000"/>
              </a:lnSpc>
              <a:buNone/>
            </a:pPr>
            <a:r>
              <a:rPr lang="en-US" sz="4000" b="1" kern="100" spc="-28" dirty="0">
                <a:solidFill>
                  <a:srgbClr val="34D399"/>
                </a:solidFill>
                <a:latin typeface="Inter Bold" pitchFamily="34" charset="0"/>
                <a:ea typeface="Inter Bold" pitchFamily="34" charset="-122"/>
                <a:cs typeface="Inter Bold" pitchFamily="34" charset="-120"/>
              </a:rPr>
              <a:t>2,700 → 14,269</a:t>
            </a:r>
            <a:endParaRPr lang="en-US" sz="4000" dirty="0"/>
          </a:p>
        </p:txBody>
      </p:sp>
      <p:sp>
        <p:nvSpPr>
          <p:cNvPr id="30" name="Text 28"/>
          <p:cNvSpPr/>
          <p:nvPr/>
        </p:nvSpPr>
        <p:spPr>
          <a:xfrm>
            <a:off x="361941" y="5337175"/>
            <a:ext cx="5859614" cy="355600"/>
          </a:xfrm>
          <a:prstGeom prst="rect">
            <a:avLst/>
          </a:prstGeom>
          <a:noFill/>
          <a:ln/>
        </p:spPr>
        <p:txBody>
          <a:bodyPr wrap="none" lIns="0" tIns="0" rIns="0" bIns="0" rtlCol="0" anchor="t"/>
          <a:lstStyle/>
          <a:p>
            <a:pPr marL="0" indent="0" algn="ctr">
              <a:lnSpc>
                <a:spcPct val="117000"/>
              </a:lnSpc>
              <a:buNone/>
            </a:pPr>
            <a:r>
              <a:rPr lang="en-US" sz="2000" kern="100" spc="-28" dirty="0">
                <a:solidFill>
                  <a:srgbClr val="94A3B8"/>
                </a:solidFill>
                <a:latin typeface="Inter" pitchFamily="34" charset="0"/>
                <a:ea typeface="Inter" pitchFamily="34" charset="-122"/>
                <a:cs typeface="Inter" pitchFamily="34" charset="-120"/>
              </a:rPr>
              <a:t>training pairs</a:t>
            </a:r>
            <a:endParaRPr lang="en-US" sz="2000" dirty="0"/>
          </a:p>
        </p:txBody>
      </p:sp>
      <p:sp>
        <p:nvSpPr>
          <p:cNvPr id="31" name="Shape 29"/>
          <p:cNvSpPr/>
          <p:nvPr/>
        </p:nvSpPr>
        <p:spPr>
          <a:xfrm>
            <a:off x="6217685" y="4089400"/>
            <a:ext cx="5364326" cy="1981200"/>
          </a:xfrm>
          <a:prstGeom prst="roundRect">
            <a:avLst>
              <a:gd name="adj" fmla="val 4431"/>
            </a:avLst>
          </a:prstGeom>
          <a:solidFill>
            <a:srgbClr val="15233B"/>
          </a:solidFill>
          <a:ln w="12700">
            <a:solidFill>
              <a:srgbClr val="34D399"/>
            </a:solidFill>
            <a:prstDash val="solid"/>
          </a:ln>
        </p:spPr>
        <p:txBody>
          <a:bodyPr/>
          <a:lstStyle/>
          <a:p>
            <a:endParaRPr lang="en-IN"/>
          </a:p>
        </p:txBody>
      </p:sp>
      <p:sp>
        <p:nvSpPr>
          <p:cNvPr id="32" name="Text 30"/>
          <p:cNvSpPr/>
          <p:nvPr/>
        </p:nvSpPr>
        <p:spPr>
          <a:xfrm>
            <a:off x="5970041" y="4467225"/>
            <a:ext cx="5859614" cy="711200"/>
          </a:xfrm>
          <a:prstGeom prst="rect">
            <a:avLst/>
          </a:prstGeom>
          <a:noFill/>
          <a:ln/>
        </p:spPr>
        <p:txBody>
          <a:bodyPr wrap="none" lIns="0" tIns="0" rIns="0" bIns="0" rtlCol="0" anchor="t"/>
          <a:lstStyle/>
          <a:p>
            <a:pPr marL="0" indent="0" algn="ctr">
              <a:lnSpc>
                <a:spcPct val="117000"/>
              </a:lnSpc>
              <a:buNone/>
            </a:pPr>
            <a:r>
              <a:rPr lang="en-US" sz="4000" b="1" kern="100" spc="-28" dirty="0">
                <a:solidFill>
                  <a:srgbClr val="34D399"/>
                </a:solidFill>
                <a:latin typeface="Inter Bold" pitchFamily="34" charset="0"/>
                <a:ea typeface="Inter Bold" pitchFamily="34" charset="-122"/>
                <a:cs typeface="Inter Bold" pitchFamily="34" charset="-120"/>
              </a:rPr>
              <a:t>1.4M → 3.4M</a:t>
            </a:r>
            <a:endParaRPr lang="en-US" sz="4000" dirty="0"/>
          </a:p>
        </p:txBody>
      </p:sp>
      <p:sp>
        <p:nvSpPr>
          <p:cNvPr id="33" name="Text 31"/>
          <p:cNvSpPr/>
          <p:nvPr/>
        </p:nvSpPr>
        <p:spPr>
          <a:xfrm>
            <a:off x="5970041" y="5337175"/>
            <a:ext cx="5859614" cy="355600"/>
          </a:xfrm>
          <a:prstGeom prst="rect">
            <a:avLst/>
          </a:prstGeom>
          <a:noFill/>
          <a:ln/>
        </p:spPr>
        <p:txBody>
          <a:bodyPr wrap="none" lIns="0" tIns="0" rIns="0" bIns="0" rtlCol="0" anchor="t"/>
          <a:lstStyle/>
          <a:p>
            <a:pPr marL="0" indent="0" algn="ctr">
              <a:lnSpc>
                <a:spcPct val="117000"/>
              </a:lnSpc>
              <a:buNone/>
            </a:pPr>
            <a:r>
              <a:rPr lang="en-US" sz="2000" kern="100" spc="-28" dirty="0">
                <a:solidFill>
                  <a:srgbClr val="94A3B8"/>
                </a:solidFill>
                <a:latin typeface="Inter" pitchFamily="34" charset="0"/>
                <a:ea typeface="Inter" pitchFamily="34" charset="-122"/>
                <a:cs typeface="Inter" pitchFamily="34" charset="-120"/>
              </a:rPr>
              <a:t>parameters</a:t>
            </a:r>
            <a:endParaRPr lang="en-US" sz="2000" dirty="0"/>
          </a:p>
        </p:txBody>
      </p:sp>
      <p:sp>
        <p:nvSpPr>
          <p:cNvPr id="35" name="Text 33"/>
          <p:cNvSpPr/>
          <p:nvPr/>
        </p:nvSpPr>
        <p:spPr>
          <a:xfrm>
            <a:off x="11338237" y="6527155"/>
            <a:ext cx="679929" cy="174129"/>
          </a:xfrm>
          <a:prstGeom prst="rect">
            <a:avLst/>
          </a:prstGeom>
          <a:noFill/>
          <a:ln/>
        </p:spPr>
        <p:txBody>
          <a:bodyPr wrap="none" lIns="0" tIns="0" rIns="0" bIns="0" rtlCol="0" anchor="ctr"/>
          <a:lstStyle/>
          <a:p>
            <a:pPr marL="0" indent="0" algn="l">
              <a:lnSpc>
                <a:spcPct val="117000"/>
              </a:lnSpc>
              <a:buNone/>
            </a:pPr>
            <a:r>
              <a:rPr lang="en-US" sz="1000" kern="100" spc="-28" dirty="0">
                <a:solidFill>
                  <a:srgbClr val="94A3B8"/>
                </a:solidFill>
                <a:latin typeface="Inter" pitchFamily="34" charset="0"/>
                <a:ea typeface="Inter" pitchFamily="34" charset="-122"/>
                <a:cs typeface="Inter"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09585" y="390128"/>
            <a:ext cx="97530" cy="609600"/>
          </a:xfrm>
          <a:prstGeom prst="rect">
            <a:avLst/>
          </a:prstGeom>
          <a:solidFill>
            <a:srgbClr val="22D3EE"/>
          </a:solidFill>
          <a:ln w="12700">
            <a:solidFill>
              <a:srgbClr val="22D3EE"/>
            </a:solidFill>
            <a:prstDash val="solid"/>
          </a:ln>
        </p:spPr>
        <p:txBody>
          <a:bodyPr/>
          <a:lstStyle/>
          <a:p>
            <a:endParaRPr lang="en-IN"/>
          </a:p>
        </p:txBody>
      </p:sp>
      <p:sp>
        <p:nvSpPr>
          <p:cNvPr id="3" name="Text 1"/>
          <p:cNvSpPr/>
          <p:nvPr/>
        </p:nvSpPr>
        <p:spPr>
          <a:xfrm>
            <a:off x="877766" y="318790"/>
            <a:ext cx="10728652" cy="705048"/>
          </a:xfrm>
          <a:prstGeom prst="rect">
            <a:avLst/>
          </a:prstGeom>
          <a:noFill/>
          <a:ln/>
        </p:spPr>
        <p:txBody>
          <a:bodyPr wrap="none" lIns="0" tIns="110170" rIns="0" bIns="110170" rtlCol="0" anchor="t"/>
          <a:lstStyle/>
          <a:p>
            <a:pPr marL="0" indent="0" algn="l">
              <a:lnSpc>
                <a:spcPct val="92000"/>
              </a:lnSpc>
              <a:buNone/>
            </a:pPr>
            <a:r>
              <a:rPr lang="en-US" sz="3450" b="1" kern="100" spc="-69" dirty="0">
                <a:solidFill>
                  <a:srgbClr val="F1F5F9"/>
                </a:solidFill>
                <a:latin typeface="Petrona Bold" pitchFamily="34" charset="0"/>
                <a:ea typeface="Petrona Bold" pitchFamily="34" charset="-122"/>
                <a:cs typeface="Petrona Bold" pitchFamily="34" charset="-120"/>
              </a:rPr>
              <a:t>Proposed Methodology</a:t>
            </a:r>
            <a:endParaRPr lang="en-US" sz="3450" dirty="0"/>
          </a:p>
        </p:txBody>
      </p:sp>
      <p:sp>
        <p:nvSpPr>
          <p:cNvPr id="5" name="Text 3"/>
          <p:cNvSpPr/>
          <p:nvPr/>
        </p:nvSpPr>
        <p:spPr>
          <a:xfrm>
            <a:off x="666733" y="1117600"/>
            <a:ext cx="5575161" cy="266700"/>
          </a:xfrm>
          <a:prstGeom prst="rect">
            <a:avLst/>
          </a:prstGeom>
          <a:noFill/>
          <a:ln/>
        </p:spPr>
        <p:txBody>
          <a:bodyPr wrap="none" lIns="0" tIns="0" rIns="0" bIns="0" rtlCol="0" anchor="t"/>
          <a:lstStyle/>
          <a:p>
            <a:pPr marL="0" indent="0" algn="l">
              <a:lnSpc>
                <a:spcPct val="117000"/>
              </a:lnSpc>
              <a:buNone/>
            </a:pPr>
            <a:r>
              <a:rPr lang="en-US" sz="1500" b="1" kern="100" spc="-28" dirty="0">
                <a:solidFill>
                  <a:srgbClr val="94A3B8"/>
                </a:solidFill>
                <a:latin typeface="Inter Bold" pitchFamily="34" charset="0"/>
                <a:ea typeface="Inter Bold" pitchFamily="34" charset="-122"/>
                <a:cs typeface="Inter Bold" pitchFamily="34" charset="-120"/>
              </a:rPr>
              <a:t>DATA PREPARATION</a:t>
            </a:r>
            <a:endParaRPr lang="en-US" sz="1500" dirty="0"/>
          </a:p>
        </p:txBody>
      </p:sp>
      <p:sp>
        <p:nvSpPr>
          <p:cNvPr id="6" name="Shape 4"/>
          <p:cNvSpPr/>
          <p:nvPr/>
        </p:nvSpPr>
        <p:spPr>
          <a:xfrm>
            <a:off x="609585" y="1422400"/>
            <a:ext cx="1587460" cy="736600"/>
          </a:xfrm>
          <a:prstGeom prst="roundRect">
            <a:avLst>
              <a:gd name="adj" fmla="val 11917"/>
            </a:avLst>
          </a:prstGeom>
          <a:solidFill>
            <a:srgbClr val="15233B"/>
          </a:solidFill>
          <a:ln w="12700">
            <a:solidFill>
              <a:srgbClr val="94A3B8"/>
            </a:solidFill>
            <a:prstDash val="solid"/>
          </a:ln>
        </p:spPr>
        <p:txBody>
          <a:bodyPr/>
          <a:lstStyle/>
          <a:p>
            <a:endParaRPr lang="en-IN"/>
          </a:p>
        </p:txBody>
      </p:sp>
      <p:sp>
        <p:nvSpPr>
          <p:cNvPr id="7" name="Text 5"/>
          <p:cNvSpPr/>
          <p:nvPr/>
        </p:nvSpPr>
        <p:spPr>
          <a:xfrm>
            <a:off x="355591" y="1657350"/>
            <a:ext cx="2095448" cy="266700"/>
          </a:xfrm>
          <a:prstGeom prst="rect">
            <a:avLst/>
          </a:prstGeom>
          <a:noFill/>
          <a:ln/>
        </p:spPr>
        <p:txBody>
          <a:bodyPr wrap="none" lIns="0" tIns="0" rIns="0" bIns="0" rtlCol="0" anchor="t"/>
          <a:lstStyle/>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LibriSpeech</a:t>
            </a:r>
            <a:endParaRPr lang="en-US" sz="1500" dirty="0"/>
          </a:p>
        </p:txBody>
      </p:sp>
      <p:sp>
        <p:nvSpPr>
          <p:cNvPr id="8" name="Shape 6"/>
          <p:cNvSpPr/>
          <p:nvPr/>
        </p:nvSpPr>
        <p:spPr>
          <a:xfrm>
            <a:off x="2197045" y="1778000"/>
            <a:ext cx="187916" cy="25400"/>
          </a:xfrm>
          <a:prstGeom prst="roundRect">
            <a:avLst>
              <a:gd name="adj" fmla="val 49999"/>
            </a:avLst>
          </a:prstGeom>
          <a:solidFill>
            <a:srgbClr val="94A3B8"/>
          </a:solidFill>
          <a:ln/>
        </p:spPr>
        <p:txBody>
          <a:bodyPr/>
          <a:lstStyle/>
          <a:p>
            <a:endParaRPr lang="en-IN"/>
          </a:p>
        </p:txBody>
      </p:sp>
      <p:sp>
        <p:nvSpPr>
          <p:cNvPr id="9" name="Shape 7"/>
          <p:cNvSpPr/>
          <p:nvPr/>
        </p:nvSpPr>
        <p:spPr>
          <a:xfrm>
            <a:off x="2384961" y="17399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10" name="Shape 8"/>
          <p:cNvSpPr/>
          <p:nvPr/>
        </p:nvSpPr>
        <p:spPr>
          <a:xfrm>
            <a:off x="2486558" y="1422400"/>
            <a:ext cx="1587460" cy="736600"/>
          </a:xfrm>
          <a:prstGeom prst="roundRect">
            <a:avLst>
              <a:gd name="adj" fmla="val 11917"/>
            </a:avLst>
          </a:prstGeom>
          <a:solidFill>
            <a:srgbClr val="15233B"/>
          </a:solidFill>
          <a:ln w="12700">
            <a:solidFill>
              <a:srgbClr val="94A3B8"/>
            </a:solidFill>
            <a:prstDash val="solid"/>
          </a:ln>
        </p:spPr>
        <p:txBody>
          <a:bodyPr/>
          <a:lstStyle/>
          <a:p>
            <a:endParaRPr lang="en-IN"/>
          </a:p>
        </p:txBody>
      </p:sp>
      <p:sp>
        <p:nvSpPr>
          <p:cNvPr id="11" name="Text 9"/>
          <p:cNvSpPr/>
          <p:nvPr/>
        </p:nvSpPr>
        <p:spPr>
          <a:xfrm>
            <a:off x="2537357" y="1524000"/>
            <a:ext cx="1485863" cy="533400"/>
          </a:xfrm>
          <a:prstGeom prst="rect">
            <a:avLst/>
          </a:prstGeom>
          <a:noFill/>
          <a:ln/>
        </p:spPr>
        <p:txBody>
          <a:bodyPr wrap="square" lIns="0" tIns="0" rIns="0" bIns="0" rtlCol="0" anchor="t">
            <a:normAutofit/>
          </a:bodyPr>
          <a:lstStyle/>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Speaker A</a:t>
            </a:r>
            <a:endParaRPr lang="en-US" sz="1500" dirty="0"/>
          </a:p>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 Speaker B</a:t>
            </a:r>
            <a:endParaRPr lang="en-US" sz="1500" dirty="0"/>
          </a:p>
        </p:txBody>
      </p:sp>
      <p:sp>
        <p:nvSpPr>
          <p:cNvPr id="12" name="Shape 10"/>
          <p:cNvSpPr/>
          <p:nvPr/>
        </p:nvSpPr>
        <p:spPr>
          <a:xfrm>
            <a:off x="4074018" y="1778000"/>
            <a:ext cx="187916" cy="25400"/>
          </a:xfrm>
          <a:prstGeom prst="roundRect">
            <a:avLst>
              <a:gd name="adj" fmla="val 49999"/>
            </a:avLst>
          </a:prstGeom>
          <a:solidFill>
            <a:srgbClr val="94A3B8"/>
          </a:solidFill>
          <a:ln/>
        </p:spPr>
        <p:txBody>
          <a:bodyPr/>
          <a:lstStyle/>
          <a:p>
            <a:endParaRPr lang="en-IN"/>
          </a:p>
        </p:txBody>
      </p:sp>
      <p:sp>
        <p:nvSpPr>
          <p:cNvPr id="13" name="Shape 11"/>
          <p:cNvSpPr/>
          <p:nvPr/>
        </p:nvSpPr>
        <p:spPr>
          <a:xfrm>
            <a:off x="4261934" y="17399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14" name="Shape 12"/>
          <p:cNvSpPr/>
          <p:nvPr/>
        </p:nvSpPr>
        <p:spPr>
          <a:xfrm>
            <a:off x="4363531" y="1422400"/>
            <a:ext cx="1587460" cy="736600"/>
          </a:xfrm>
          <a:prstGeom prst="roundRect">
            <a:avLst>
              <a:gd name="adj" fmla="val 11917"/>
            </a:avLst>
          </a:prstGeom>
          <a:solidFill>
            <a:srgbClr val="15233B"/>
          </a:solidFill>
          <a:ln w="12700">
            <a:solidFill>
              <a:srgbClr val="94A3B8"/>
            </a:solidFill>
            <a:prstDash val="solid"/>
          </a:ln>
        </p:spPr>
        <p:txBody>
          <a:bodyPr/>
          <a:lstStyle/>
          <a:p>
            <a:endParaRPr lang="en-IN"/>
          </a:p>
        </p:txBody>
      </p:sp>
      <p:sp>
        <p:nvSpPr>
          <p:cNvPr id="15" name="Text 13"/>
          <p:cNvSpPr/>
          <p:nvPr/>
        </p:nvSpPr>
        <p:spPr>
          <a:xfrm>
            <a:off x="4414330" y="1524000"/>
            <a:ext cx="1485863" cy="533400"/>
          </a:xfrm>
          <a:prstGeom prst="rect">
            <a:avLst/>
          </a:prstGeom>
          <a:noFill/>
          <a:ln/>
        </p:spPr>
        <p:txBody>
          <a:bodyPr wrap="square" lIns="0" tIns="0" rIns="0" bIns="0" rtlCol="0" anchor="t">
            <a:normAutofit/>
          </a:bodyPr>
          <a:lstStyle/>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16 kHz</a:t>
            </a:r>
            <a:endParaRPr lang="en-US" sz="1500" dirty="0"/>
          </a:p>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 8 kHz</a:t>
            </a:r>
            <a:endParaRPr lang="en-US" sz="1500" dirty="0"/>
          </a:p>
        </p:txBody>
      </p:sp>
      <p:sp>
        <p:nvSpPr>
          <p:cNvPr id="16" name="Shape 14"/>
          <p:cNvSpPr/>
          <p:nvPr/>
        </p:nvSpPr>
        <p:spPr>
          <a:xfrm>
            <a:off x="5950992" y="1778000"/>
            <a:ext cx="187916" cy="25400"/>
          </a:xfrm>
          <a:prstGeom prst="roundRect">
            <a:avLst>
              <a:gd name="adj" fmla="val 49999"/>
            </a:avLst>
          </a:prstGeom>
          <a:solidFill>
            <a:srgbClr val="94A3B8"/>
          </a:solidFill>
          <a:ln/>
        </p:spPr>
        <p:txBody>
          <a:bodyPr/>
          <a:lstStyle/>
          <a:p>
            <a:endParaRPr lang="en-IN"/>
          </a:p>
        </p:txBody>
      </p:sp>
      <p:sp>
        <p:nvSpPr>
          <p:cNvPr id="17" name="Shape 15"/>
          <p:cNvSpPr/>
          <p:nvPr/>
        </p:nvSpPr>
        <p:spPr>
          <a:xfrm>
            <a:off x="6139007" y="17399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18" name="Shape 16"/>
          <p:cNvSpPr/>
          <p:nvPr/>
        </p:nvSpPr>
        <p:spPr>
          <a:xfrm>
            <a:off x="6240604" y="1422400"/>
            <a:ext cx="1587460" cy="736600"/>
          </a:xfrm>
          <a:prstGeom prst="roundRect">
            <a:avLst>
              <a:gd name="adj" fmla="val 11917"/>
            </a:avLst>
          </a:prstGeom>
          <a:solidFill>
            <a:srgbClr val="15233B"/>
          </a:solidFill>
          <a:ln w="12700">
            <a:solidFill>
              <a:srgbClr val="94A3B8"/>
            </a:solidFill>
            <a:prstDash val="solid"/>
          </a:ln>
        </p:spPr>
        <p:txBody>
          <a:bodyPr/>
          <a:lstStyle/>
          <a:p>
            <a:endParaRPr lang="en-IN"/>
          </a:p>
        </p:txBody>
      </p:sp>
      <p:sp>
        <p:nvSpPr>
          <p:cNvPr id="19" name="Text 17"/>
          <p:cNvSpPr/>
          <p:nvPr/>
        </p:nvSpPr>
        <p:spPr>
          <a:xfrm>
            <a:off x="6291403" y="1524000"/>
            <a:ext cx="1485863" cy="533400"/>
          </a:xfrm>
          <a:prstGeom prst="rect">
            <a:avLst/>
          </a:prstGeom>
          <a:noFill/>
          <a:ln/>
        </p:spPr>
        <p:txBody>
          <a:bodyPr wrap="square" lIns="0" tIns="0" rIns="0" bIns="0" rtlCol="0" anchor="t">
            <a:normAutofit/>
          </a:bodyPr>
          <a:lstStyle/>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Random SNR</a:t>
            </a:r>
            <a:endParaRPr lang="en-US" sz="1500" dirty="0"/>
          </a:p>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−5 to +5 dB</a:t>
            </a:r>
            <a:endParaRPr lang="en-US" sz="1500" dirty="0"/>
          </a:p>
        </p:txBody>
      </p:sp>
      <p:sp>
        <p:nvSpPr>
          <p:cNvPr id="20" name="Shape 18"/>
          <p:cNvSpPr/>
          <p:nvPr/>
        </p:nvSpPr>
        <p:spPr>
          <a:xfrm>
            <a:off x="7828064" y="1778000"/>
            <a:ext cx="187916" cy="25400"/>
          </a:xfrm>
          <a:prstGeom prst="roundRect">
            <a:avLst>
              <a:gd name="adj" fmla="val 49999"/>
            </a:avLst>
          </a:prstGeom>
          <a:solidFill>
            <a:srgbClr val="94A3B8"/>
          </a:solidFill>
          <a:ln/>
        </p:spPr>
        <p:txBody>
          <a:bodyPr/>
          <a:lstStyle/>
          <a:p>
            <a:endParaRPr lang="en-IN"/>
          </a:p>
        </p:txBody>
      </p:sp>
      <p:sp>
        <p:nvSpPr>
          <p:cNvPr id="21" name="Shape 19"/>
          <p:cNvSpPr/>
          <p:nvPr/>
        </p:nvSpPr>
        <p:spPr>
          <a:xfrm>
            <a:off x="8015980" y="17399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22" name="Shape 20"/>
          <p:cNvSpPr/>
          <p:nvPr/>
        </p:nvSpPr>
        <p:spPr>
          <a:xfrm>
            <a:off x="8117577" y="1422400"/>
            <a:ext cx="1587460" cy="736600"/>
          </a:xfrm>
          <a:prstGeom prst="roundRect">
            <a:avLst>
              <a:gd name="adj" fmla="val 11917"/>
            </a:avLst>
          </a:prstGeom>
          <a:solidFill>
            <a:srgbClr val="15233B"/>
          </a:solidFill>
          <a:ln w="12700">
            <a:solidFill>
              <a:srgbClr val="94A3B8"/>
            </a:solidFill>
            <a:prstDash val="solid"/>
          </a:ln>
        </p:spPr>
        <p:txBody>
          <a:bodyPr/>
          <a:lstStyle/>
          <a:p>
            <a:endParaRPr lang="en-IN"/>
          </a:p>
        </p:txBody>
      </p:sp>
      <p:sp>
        <p:nvSpPr>
          <p:cNvPr id="23" name="Text 21"/>
          <p:cNvSpPr/>
          <p:nvPr/>
        </p:nvSpPr>
        <p:spPr>
          <a:xfrm>
            <a:off x="8168376" y="1524000"/>
            <a:ext cx="1485863" cy="533400"/>
          </a:xfrm>
          <a:prstGeom prst="rect">
            <a:avLst/>
          </a:prstGeom>
          <a:noFill/>
          <a:ln/>
        </p:spPr>
        <p:txBody>
          <a:bodyPr wrap="square" lIns="0" tIns="0" rIns="0" bIns="0" rtlCol="0" anchor="t">
            <a:normAutofit/>
          </a:bodyPr>
          <a:lstStyle/>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Mix</a:t>
            </a:r>
            <a:endParaRPr lang="en-US" sz="1500" dirty="0"/>
          </a:p>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A + B</a:t>
            </a:r>
            <a:endParaRPr lang="en-US" sz="1500" dirty="0"/>
          </a:p>
        </p:txBody>
      </p:sp>
      <p:sp>
        <p:nvSpPr>
          <p:cNvPr id="24" name="Shape 22"/>
          <p:cNvSpPr/>
          <p:nvPr/>
        </p:nvSpPr>
        <p:spPr>
          <a:xfrm>
            <a:off x="9705038" y="1778000"/>
            <a:ext cx="187916" cy="25400"/>
          </a:xfrm>
          <a:prstGeom prst="roundRect">
            <a:avLst>
              <a:gd name="adj" fmla="val 49999"/>
            </a:avLst>
          </a:prstGeom>
          <a:solidFill>
            <a:srgbClr val="94A3B8"/>
          </a:solidFill>
          <a:ln/>
        </p:spPr>
        <p:txBody>
          <a:bodyPr/>
          <a:lstStyle/>
          <a:p>
            <a:endParaRPr lang="en-IN"/>
          </a:p>
        </p:txBody>
      </p:sp>
      <p:sp>
        <p:nvSpPr>
          <p:cNvPr id="25" name="Shape 23"/>
          <p:cNvSpPr/>
          <p:nvPr/>
        </p:nvSpPr>
        <p:spPr>
          <a:xfrm>
            <a:off x="9893053" y="17399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26" name="Shape 24"/>
          <p:cNvSpPr/>
          <p:nvPr/>
        </p:nvSpPr>
        <p:spPr>
          <a:xfrm>
            <a:off x="9994650" y="1422400"/>
            <a:ext cx="1587460" cy="736600"/>
          </a:xfrm>
          <a:prstGeom prst="roundRect">
            <a:avLst>
              <a:gd name="adj" fmla="val 11917"/>
            </a:avLst>
          </a:prstGeom>
          <a:solidFill>
            <a:srgbClr val="15233B"/>
          </a:solidFill>
          <a:ln w="12700">
            <a:solidFill>
              <a:srgbClr val="94A3B8"/>
            </a:solidFill>
            <a:prstDash val="solid"/>
          </a:ln>
        </p:spPr>
        <p:txBody>
          <a:bodyPr/>
          <a:lstStyle/>
          <a:p>
            <a:endParaRPr lang="en-IN"/>
          </a:p>
        </p:txBody>
      </p:sp>
      <p:sp>
        <p:nvSpPr>
          <p:cNvPr id="27" name="Text 25"/>
          <p:cNvSpPr/>
          <p:nvPr/>
        </p:nvSpPr>
        <p:spPr>
          <a:xfrm>
            <a:off x="10045449" y="1524000"/>
            <a:ext cx="1485863" cy="533400"/>
          </a:xfrm>
          <a:prstGeom prst="rect">
            <a:avLst/>
          </a:prstGeom>
          <a:noFill/>
          <a:ln/>
        </p:spPr>
        <p:txBody>
          <a:bodyPr wrap="square" lIns="0" tIns="0" rIns="0" bIns="0" rtlCol="0" anchor="t">
            <a:normAutofit/>
          </a:bodyPr>
          <a:lstStyle/>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4-second</a:t>
            </a:r>
            <a:endParaRPr lang="en-US" sz="1500" dirty="0"/>
          </a:p>
          <a:p>
            <a:pPr marL="0" indent="0" algn="ctr">
              <a:lnSpc>
                <a:spcPct val="117000"/>
              </a:lnSpc>
              <a:buNone/>
            </a:pPr>
            <a:r>
              <a:rPr lang="en-US" sz="1500" b="1" kern="100" spc="-28" dirty="0">
                <a:solidFill>
                  <a:srgbClr val="F1F5F9"/>
                </a:solidFill>
                <a:latin typeface="Inter Bold" pitchFamily="34" charset="0"/>
                <a:ea typeface="Inter Bold" pitchFamily="34" charset="-122"/>
                <a:cs typeface="Inter Bold" pitchFamily="34" charset="-120"/>
              </a:rPr>
              <a:t>chunks</a:t>
            </a:r>
            <a:endParaRPr lang="en-US" sz="1500" dirty="0"/>
          </a:p>
        </p:txBody>
      </p:sp>
      <p:sp>
        <p:nvSpPr>
          <p:cNvPr id="28" name="Text 26"/>
          <p:cNvSpPr/>
          <p:nvPr/>
        </p:nvSpPr>
        <p:spPr>
          <a:xfrm>
            <a:off x="666733" y="2286000"/>
            <a:ext cx="5575161" cy="266700"/>
          </a:xfrm>
          <a:prstGeom prst="rect">
            <a:avLst/>
          </a:prstGeom>
          <a:noFill/>
          <a:ln/>
        </p:spPr>
        <p:txBody>
          <a:bodyPr wrap="none" lIns="0" tIns="0" rIns="0" bIns="0" rtlCol="0" anchor="t"/>
          <a:lstStyle/>
          <a:p>
            <a:pPr marL="0" indent="0" algn="l">
              <a:lnSpc>
                <a:spcPct val="117000"/>
              </a:lnSpc>
              <a:buNone/>
            </a:pPr>
            <a:r>
              <a:rPr lang="en-US" sz="1500" b="1" kern="100" spc="-28" dirty="0">
                <a:solidFill>
                  <a:srgbClr val="94A3B8"/>
                </a:solidFill>
                <a:latin typeface="Inter Bold" pitchFamily="34" charset="0"/>
                <a:ea typeface="Inter Bold" pitchFamily="34" charset="-122"/>
                <a:cs typeface="Inter Bold" pitchFamily="34" charset="-120"/>
              </a:rPr>
              <a:t>CONV-TASNET</a:t>
            </a:r>
            <a:endParaRPr lang="en-US" sz="1500" dirty="0"/>
          </a:p>
        </p:txBody>
      </p:sp>
      <p:sp>
        <p:nvSpPr>
          <p:cNvPr id="29" name="Shape 27"/>
          <p:cNvSpPr/>
          <p:nvPr/>
        </p:nvSpPr>
        <p:spPr>
          <a:xfrm>
            <a:off x="609585" y="2590800"/>
            <a:ext cx="1904952" cy="736600"/>
          </a:xfrm>
          <a:prstGeom prst="roundRect">
            <a:avLst>
              <a:gd name="adj" fmla="val 11917"/>
            </a:avLst>
          </a:prstGeom>
          <a:solidFill>
            <a:srgbClr val="0E4F5C"/>
          </a:solidFill>
          <a:ln w="12700">
            <a:solidFill>
              <a:srgbClr val="22D3EE"/>
            </a:solidFill>
            <a:prstDash val="solid"/>
          </a:ln>
        </p:spPr>
        <p:txBody>
          <a:bodyPr/>
          <a:lstStyle/>
          <a:p>
            <a:endParaRPr lang="en-IN"/>
          </a:p>
        </p:txBody>
      </p:sp>
      <p:sp>
        <p:nvSpPr>
          <p:cNvPr id="30" name="Text 28"/>
          <p:cNvSpPr/>
          <p:nvPr/>
        </p:nvSpPr>
        <p:spPr>
          <a:xfrm>
            <a:off x="355591" y="2816820"/>
            <a:ext cx="2412940" cy="284460"/>
          </a:xfrm>
          <a:prstGeom prst="rect">
            <a:avLst/>
          </a:prstGeom>
          <a:noFill/>
          <a:ln/>
        </p:spPr>
        <p:txBody>
          <a:bodyPr wrap="none" lIns="0" tIns="0" rIns="0" bIns="0" rtlCol="0" anchor="t"/>
          <a:lstStyle/>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Encoder</a:t>
            </a:r>
            <a:endParaRPr lang="en-US" sz="1600" dirty="0"/>
          </a:p>
        </p:txBody>
      </p:sp>
      <p:sp>
        <p:nvSpPr>
          <p:cNvPr id="31" name="Shape 29"/>
          <p:cNvSpPr/>
          <p:nvPr/>
        </p:nvSpPr>
        <p:spPr>
          <a:xfrm>
            <a:off x="2514537" y="2946400"/>
            <a:ext cx="253994" cy="25400"/>
          </a:xfrm>
          <a:prstGeom prst="roundRect">
            <a:avLst>
              <a:gd name="adj" fmla="val 49999"/>
            </a:avLst>
          </a:prstGeom>
          <a:solidFill>
            <a:srgbClr val="94A3B8"/>
          </a:solidFill>
          <a:ln/>
        </p:spPr>
        <p:txBody>
          <a:bodyPr/>
          <a:lstStyle/>
          <a:p>
            <a:endParaRPr lang="en-IN"/>
          </a:p>
        </p:txBody>
      </p:sp>
      <p:sp>
        <p:nvSpPr>
          <p:cNvPr id="32" name="Shape 30"/>
          <p:cNvSpPr/>
          <p:nvPr/>
        </p:nvSpPr>
        <p:spPr>
          <a:xfrm>
            <a:off x="2768531" y="29083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33" name="Shape 31"/>
          <p:cNvSpPr/>
          <p:nvPr/>
        </p:nvSpPr>
        <p:spPr>
          <a:xfrm>
            <a:off x="2870128" y="2590800"/>
            <a:ext cx="1904952" cy="736600"/>
          </a:xfrm>
          <a:prstGeom prst="roundRect">
            <a:avLst>
              <a:gd name="adj" fmla="val 11917"/>
            </a:avLst>
          </a:prstGeom>
          <a:solidFill>
            <a:srgbClr val="0E4F5C"/>
          </a:solidFill>
          <a:ln w="12700">
            <a:solidFill>
              <a:srgbClr val="22D3EE"/>
            </a:solidFill>
            <a:prstDash val="solid"/>
          </a:ln>
        </p:spPr>
        <p:txBody>
          <a:bodyPr/>
          <a:lstStyle/>
          <a:p>
            <a:endParaRPr lang="en-IN"/>
          </a:p>
        </p:txBody>
      </p:sp>
      <p:sp>
        <p:nvSpPr>
          <p:cNvPr id="34" name="Text 32"/>
          <p:cNvSpPr/>
          <p:nvPr/>
        </p:nvSpPr>
        <p:spPr>
          <a:xfrm>
            <a:off x="2920927" y="2674640"/>
            <a:ext cx="1803355" cy="568920"/>
          </a:xfrm>
          <a:prstGeom prst="rect">
            <a:avLst/>
          </a:prstGeom>
          <a:noFill/>
          <a:ln/>
        </p:spPr>
        <p:txBody>
          <a:bodyPr wrap="square" lIns="0" tIns="0" rIns="0" bIns="0" rtlCol="0" anchor="t">
            <a:normAutofit/>
          </a:bodyPr>
          <a:lstStyle/>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TCN</a:t>
            </a:r>
            <a:endParaRPr lang="en-US" sz="1600" dirty="0"/>
          </a:p>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Separator</a:t>
            </a:r>
            <a:endParaRPr lang="en-US" sz="1600" dirty="0"/>
          </a:p>
        </p:txBody>
      </p:sp>
      <p:sp>
        <p:nvSpPr>
          <p:cNvPr id="35" name="Shape 33"/>
          <p:cNvSpPr/>
          <p:nvPr/>
        </p:nvSpPr>
        <p:spPr>
          <a:xfrm>
            <a:off x="4775081" y="2946400"/>
            <a:ext cx="253994" cy="25400"/>
          </a:xfrm>
          <a:prstGeom prst="roundRect">
            <a:avLst>
              <a:gd name="adj" fmla="val 49999"/>
            </a:avLst>
          </a:prstGeom>
          <a:solidFill>
            <a:srgbClr val="94A3B8"/>
          </a:solidFill>
          <a:ln/>
        </p:spPr>
        <p:txBody>
          <a:bodyPr/>
          <a:lstStyle/>
          <a:p>
            <a:endParaRPr lang="en-IN"/>
          </a:p>
        </p:txBody>
      </p:sp>
      <p:sp>
        <p:nvSpPr>
          <p:cNvPr id="36" name="Shape 34"/>
          <p:cNvSpPr/>
          <p:nvPr/>
        </p:nvSpPr>
        <p:spPr>
          <a:xfrm>
            <a:off x="5029074" y="29083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37" name="Shape 35"/>
          <p:cNvSpPr/>
          <p:nvPr/>
        </p:nvSpPr>
        <p:spPr>
          <a:xfrm>
            <a:off x="5130672" y="2590800"/>
            <a:ext cx="1904952" cy="736600"/>
          </a:xfrm>
          <a:prstGeom prst="roundRect">
            <a:avLst>
              <a:gd name="adj" fmla="val 11917"/>
            </a:avLst>
          </a:prstGeom>
          <a:solidFill>
            <a:srgbClr val="15233B"/>
          </a:solidFill>
          <a:ln w="12700">
            <a:solidFill>
              <a:srgbClr val="22D3EE"/>
            </a:solidFill>
            <a:prstDash val="solid"/>
          </a:ln>
        </p:spPr>
        <p:txBody>
          <a:bodyPr/>
          <a:lstStyle/>
          <a:p>
            <a:endParaRPr lang="en-IN"/>
          </a:p>
        </p:txBody>
      </p:sp>
      <p:sp>
        <p:nvSpPr>
          <p:cNvPr id="38" name="Text 36"/>
          <p:cNvSpPr/>
          <p:nvPr/>
        </p:nvSpPr>
        <p:spPr>
          <a:xfrm>
            <a:off x="5181470" y="2674640"/>
            <a:ext cx="1803355" cy="568920"/>
          </a:xfrm>
          <a:prstGeom prst="rect">
            <a:avLst/>
          </a:prstGeom>
          <a:noFill/>
          <a:ln/>
        </p:spPr>
        <p:txBody>
          <a:bodyPr wrap="square" lIns="0" tIns="0" rIns="0" bIns="0" rtlCol="0" anchor="t">
            <a:normAutofit/>
          </a:bodyPr>
          <a:lstStyle/>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Speaker</a:t>
            </a:r>
            <a:endParaRPr lang="en-US" sz="1600" dirty="0"/>
          </a:p>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Masks</a:t>
            </a:r>
            <a:endParaRPr lang="en-US" sz="1600" dirty="0"/>
          </a:p>
        </p:txBody>
      </p:sp>
      <p:sp>
        <p:nvSpPr>
          <p:cNvPr id="39" name="Shape 37"/>
          <p:cNvSpPr/>
          <p:nvPr/>
        </p:nvSpPr>
        <p:spPr>
          <a:xfrm>
            <a:off x="7035624" y="2946400"/>
            <a:ext cx="253994" cy="25400"/>
          </a:xfrm>
          <a:prstGeom prst="roundRect">
            <a:avLst>
              <a:gd name="adj" fmla="val 49999"/>
            </a:avLst>
          </a:prstGeom>
          <a:solidFill>
            <a:srgbClr val="94A3B8"/>
          </a:solidFill>
          <a:ln/>
        </p:spPr>
        <p:txBody>
          <a:bodyPr/>
          <a:lstStyle/>
          <a:p>
            <a:endParaRPr lang="en-IN"/>
          </a:p>
        </p:txBody>
      </p:sp>
      <p:sp>
        <p:nvSpPr>
          <p:cNvPr id="40" name="Shape 38"/>
          <p:cNvSpPr/>
          <p:nvPr/>
        </p:nvSpPr>
        <p:spPr>
          <a:xfrm>
            <a:off x="7289618" y="29083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41" name="Shape 39"/>
          <p:cNvSpPr/>
          <p:nvPr/>
        </p:nvSpPr>
        <p:spPr>
          <a:xfrm>
            <a:off x="7391215" y="2590800"/>
            <a:ext cx="1904952" cy="736600"/>
          </a:xfrm>
          <a:prstGeom prst="roundRect">
            <a:avLst>
              <a:gd name="adj" fmla="val 11917"/>
            </a:avLst>
          </a:prstGeom>
          <a:solidFill>
            <a:srgbClr val="0E4F5C"/>
          </a:solidFill>
          <a:ln w="12700">
            <a:solidFill>
              <a:srgbClr val="22D3EE"/>
            </a:solidFill>
            <a:prstDash val="solid"/>
          </a:ln>
        </p:spPr>
        <p:txBody>
          <a:bodyPr/>
          <a:lstStyle/>
          <a:p>
            <a:endParaRPr lang="en-IN"/>
          </a:p>
        </p:txBody>
      </p:sp>
      <p:sp>
        <p:nvSpPr>
          <p:cNvPr id="42" name="Text 40"/>
          <p:cNvSpPr/>
          <p:nvPr/>
        </p:nvSpPr>
        <p:spPr>
          <a:xfrm>
            <a:off x="7137221" y="2816820"/>
            <a:ext cx="2412940" cy="284460"/>
          </a:xfrm>
          <a:prstGeom prst="rect">
            <a:avLst/>
          </a:prstGeom>
          <a:noFill/>
          <a:ln/>
        </p:spPr>
        <p:txBody>
          <a:bodyPr wrap="none" lIns="0" tIns="0" rIns="0" bIns="0" rtlCol="0" anchor="t"/>
          <a:lstStyle/>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Decoder</a:t>
            </a:r>
            <a:endParaRPr lang="en-US" sz="1600" dirty="0"/>
          </a:p>
        </p:txBody>
      </p:sp>
      <p:sp>
        <p:nvSpPr>
          <p:cNvPr id="43" name="Shape 41"/>
          <p:cNvSpPr/>
          <p:nvPr/>
        </p:nvSpPr>
        <p:spPr>
          <a:xfrm>
            <a:off x="9296167" y="2946400"/>
            <a:ext cx="253994" cy="25400"/>
          </a:xfrm>
          <a:prstGeom prst="roundRect">
            <a:avLst>
              <a:gd name="adj" fmla="val 49999"/>
            </a:avLst>
          </a:prstGeom>
          <a:solidFill>
            <a:srgbClr val="94A3B8"/>
          </a:solidFill>
          <a:ln/>
        </p:spPr>
        <p:txBody>
          <a:bodyPr/>
          <a:lstStyle/>
          <a:p>
            <a:endParaRPr lang="en-IN"/>
          </a:p>
        </p:txBody>
      </p:sp>
      <p:sp>
        <p:nvSpPr>
          <p:cNvPr id="44" name="Shape 42"/>
          <p:cNvSpPr/>
          <p:nvPr/>
        </p:nvSpPr>
        <p:spPr>
          <a:xfrm>
            <a:off x="9550161" y="29083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45" name="Shape 43"/>
          <p:cNvSpPr/>
          <p:nvPr/>
        </p:nvSpPr>
        <p:spPr>
          <a:xfrm>
            <a:off x="9651759" y="2590800"/>
            <a:ext cx="1904952" cy="736600"/>
          </a:xfrm>
          <a:prstGeom prst="roundRect">
            <a:avLst>
              <a:gd name="adj" fmla="val 11917"/>
            </a:avLst>
          </a:prstGeom>
          <a:solidFill>
            <a:srgbClr val="15233B"/>
          </a:solidFill>
          <a:ln w="12700">
            <a:solidFill>
              <a:srgbClr val="22D3EE"/>
            </a:solidFill>
            <a:prstDash val="solid"/>
          </a:ln>
        </p:spPr>
        <p:txBody>
          <a:bodyPr/>
          <a:lstStyle/>
          <a:p>
            <a:endParaRPr lang="en-IN"/>
          </a:p>
        </p:txBody>
      </p:sp>
      <p:sp>
        <p:nvSpPr>
          <p:cNvPr id="46" name="Text 44"/>
          <p:cNvSpPr/>
          <p:nvPr/>
        </p:nvSpPr>
        <p:spPr>
          <a:xfrm>
            <a:off x="9702557" y="2674640"/>
            <a:ext cx="1803355" cy="568920"/>
          </a:xfrm>
          <a:prstGeom prst="rect">
            <a:avLst/>
          </a:prstGeom>
          <a:noFill/>
          <a:ln/>
        </p:spPr>
        <p:txBody>
          <a:bodyPr wrap="square" lIns="0" tIns="0" rIns="0" bIns="0" rtlCol="0" anchor="t">
            <a:normAutofit/>
          </a:bodyPr>
          <a:lstStyle/>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Speaker 1</a:t>
            </a:r>
            <a:endParaRPr lang="en-US" sz="1600" dirty="0"/>
          </a:p>
          <a:p>
            <a:pPr marL="0" indent="0" algn="ctr">
              <a:lnSpc>
                <a:spcPct val="117000"/>
              </a:lnSpc>
              <a:buNone/>
            </a:pPr>
            <a:r>
              <a:rPr lang="en-US" sz="1600" b="1" kern="100" spc="-28" dirty="0">
                <a:solidFill>
                  <a:srgbClr val="F1F5F9"/>
                </a:solidFill>
                <a:latin typeface="Inter Bold" pitchFamily="34" charset="0"/>
                <a:ea typeface="Inter Bold" pitchFamily="34" charset="-122"/>
                <a:cs typeface="Inter Bold" pitchFamily="34" charset="-120"/>
              </a:rPr>
              <a:t>+ Speaker 2</a:t>
            </a:r>
            <a:endParaRPr lang="en-US" sz="1600" dirty="0"/>
          </a:p>
        </p:txBody>
      </p:sp>
      <p:sp>
        <p:nvSpPr>
          <p:cNvPr id="47" name="Text 45"/>
          <p:cNvSpPr/>
          <p:nvPr/>
        </p:nvSpPr>
        <p:spPr>
          <a:xfrm>
            <a:off x="666733" y="3479800"/>
            <a:ext cx="10655033" cy="302220"/>
          </a:xfrm>
          <a:prstGeom prst="rect">
            <a:avLst/>
          </a:prstGeom>
          <a:noFill/>
          <a:ln/>
        </p:spPr>
        <p:txBody>
          <a:bodyPr wrap="none" lIns="0" tIns="0" rIns="0" bIns="0" rtlCol="0" anchor="t"/>
          <a:lstStyle/>
          <a:p>
            <a:pPr marL="0" indent="0" algn="l">
              <a:lnSpc>
                <a:spcPct val="117000"/>
              </a:lnSpc>
              <a:buNone/>
            </a:pPr>
            <a:r>
              <a:rPr lang="en-US" sz="1700" b="1" kern="100" spc="-28" dirty="0">
                <a:solidFill>
                  <a:srgbClr val="E879F9"/>
                </a:solidFill>
                <a:latin typeface="Inter Bold" pitchFamily="34" charset="0"/>
                <a:ea typeface="Inter Bold" pitchFamily="34" charset="-122"/>
                <a:cs typeface="Inter Bold" pitchFamily="34" charset="-120"/>
              </a:rPr>
              <a:t>PIT — solves the unknown output-speaker order</a:t>
            </a:r>
            <a:endParaRPr lang="en-US" sz="1700" dirty="0"/>
          </a:p>
        </p:txBody>
      </p:sp>
      <p:sp>
        <p:nvSpPr>
          <p:cNvPr id="48" name="Shape 46"/>
          <p:cNvSpPr/>
          <p:nvPr/>
        </p:nvSpPr>
        <p:spPr>
          <a:xfrm>
            <a:off x="609585" y="3835400"/>
            <a:ext cx="2362141" cy="787400"/>
          </a:xfrm>
          <a:prstGeom prst="roundRect">
            <a:avLst>
              <a:gd name="adj" fmla="val 11148"/>
            </a:avLst>
          </a:prstGeom>
          <a:solidFill>
            <a:srgbClr val="15233B"/>
          </a:solidFill>
          <a:ln w="12700">
            <a:solidFill>
              <a:srgbClr val="94A3B8"/>
            </a:solidFill>
            <a:prstDash val="solid"/>
          </a:ln>
        </p:spPr>
        <p:txBody>
          <a:bodyPr/>
          <a:lstStyle/>
          <a:p>
            <a:endParaRPr lang="en-IN"/>
          </a:p>
        </p:txBody>
      </p:sp>
      <p:sp>
        <p:nvSpPr>
          <p:cNvPr id="49" name="Text 47"/>
          <p:cNvSpPr/>
          <p:nvPr/>
        </p:nvSpPr>
        <p:spPr>
          <a:xfrm>
            <a:off x="660383" y="3926880"/>
            <a:ext cx="2260543" cy="604441"/>
          </a:xfrm>
          <a:prstGeom prst="rect">
            <a:avLst/>
          </a:prstGeom>
          <a:noFill/>
          <a:ln/>
        </p:spPr>
        <p:txBody>
          <a:bodyPr wrap="square" lIns="0" tIns="0" rIns="0" bIns="0" rtlCol="0" anchor="t">
            <a:normAutofit/>
          </a:bodyPr>
          <a:lstStyle/>
          <a:p>
            <a:pPr marL="0" indent="0" algn="ctr">
              <a:lnSpc>
                <a:spcPct val="117000"/>
              </a:lnSpc>
              <a:buNone/>
            </a:pPr>
            <a:r>
              <a:rPr lang="en-US" sz="1700" b="1" kern="100" spc="-28" dirty="0">
                <a:solidFill>
                  <a:srgbClr val="F1F5F9"/>
                </a:solidFill>
                <a:latin typeface="Inter Bold" pitchFamily="34" charset="0"/>
                <a:ea typeface="Inter Bold" pitchFamily="34" charset="-122"/>
                <a:cs typeface="Inter Bold" pitchFamily="34" charset="-120"/>
              </a:rPr>
              <a:t>Two outputs</a:t>
            </a:r>
            <a:endParaRPr lang="en-US" sz="1700" dirty="0"/>
          </a:p>
          <a:p>
            <a:pPr marL="0" indent="0" algn="ctr">
              <a:lnSpc>
                <a:spcPct val="117000"/>
              </a:lnSpc>
              <a:buNone/>
            </a:pPr>
            <a:r>
              <a:rPr lang="en-US" sz="1700" kern="100" spc="-28" dirty="0">
                <a:solidFill>
                  <a:srgbClr val="94A3B8"/>
                </a:solidFill>
                <a:latin typeface="Inter" pitchFamily="34" charset="0"/>
                <a:ea typeface="Inter" pitchFamily="34" charset="-122"/>
                <a:cs typeface="Inter" pitchFamily="34" charset="-120"/>
              </a:rPr>
              <a:t>order unknown</a:t>
            </a:r>
            <a:endParaRPr lang="en-US" sz="1700" dirty="0"/>
          </a:p>
        </p:txBody>
      </p:sp>
      <p:sp>
        <p:nvSpPr>
          <p:cNvPr id="50" name="Shape 48"/>
          <p:cNvSpPr/>
          <p:nvPr/>
        </p:nvSpPr>
        <p:spPr>
          <a:xfrm>
            <a:off x="2971726" y="4216400"/>
            <a:ext cx="406390" cy="25400"/>
          </a:xfrm>
          <a:prstGeom prst="roundRect">
            <a:avLst>
              <a:gd name="adj" fmla="val 49999"/>
            </a:avLst>
          </a:prstGeom>
          <a:solidFill>
            <a:srgbClr val="94A3B8"/>
          </a:solidFill>
          <a:ln/>
        </p:spPr>
        <p:txBody>
          <a:bodyPr/>
          <a:lstStyle/>
          <a:p>
            <a:endParaRPr lang="en-IN"/>
          </a:p>
        </p:txBody>
      </p:sp>
      <p:sp>
        <p:nvSpPr>
          <p:cNvPr id="51" name="Shape 49"/>
          <p:cNvSpPr/>
          <p:nvPr/>
        </p:nvSpPr>
        <p:spPr>
          <a:xfrm>
            <a:off x="3378115" y="41783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52" name="Shape 50"/>
          <p:cNvSpPr/>
          <p:nvPr/>
        </p:nvSpPr>
        <p:spPr>
          <a:xfrm>
            <a:off x="3479713" y="3835400"/>
            <a:ext cx="2362141" cy="787400"/>
          </a:xfrm>
          <a:prstGeom prst="roundRect">
            <a:avLst>
              <a:gd name="adj" fmla="val 11148"/>
            </a:avLst>
          </a:prstGeom>
          <a:solidFill>
            <a:srgbClr val="15233B"/>
          </a:solidFill>
          <a:ln w="12700">
            <a:solidFill>
              <a:srgbClr val="E879F9"/>
            </a:solidFill>
            <a:prstDash val="solid"/>
          </a:ln>
        </p:spPr>
        <p:txBody>
          <a:bodyPr/>
          <a:lstStyle/>
          <a:p>
            <a:endParaRPr lang="en-IN"/>
          </a:p>
        </p:txBody>
      </p:sp>
      <p:sp>
        <p:nvSpPr>
          <p:cNvPr id="53" name="Text 51"/>
          <p:cNvSpPr/>
          <p:nvPr/>
        </p:nvSpPr>
        <p:spPr>
          <a:xfrm>
            <a:off x="3530512" y="3926880"/>
            <a:ext cx="2260543" cy="604441"/>
          </a:xfrm>
          <a:prstGeom prst="rect">
            <a:avLst/>
          </a:prstGeom>
          <a:noFill/>
          <a:ln/>
        </p:spPr>
        <p:txBody>
          <a:bodyPr wrap="square" lIns="0" tIns="0" rIns="0" bIns="0" rtlCol="0" anchor="t">
            <a:normAutofit/>
          </a:bodyPr>
          <a:lstStyle/>
          <a:p>
            <a:pPr marL="0" indent="0" algn="ctr">
              <a:lnSpc>
                <a:spcPct val="117000"/>
              </a:lnSpc>
              <a:buNone/>
            </a:pPr>
            <a:r>
              <a:rPr lang="en-US" sz="1700" b="1" kern="100" spc="-28" dirty="0">
                <a:solidFill>
                  <a:srgbClr val="F1F5F9"/>
                </a:solidFill>
                <a:latin typeface="Inter Bold" pitchFamily="34" charset="0"/>
                <a:ea typeface="Inter Bold" pitchFamily="34" charset="-122"/>
                <a:cs typeface="Inter Bold" pitchFamily="34" charset="-120"/>
              </a:rPr>
              <a:t>Try both orders</a:t>
            </a:r>
            <a:endParaRPr lang="en-US" sz="1700" dirty="0"/>
          </a:p>
          <a:p>
            <a:pPr marL="0" indent="0" algn="ctr">
              <a:lnSpc>
                <a:spcPct val="117000"/>
              </a:lnSpc>
              <a:buNone/>
            </a:pPr>
            <a:r>
              <a:rPr lang="en-US" sz="1700" kern="100" spc="-28" dirty="0">
                <a:solidFill>
                  <a:srgbClr val="94A3B8"/>
                </a:solidFill>
                <a:latin typeface="Inter" pitchFamily="34" charset="0"/>
                <a:ea typeface="Inter" pitchFamily="34" charset="-122"/>
                <a:cs typeface="Inter" pitchFamily="34" charset="-120"/>
              </a:rPr>
              <a:t>Out1→S1 or Out2→S1</a:t>
            </a:r>
            <a:endParaRPr lang="en-US" sz="1700" dirty="0"/>
          </a:p>
        </p:txBody>
      </p:sp>
      <p:sp>
        <p:nvSpPr>
          <p:cNvPr id="54" name="Shape 52"/>
          <p:cNvSpPr/>
          <p:nvPr/>
        </p:nvSpPr>
        <p:spPr>
          <a:xfrm>
            <a:off x="5841854" y="4216400"/>
            <a:ext cx="406390" cy="25400"/>
          </a:xfrm>
          <a:prstGeom prst="roundRect">
            <a:avLst>
              <a:gd name="adj" fmla="val 49999"/>
            </a:avLst>
          </a:prstGeom>
          <a:solidFill>
            <a:srgbClr val="94A3B8"/>
          </a:solidFill>
          <a:ln/>
        </p:spPr>
        <p:txBody>
          <a:bodyPr/>
          <a:lstStyle/>
          <a:p>
            <a:endParaRPr lang="en-IN"/>
          </a:p>
        </p:txBody>
      </p:sp>
      <p:sp>
        <p:nvSpPr>
          <p:cNvPr id="55" name="Shape 53"/>
          <p:cNvSpPr/>
          <p:nvPr/>
        </p:nvSpPr>
        <p:spPr>
          <a:xfrm>
            <a:off x="6248244" y="41783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56" name="Shape 54"/>
          <p:cNvSpPr/>
          <p:nvPr/>
        </p:nvSpPr>
        <p:spPr>
          <a:xfrm>
            <a:off x="6349841" y="3835400"/>
            <a:ext cx="2362141" cy="787400"/>
          </a:xfrm>
          <a:prstGeom prst="roundRect">
            <a:avLst>
              <a:gd name="adj" fmla="val 11148"/>
            </a:avLst>
          </a:prstGeom>
          <a:solidFill>
            <a:srgbClr val="15233B"/>
          </a:solidFill>
          <a:ln w="12700">
            <a:solidFill>
              <a:srgbClr val="E879F9"/>
            </a:solidFill>
            <a:prstDash val="solid"/>
          </a:ln>
        </p:spPr>
        <p:txBody>
          <a:bodyPr/>
          <a:lstStyle/>
          <a:p>
            <a:endParaRPr lang="en-IN"/>
          </a:p>
        </p:txBody>
      </p:sp>
      <p:sp>
        <p:nvSpPr>
          <p:cNvPr id="57" name="Text 55"/>
          <p:cNvSpPr/>
          <p:nvPr/>
        </p:nvSpPr>
        <p:spPr>
          <a:xfrm>
            <a:off x="6400640" y="3926880"/>
            <a:ext cx="2260543" cy="604441"/>
          </a:xfrm>
          <a:prstGeom prst="rect">
            <a:avLst/>
          </a:prstGeom>
          <a:noFill/>
          <a:ln/>
        </p:spPr>
        <p:txBody>
          <a:bodyPr wrap="square" lIns="0" tIns="0" rIns="0" bIns="0" rtlCol="0" anchor="t">
            <a:normAutofit/>
          </a:bodyPr>
          <a:lstStyle/>
          <a:p>
            <a:pPr marL="0" indent="0" algn="ctr">
              <a:lnSpc>
                <a:spcPct val="117000"/>
              </a:lnSpc>
              <a:buNone/>
            </a:pPr>
            <a:r>
              <a:rPr lang="en-US" sz="1700" b="1" kern="100" spc="-28" dirty="0">
                <a:solidFill>
                  <a:srgbClr val="F1F5F9"/>
                </a:solidFill>
                <a:latin typeface="Inter Bold" pitchFamily="34" charset="0"/>
                <a:ea typeface="Inter Bold" pitchFamily="34" charset="-122"/>
                <a:cs typeface="Inter Bold" pitchFamily="34" charset="-120"/>
              </a:rPr>
              <a:t>Keep the better</a:t>
            </a:r>
            <a:endParaRPr lang="en-US" sz="1700" dirty="0"/>
          </a:p>
          <a:p>
            <a:pPr marL="0" indent="0" algn="ctr">
              <a:lnSpc>
                <a:spcPct val="117000"/>
              </a:lnSpc>
              <a:buNone/>
            </a:pPr>
            <a:r>
              <a:rPr lang="en-US" sz="1700" kern="100" spc="-28" dirty="0">
                <a:solidFill>
                  <a:srgbClr val="94A3B8"/>
                </a:solidFill>
                <a:latin typeface="Inter" pitchFamily="34" charset="0"/>
                <a:ea typeface="Inter" pitchFamily="34" charset="-122"/>
                <a:cs typeface="Inter" pitchFamily="34" charset="-120"/>
              </a:rPr>
              <a:t>loss = −SI-SDR</a:t>
            </a:r>
            <a:endParaRPr lang="en-US" sz="1700" dirty="0"/>
          </a:p>
        </p:txBody>
      </p:sp>
      <p:sp>
        <p:nvSpPr>
          <p:cNvPr id="58" name="Shape 56"/>
          <p:cNvSpPr/>
          <p:nvPr/>
        </p:nvSpPr>
        <p:spPr>
          <a:xfrm>
            <a:off x="8711982" y="4216400"/>
            <a:ext cx="406390" cy="25400"/>
          </a:xfrm>
          <a:prstGeom prst="roundRect">
            <a:avLst>
              <a:gd name="adj" fmla="val 49999"/>
            </a:avLst>
          </a:prstGeom>
          <a:solidFill>
            <a:srgbClr val="94A3B8"/>
          </a:solidFill>
          <a:ln/>
        </p:spPr>
        <p:txBody>
          <a:bodyPr/>
          <a:lstStyle/>
          <a:p>
            <a:endParaRPr lang="en-IN"/>
          </a:p>
        </p:txBody>
      </p:sp>
      <p:sp>
        <p:nvSpPr>
          <p:cNvPr id="59" name="Shape 57"/>
          <p:cNvSpPr/>
          <p:nvPr/>
        </p:nvSpPr>
        <p:spPr>
          <a:xfrm>
            <a:off x="9118372" y="41783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60" name="Shape 58"/>
          <p:cNvSpPr/>
          <p:nvPr/>
        </p:nvSpPr>
        <p:spPr>
          <a:xfrm>
            <a:off x="9219969" y="3835400"/>
            <a:ext cx="2362141" cy="787400"/>
          </a:xfrm>
          <a:prstGeom prst="roundRect">
            <a:avLst>
              <a:gd name="adj" fmla="val 11148"/>
            </a:avLst>
          </a:prstGeom>
          <a:solidFill>
            <a:srgbClr val="123B2E"/>
          </a:solidFill>
          <a:ln w="12700">
            <a:solidFill>
              <a:srgbClr val="34D399"/>
            </a:solidFill>
            <a:prstDash val="solid"/>
          </a:ln>
        </p:spPr>
        <p:txBody>
          <a:bodyPr/>
          <a:lstStyle/>
          <a:p>
            <a:endParaRPr lang="en-IN"/>
          </a:p>
        </p:txBody>
      </p:sp>
      <p:sp>
        <p:nvSpPr>
          <p:cNvPr id="61" name="Text 59"/>
          <p:cNvSpPr/>
          <p:nvPr/>
        </p:nvSpPr>
        <p:spPr>
          <a:xfrm>
            <a:off x="9270768" y="3926880"/>
            <a:ext cx="2260543" cy="604441"/>
          </a:xfrm>
          <a:prstGeom prst="rect">
            <a:avLst/>
          </a:prstGeom>
          <a:noFill/>
          <a:ln/>
        </p:spPr>
        <p:txBody>
          <a:bodyPr wrap="square" lIns="0" tIns="0" rIns="0" bIns="0" rtlCol="0" anchor="t">
            <a:normAutofit/>
          </a:bodyPr>
          <a:lstStyle/>
          <a:p>
            <a:pPr marL="0" indent="0" algn="ctr">
              <a:lnSpc>
                <a:spcPct val="117000"/>
              </a:lnSpc>
              <a:buNone/>
            </a:pPr>
            <a:r>
              <a:rPr lang="en-US" sz="1700" b="1" kern="100" spc="-28" dirty="0">
                <a:solidFill>
                  <a:srgbClr val="F1F5F9"/>
                </a:solidFill>
                <a:latin typeface="Inter Bold" pitchFamily="34" charset="0"/>
                <a:ea typeface="Inter Bold" pitchFamily="34" charset="-122"/>
                <a:cs typeface="Inter Bold" pitchFamily="34" charset="-120"/>
              </a:rPr>
              <a:t>Evaluate</a:t>
            </a:r>
            <a:endParaRPr lang="en-US" sz="1700" dirty="0"/>
          </a:p>
          <a:p>
            <a:pPr marL="0" indent="0" algn="ctr">
              <a:lnSpc>
                <a:spcPct val="117000"/>
              </a:lnSpc>
              <a:buNone/>
            </a:pPr>
            <a:r>
              <a:rPr lang="en-US" sz="1700" kern="100" spc="-28" dirty="0">
                <a:solidFill>
                  <a:srgbClr val="94A3B8"/>
                </a:solidFill>
                <a:latin typeface="Inter" pitchFamily="34" charset="0"/>
                <a:ea typeface="Inter" pitchFamily="34" charset="-122"/>
                <a:cs typeface="Inter" pitchFamily="34" charset="-120"/>
              </a:rPr>
              <a:t>SI-SDR / SI-SDRi</a:t>
            </a:r>
            <a:endParaRPr lang="en-US" sz="1700" dirty="0"/>
          </a:p>
        </p:txBody>
      </p:sp>
      <p:sp>
        <p:nvSpPr>
          <p:cNvPr id="62" name="Shape 60"/>
          <p:cNvSpPr/>
          <p:nvPr/>
        </p:nvSpPr>
        <p:spPr>
          <a:xfrm>
            <a:off x="609585" y="4978400"/>
            <a:ext cx="2072529" cy="1092200"/>
          </a:xfrm>
          <a:prstGeom prst="roundRect">
            <a:avLst>
              <a:gd name="adj" fmla="val 8037"/>
            </a:avLst>
          </a:prstGeom>
          <a:solidFill>
            <a:srgbClr val="15233B"/>
          </a:solidFill>
          <a:ln w="12700">
            <a:solidFill>
              <a:srgbClr val="15233B"/>
            </a:solidFill>
            <a:prstDash val="solid"/>
          </a:ln>
        </p:spPr>
        <p:txBody>
          <a:bodyPr/>
          <a:lstStyle/>
          <a:p>
            <a:endParaRPr lang="en-IN"/>
          </a:p>
        </p:txBody>
      </p:sp>
      <p:sp>
        <p:nvSpPr>
          <p:cNvPr id="63" name="Text 61"/>
          <p:cNvSpPr/>
          <p:nvPr/>
        </p:nvSpPr>
        <p:spPr>
          <a:xfrm>
            <a:off x="355591" y="5116215"/>
            <a:ext cx="2580516" cy="391120"/>
          </a:xfrm>
          <a:prstGeom prst="rect">
            <a:avLst/>
          </a:prstGeom>
          <a:noFill/>
          <a:ln/>
        </p:spPr>
        <p:txBody>
          <a:bodyPr wrap="none" lIns="0" tIns="0" rIns="0" bIns="0" rtlCol="0" anchor="t"/>
          <a:lstStyle/>
          <a:p>
            <a:pPr marL="0" indent="0" algn="ctr">
              <a:lnSpc>
                <a:spcPct val="117000"/>
              </a:lnSpc>
              <a:buNone/>
            </a:pPr>
            <a:r>
              <a:rPr lang="en-US" sz="2200" b="1" kern="100" spc="-28" dirty="0">
                <a:solidFill>
                  <a:srgbClr val="22D3EE"/>
                </a:solidFill>
                <a:latin typeface="Inter Bold" pitchFamily="34" charset="0"/>
                <a:ea typeface="Inter Bold" pitchFamily="34" charset="-122"/>
                <a:cs typeface="Inter Bold" pitchFamily="34" charset="-120"/>
              </a:rPr>
              <a:t>251</a:t>
            </a:r>
            <a:endParaRPr lang="en-US" sz="2200" dirty="0"/>
          </a:p>
        </p:txBody>
      </p:sp>
      <p:sp>
        <p:nvSpPr>
          <p:cNvPr id="64" name="Text 62"/>
          <p:cNvSpPr/>
          <p:nvPr/>
        </p:nvSpPr>
        <p:spPr>
          <a:xfrm>
            <a:off x="355591" y="5666085"/>
            <a:ext cx="2580516"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speakers</a:t>
            </a:r>
            <a:endParaRPr lang="en-US" sz="1500" dirty="0"/>
          </a:p>
        </p:txBody>
      </p:sp>
      <p:sp>
        <p:nvSpPr>
          <p:cNvPr id="65" name="Shape 63"/>
          <p:cNvSpPr/>
          <p:nvPr/>
        </p:nvSpPr>
        <p:spPr>
          <a:xfrm>
            <a:off x="2834510" y="4978400"/>
            <a:ext cx="2072529" cy="1092200"/>
          </a:xfrm>
          <a:prstGeom prst="roundRect">
            <a:avLst>
              <a:gd name="adj" fmla="val 8037"/>
            </a:avLst>
          </a:prstGeom>
          <a:solidFill>
            <a:srgbClr val="15233B"/>
          </a:solidFill>
          <a:ln w="12700">
            <a:solidFill>
              <a:srgbClr val="15233B"/>
            </a:solidFill>
            <a:prstDash val="solid"/>
          </a:ln>
        </p:spPr>
        <p:txBody>
          <a:bodyPr/>
          <a:lstStyle/>
          <a:p>
            <a:endParaRPr lang="en-IN"/>
          </a:p>
        </p:txBody>
      </p:sp>
      <p:sp>
        <p:nvSpPr>
          <p:cNvPr id="66" name="Text 64"/>
          <p:cNvSpPr/>
          <p:nvPr/>
        </p:nvSpPr>
        <p:spPr>
          <a:xfrm>
            <a:off x="2580516" y="5116215"/>
            <a:ext cx="2580516" cy="391120"/>
          </a:xfrm>
          <a:prstGeom prst="rect">
            <a:avLst/>
          </a:prstGeom>
          <a:noFill/>
          <a:ln/>
        </p:spPr>
        <p:txBody>
          <a:bodyPr wrap="none" lIns="0" tIns="0" rIns="0" bIns="0" rtlCol="0" anchor="t"/>
          <a:lstStyle/>
          <a:p>
            <a:pPr marL="0" indent="0" algn="ctr">
              <a:lnSpc>
                <a:spcPct val="117000"/>
              </a:lnSpc>
              <a:buNone/>
            </a:pPr>
            <a:r>
              <a:rPr lang="en-US" sz="2200" b="1" kern="100" spc="-28" dirty="0">
                <a:solidFill>
                  <a:srgbClr val="22D3EE"/>
                </a:solidFill>
                <a:latin typeface="Inter Bold" pitchFamily="34" charset="0"/>
                <a:ea typeface="Inter Bold" pitchFamily="34" charset="-122"/>
                <a:cs typeface="Inter Bold" pitchFamily="34" charset="-120"/>
              </a:rPr>
              <a:t>14,269</a:t>
            </a:r>
            <a:endParaRPr lang="en-US" sz="2200" dirty="0"/>
          </a:p>
        </p:txBody>
      </p:sp>
      <p:sp>
        <p:nvSpPr>
          <p:cNvPr id="67" name="Text 65"/>
          <p:cNvSpPr/>
          <p:nvPr/>
        </p:nvSpPr>
        <p:spPr>
          <a:xfrm>
            <a:off x="2580516" y="5666085"/>
            <a:ext cx="2580516"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mixture pairs</a:t>
            </a:r>
            <a:endParaRPr lang="en-US" sz="1500" dirty="0"/>
          </a:p>
        </p:txBody>
      </p:sp>
      <p:sp>
        <p:nvSpPr>
          <p:cNvPr id="68" name="Shape 66"/>
          <p:cNvSpPr/>
          <p:nvPr/>
        </p:nvSpPr>
        <p:spPr>
          <a:xfrm>
            <a:off x="5059534" y="4978400"/>
            <a:ext cx="2072529" cy="1092200"/>
          </a:xfrm>
          <a:prstGeom prst="roundRect">
            <a:avLst>
              <a:gd name="adj" fmla="val 8037"/>
            </a:avLst>
          </a:prstGeom>
          <a:solidFill>
            <a:srgbClr val="15233B"/>
          </a:solidFill>
          <a:ln w="12700">
            <a:solidFill>
              <a:srgbClr val="15233B"/>
            </a:solidFill>
            <a:prstDash val="solid"/>
          </a:ln>
        </p:spPr>
        <p:txBody>
          <a:bodyPr/>
          <a:lstStyle/>
          <a:p>
            <a:endParaRPr lang="en-IN"/>
          </a:p>
        </p:txBody>
      </p:sp>
      <p:sp>
        <p:nvSpPr>
          <p:cNvPr id="69" name="Text 67"/>
          <p:cNvSpPr/>
          <p:nvPr/>
        </p:nvSpPr>
        <p:spPr>
          <a:xfrm>
            <a:off x="4805540" y="5116215"/>
            <a:ext cx="2580516" cy="391120"/>
          </a:xfrm>
          <a:prstGeom prst="rect">
            <a:avLst/>
          </a:prstGeom>
          <a:noFill/>
          <a:ln/>
        </p:spPr>
        <p:txBody>
          <a:bodyPr wrap="none" lIns="0" tIns="0" rIns="0" bIns="0" rtlCol="0" anchor="t"/>
          <a:lstStyle/>
          <a:p>
            <a:pPr marL="0" indent="0" algn="ctr">
              <a:lnSpc>
                <a:spcPct val="117000"/>
              </a:lnSpc>
              <a:buNone/>
            </a:pPr>
            <a:r>
              <a:rPr lang="en-US" sz="2200" b="1" kern="100" spc="-28" dirty="0">
                <a:solidFill>
                  <a:srgbClr val="22D3EE"/>
                </a:solidFill>
                <a:latin typeface="Inter Bold" pitchFamily="34" charset="0"/>
                <a:ea typeface="Inter Bold" pitchFamily="34" charset="-122"/>
                <a:cs typeface="Inter Bold" pitchFamily="34" charset="-120"/>
              </a:rPr>
              <a:t>3,396,144</a:t>
            </a:r>
            <a:endParaRPr lang="en-US" sz="2200" dirty="0"/>
          </a:p>
        </p:txBody>
      </p:sp>
      <p:sp>
        <p:nvSpPr>
          <p:cNvPr id="70" name="Text 68"/>
          <p:cNvSpPr/>
          <p:nvPr/>
        </p:nvSpPr>
        <p:spPr>
          <a:xfrm>
            <a:off x="4805540" y="5666085"/>
            <a:ext cx="2580516"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parameters</a:t>
            </a:r>
            <a:endParaRPr lang="en-US" sz="1500" dirty="0"/>
          </a:p>
        </p:txBody>
      </p:sp>
      <p:sp>
        <p:nvSpPr>
          <p:cNvPr id="71" name="Shape 69"/>
          <p:cNvSpPr/>
          <p:nvPr/>
        </p:nvSpPr>
        <p:spPr>
          <a:xfrm>
            <a:off x="7284458" y="4978400"/>
            <a:ext cx="2072529" cy="1092200"/>
          </a:xfrm>
          <a:prstGeom prst="roundRect">
            <a:avLst>
              <a:gd name="adj" fmla="val 8037"/>
            </a:avLst>
          </a:prstGeom>
          <a:solidFill>
            <a:srgbClr val="15233B"/>
          </a:solidFill>
          <a:ln w="12700">
            <a:solidFill>
              <a:srgbClr val="15233B"/>
            </a:solidFill>
            <a:prstDash val="solid"/>
          </a:ln>
        </p:spPr>
        <p:txBody>
          <a:bodyPr/>
          <a:lstStyle/>
          <a:p>
            <a:endParaRPr lang="en-IN"/>
          </a:p>
        </p:txBody>
      </p:sp>
      <p:sp>
        <p:nvSpPr>
          <p:cNvPr id="72" name="Text 70"/>
          <p:cNvSpPr/>
          <p:nvPr/>
        </p:nvSpPr>
        <p:spPr>
          <a:xfrm>
            <a:off x="7335257" y="4920655"/>
            <a:ext cx="1970931" cy="782241"/>
          </a:xfrm>
          <a:prstGeom prst="rect">
            <a:avLst/>
          </a:prstGeom>
          <a:noFill/>
          <a:ln/>
        </p:spPr>
        <p:txBody>
          <a:bodyPr wrap="square" lIns="0" tIns="0" rIns="0" bIns="0" rtlCol="0" anchor="t">
            <a:normAutofit/>
          </a:bodyPr>
          <a:lstStyle/>
          <a:p>
            <a:pPr marL="0" indent="0" algn="ctr">
              <a:lnSpc>
                <a:spcPct val="117000"/>
              </a:lnSpc>
              <a:buNone/>
            </a:pPr>
            <a:r>
              <a:rPr lang="en-US" sz="2200" b="1" kern="100" spc="-28" dirty="0">
                <a:solidFill>
                  <a:srgbClr val="22D3EE"/>
                </a:solidFill>
                <a:latin typeface="Inter Bold" pitchFamily="34" charset="0"/>
                <a:ea typeface="Inter Bold" pitchFamily="34" charset="-122"/>
                <a:cs typeface="Inter Bold" pitchFamily="34" charset="-120"/>
              </a:rPr>
              <a:t>AdamW + FP16</a:t>
            </a:r>
            <a:endParaRPr lang="en-US" sz="2200" dirty="0"/>
          </a:p>
        </p:txBody>
      </p:sp>
      <p:sp>
        <p:nvSpPr>
          <p:cNvPr id="73" name="Text 71"/>
          <p:cNvSpPr/>
          <p:nvPr/>
        </p:nvSpPr>
        <p:spPr>
          <a:xfrm>
            <a:off x="7030465" y="5861645"/>
            <a:ext cx="2580516"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optimizer · precision</a:t>
            </a:r>
            <a:endParaRPr lang="en-US" sz="1500" dirty="0"/>
          </a:p>
        </p:txBody>
      </p:sp>
      <p:sp>
        <p:nvSpPr>
          <p:cNvPr id="74" name="Shape 72"/>
          <p:cNvSpPr/>
          <p:nvPr/>
        </p:nvSpPr>
        <p:spPr>
          <a:xfrm>
            <a:off x="9509482" y="4978400"/>
            <a:ext cx="2072529" cy="1092200"/>
          </a:xfrm>
          <a:prstGeom prst="roundRect">
            <a:avLst>
              <a:gd name="adj" fmla="val 8037"/>
            </a:avLst>
          </a:prstGeom>
          <a:solidFill>
            <a:srgbClr val="15233B"/>
          </a:solidFill>
          <a:ln w="12700">
            <a:solidFill>
              <a:srgbClr val="15233B"/>
            </a:solidFill>
            <a:prstDash val="solid"/>
          </a:ln>
        </p:spPr>
        <p:txBody>
          <a:bodyPr/>
          <a:lstStyle/>
          <a:p>
            <a:endParaRPr lang="en-IN"/>
          </a:p>
        </p:txBody>
      </p:sp>
      <p:sp>
        <p:nvSpPr>
          <p:cNvPr id="75" name="Text 73"/>
          <p:cNvSpPr/>
          <p:nvPr/>
        </p:nvSpPr>
        <p:spPr>
          <a:xfrm>
            <a:off x="9255489" y="5116215"/>
            <a:ext cx="2580516" cy="391120"/>
          </a:xfrm>
          <a:prstGeom prst="rect">
            <a:avLst/>
          </a:prstGeom>
          <a:noFill/>
          <a:ln/>
        </p:spPr>
        <p:txBody>
          <a:bodyPr wrap="none" lIns="0" tIns="0" rIns="0" bIns="0" rtlCol="0" anchor="t"/>
          <a:lstStyle/>
          <a:p>
            <a:pPr marL="0" indent="0" algn="ctr">
              <a:lnSpc>
                <a:spcPct val="117000"/>
              </a:lnSpc>
              <a:buNone/>
            </a:pPr>
            <a:r>
              <a:rPr lang="en-US" sz="2200" b="1" kern="100" spc="-28" dirty="0">
                <a:solidFill>
                  <a:srgbClr val="22D3EE"/>
                </a:solidFill>
                <a:latin typeface="Inter Bold" pitchFamily="34" charset="0"/>
                <a:ea typeface="Inter Bold" pitchFamily="34" charset="-122"/>
                <a:cs typeface="Inter Bold" pitchFamily="34" charset="-120"/>
              </a:rPr>
              <a:t>NVIDIA T4</a:t>
            </a:r>
            <a:endParaRPr lang="en-US" sz="2200" dirty="0"/>
          </a:p>
        </p:txBody>
      </p:sp>
      <p:sp>
        <p:nvSpPr>
          <p:cNvPr id="76" name="Text 74"/>
          <p:cNvSpPr/>
          <p:nvPr/>
        </p:nvSpPr>
        <p:spPr>
          <a:xfrm>
            <a:off x="9255489" y="5666085"/>
            <a:ext cx="2580516"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GPU</a:t>
            </a:r>
            <a:endParaRPr lang="en-US" sz="1500" dirty="0"/>
          </a:p>
        </p:txBody>
      </p:sp>
      <p:sp>
        <p:nvSpPr>
          <p:cNvPr id="77" name="Text 75"/>
          <p:cNvSpPr/>
          <p:nvPr/>
        </p:nvSpPr>
        <p:spPr>
          <a:xfrm>
            <a:off x="11338237" y="6527155"/>
            <a:ext cx="683203" cy="174129"/>
          </a:xfrm>
          <a:prstGeom prst="rect">
            <a:avLst/>
          </a:prstGeom>
          <a:noFill/>
          <a:ln/>
        </p:spPr>
        <p:txBody>
          <a:bodyPr wrap="none" lIns="0" tIns="0" rIns="0" bIns="0" rtlCol="0" anchor="ctr"/>
          <a:lstStyle/>
          <a:p>
            <a:pPr marL="0" indent="0" algn="l">
              <a:lnSpc>
                <a:spcPct val="117000"/>
              </a:lnSpc>
              <a:buNone/>
            </a:pPr>
            <a:r>
              <a:rPr lang="en-US" sz="1000" kern="100" spc="-28" dirty="0">
                <a:solidFill>
                  <a:srgbClr val="94A3B8"/>
                </a:solidFill>
                <a:latin typeface="Inter" pitchFamily="34" charset="0"/>
                <a:ea typeface="Inter" pitchFamily="34" charset="-122"/>
                <a:cs typeface="Inter"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09585" y="390128"/>
            <a:ext cx="97530" cy="609600"/>
          </a:xfrm>
          <a:prstGeom prst="rect">
            <a:avLst/>
          </a:prstGeom>
          <a:solidFill>
            <a:srgbClr val="22D3EE"/>
          </a:solidFill>
          <a:ln w="12700">
            <a:solidFill>
              <a:srgbClr val="22D3EE"/>
            </a:solidFill>
            <a:prstDash val="solid"/>
          </a:ln>
        </p:spPr>
        <p:txBody>
          <a:bodyPr/>
          <a:lstStyle/>
          <a:p>
            <a:endParaRPr lang="en-IN"/>
          </a:p>
        </p:txBody>
      </p:sp>
      <p:sp>
        <p:nvSpPr>
          <p:cNvPr id="3" name="Text 1"/>
          <p:cNvSpPr/>
          <p:nvPr/>
        </p:nvSpPr>
        <p:spPr>
          <a:xfrm>
            <a:off x="877766" y="318790"/>
            <a:ext cx="10728652" cy="705048"/>
          </a:xfrm>
          <a:prstGeom prst="rect">
            <a:avLst/>
          </a:prstGeom>
          <a:noFill/>
          <a:ln/>
        </p:spPr>
        <p:txBody>
          <a:bodyPr wrap="none" lIns="0" tIns="110170" rIns="0" bIns="110170" rtlCol="0" anchor="t"/>
          <a:lstStyle/>
          <a:p>
            <a:pPr marL="0" indent="0" algn="l">
              <a:lnSpc>
                <a:spcPct val="92000"/>
              </a:lnSpc>
              <a:buNone/>
            </a:pPr>
            <a:r>
              <a:rPr lang="en-US" sz="3450" b="1" kern="100" spc="-69" dirty="0">
                <a:solidFill>
                  <a:srgbClr val="F1F5F9"/>
                </a:solidFill>
                <a:latin typeface="Petrona Bold" pitchFamily="34" charset="0"/>
                <a:ea typeface="Petrona Bold" pitchFamily="34" charset="-122"/>
                <a:cs typeface="Petrona Bold" pitchFamily="34" charset="-120"/>
              </a:rPr>
              <a:t>Work Done</a:t>
            </a:r>
            <a:endParaRPr lang="en-US" sz="3450" dirty="0"/>
          </a:p>
        </p:txBody>
      </p:sp>
      <p:sp>
        <p:nvSpPr>
          <p:cNvPr id="5" name="Shape 3"/>
          <p:cNvSpPr/>
          <p:nvPr/>
        </p:nvSpPr>
        <p:spPr>
          <a:xfrm>
            <a:off x="609585" y="1244600"/>
            <a:ext cx="2920927" cy="4851400"/>
          </a:xfrm>
          <a:prstGeom prst="roundRect">
            <a:avLst>
              <a:gd name="adj" fmla="val 3005"/>
            </a:avLst>
          </a:prstGeom>
          <a:solidFill>
            <a:srgbClr val="15233B"/>
          </a:solidFill>
          <a:ln w="12700">
            <a:solidFill>
              <a:srgbClr val="22D3EE"/>
            </a:solidFill>
            <a:prstDash val="solid"/>
          </a:ln>
        </p:spPr>
        <p:txBody>
          <a:bodyPr/>
          <a:lstStyle/>
          <a:p>
            <a:endParaRPr lang="en-IN"/>
          </a:p>
        </p:txBody>
      </p:sp>
      <p:sp>
        <p:nvSpPr>
          <p:cNvPr id="6" name="Shape 4"/>
          <p:cNvSpPr/>
          <p:nvPr/>
        </p:nvSpPr>
        <p:spPr>
          <a:xfrm>
            <a:off x="3809905" y="1244600"/>
            <a:ext cx="3327317" cy="4851400"/>
          </a:xfrm>
          <a:prstGeom prst="roundRect">
            <a:avLst>
              <a:gd name="adj" fmla="val 2638"/>
            </a:avLst>
          </a:prstGeom>
          <a:solidFill>
            <a:srgbClr val="15233B"/>
          </a:solidFill>
          <a:ln w="12700">
            <a:solidFill>
              <a:srgbClr val="FBBF24"/>
            </a:solidFill>
            <a:prstDash val="solid"/>
          </a:ln>
        </p:spPr>
        <p:txBody>
          <a:bodyPr/>
          <a:lstStyle/>
          <a:p>
            <a:endParaRPr lang="en-IN"/>
          </a:p>
        </p:txBody>
      </p:sp>
      <p:sp>
        <p:nvSpPr>
          <p:cNvPr id="7" name="Shape 5"/>
          <p:cNvSpPr/>
          <p:nvPr/>
        </p:nvSpPr>
        <p:spPr>
          <a:xfrm>
            <a:off x="7416614" y="1244600"/>
            <a:ext cx="4165496" cy="4851400"/>
          </a:xfrm>
          <a:prstGeom prst="roundRect">
            <a:avLst>
              <a:gd name="adj" fmla="val 2107"/>
            </a:avLst>
          </a:prstGeom>
          <a:solidFill>
            <a:srgbClr val="15233B"/>
          </a:solidFill>
          <a:ln w="12700">
            <a:solidFill>
              <a:srgbClr val="34D399"/>
            </a:solidFill>
            <a:prstDash val="solid"/>
          </a:ln>
        </p:spPr>
        <p:txBody>
          <a:bodyPr/>
          <a:lstStyle/>
          <a:p>
            <a:endParaRPr lang="en-IN"/>
          </a:p>
        </p:txBody>
      </p:sp>
      <p:sp>
        <p:nvSpPr>
          <p:cNvPr id="8" name="Shape 6"/>
          <p:cNvSpPr/>
          <p:nvPr/>
        </p:nvSpPr>
        <p:spPr>
          <a:xfrm>
            <a:off x="609585" y="1244600"/>
            <a:ext cx="2920927" cy="787400"/>
          </a:xfrm>
          <a:prstGeom prst="roundRect">
            <a:avLst>
              <a:gd name="adj" fmla="val 11148"/>
            </a:avLst>
          </a:prstGeom>
          <a:solidFill>
            <a:srgbClr val="22D3EE"/>
          </a:solidFill>
          <a:ln/>
        </p:spPr>
        <p:txBody>
          <a:bodyPr/>
          <a:lstStyle/>
          <a:p>
            <a:endParaRPr lang="en-IN"/>
          </a:p>
        </p:txBody>
      </p:sp>
      <p:sp>
        <p:nvSpPr>
          <p:cNvPr id="9" name="Text 7"/>
          <p:cNvSpPr/>
          <p:nvPr/>
        </p:nvSpPr>
        <p:spPr>
          <a:xfrm>
            <a:off x="361941" y="1265535"/>
            <a:ext cx="3416215" cy="319980"/>
          </a:xfrm>
          <a:prstGeom prst="rect">
            <a:avLst/>
          </a:prstGeom>
          <a:noFill/>
          <a:ln/>
        </p:spPr>
        <p:txBody>
          <a:bodyPr wrap="none" lIns="0" tIns="0" rIns="0" bIns="0" rtlCol="0" anchor="t"/>
          <a:lstStyle/>
          <a:p>
            <a:pPr marL="0" indent="0" algn="ctr">
              <a:lnSpc>
                <a:spcPct val="117000"/>
              </a:lnSpc>
              <a:buNone/>
            </a:pPr>
            <a:r>
              <a:rPr lang="en-US" sz="1800" b="1" kern="100" spc="-28" dirty="0">
                <a:solidFill>
                  <a:srgbClr val="0B1220"/>
                </a:solidFill>
                <a:latin typeface="Inter Bold" pitchFamily="34" charset="0"/>
                <a:ea typeface="Inter Bold" pitchFamily="34" charset="-122"/>
                <a:cs typeface="Inter Bold" pitchFamily="34" charset="-120"/>
              </a:rPr>
              <a:t>PHASE 1</a:t>
            </a:r>
            <a:endParaRPr lang="en-US" sz="1800" dirty="0"/>
          </a:p>
        </p:txBody>
      </p:sp>
      <p:sp>
        <p:nvSpPr>
          <p:cNvPr id="10" name="Text 8"/>
          <p:cNvSpPr/>
          <p:nvPr/>
        </p:nvSpPr>
        <p:spPr>
          <a:xfrm>
            <a:off x="361941" y="1744266"/>
            <a:ext cx="3416215" cy="266700"/>
          </a:xfrm>
          <a:prstGeom prst="rect">
            <a:avLst/>
          </a:prstGeom>
          <a:noFill/>
          <a:ln/>
        </p:spPr>
        <p:txBody>
          <a:bodyPr wrap="none" lIns="0" tIns="0" rIns="0" bIns="0" rtlCol="0" anchor="t"/>
          <a:lstStyle/>
          <a:p>
            <a:pPr marL="0" indent="0" algn="ctr">
              <a:lnSpc>
                <a:spcPct val="117000"/>
              </a:lnSpc>
              <a:buNone/>
            </a:pPr>
            <a:r>
              <a:rPr lang="en-US" sz="1500" b="1" kern="100" spc="-28" dirty="0">
                <a:solidFill>
                  <a:srgbClr val="0B1220"/>
                </a:solidFill>
                <a:latin typeface="Inter Bold" pitchFamily="34" charset="0"/>
                <a:ea typeface="Inter Bold" pitchFamily="34" charset="-122"/>
                <a:cs typeface="Inter Bold" pitchFamily="34" charset="-120"/>
              </a:rPr>
              <a:t>DENOISING</a:t>
            </a:r>
            <a:endParaRPr lang="en-US" sz="1500" dirty="0"/>
          </a:p>
        </p:txBody>
      </p:sp>
      <p:sp>
        <p:nvSpPr>
          <p:cNvPr id="11" name="Shape 9"/>
          <p:cNvSpPr/>
          <p:nvPr/>
        </p:nvSpPr>
        <p:spPr>
          <a:xfrm>
            <a:off x="3809905" y="1244600"/>
            <a:ext cx="3327317" cy="787400"/>
          </a:xfrm>
          <a:prstGeom prst="roundRect">
            <a:avLst>
              <a:gd name="adj" fmla="val 11148"/>
            </a:avLst>
          </a:prstGeom>
          <a:solidFill>
            <a:srgbClr val="FBBF24"/>
          </a:solidFill>
          <a:ln/>
        </p:spPr>
        <p:txBody>
          <a:bodyPr/>
          <a:lstStyle/>
          <a:p>
            <a:endParaRPr lang="en-IN"/>
          </a:p>
        </p:txBody>
      </p:sp>
      <p:sp>
        <p:nvSpPr>
          <p:cNvPr id="12" name="Text 10"/>
          <p:cNvSpPr/>
          <p:nvPr/>
        </p:nvSpPr>
        <p:spPr>
          <a:xfrm>
            <a:off x="3562261" y="1265535"/>
            <a:ext cx="3822604" cy="319980"/>
          </a:xfrm>
          <a:prstGeom prst="rect">
            <a:avLst/>
          </a:prstGeom>
          <a:noFill/>
          <a:ln/>
        </p:spPr>
        <p:txBody>
          <a:bodyPr wrap="none" lIns="0" tIns="0" rIns="0" bIns="0" rtlCol="0" anchor="t"/>
          <a:lstStyle/>
          <a:p>
            <a:pPr marL="0" indent="0" algn="ctr">
              <a:lnSpc>
                <a:spcPct val="117000"/>
              </a:lnSpc>
              <a:buNone/>
            </a:pPr>
            <a:r>
              <a:rPr lang="en-US" sz="1800" b="1" kern="100" spc="-28" dirty="0">
                <a:solidFill>
                  <a:srgbClr val="0B1220"/>
                </a:solidFill>
                <a:latin typeface="Inter Bold" pitchFamily="34" charset="0"/>
                <a:ea typeface="Inter Bold" pitchFamily="34" charset="-122"/>
                <a:cs typeface="Inter Bold" pitchFamily="34" charset="-120"/>
              </a:rPr>
              <a:t>PHASE 2A</a:t>
            </a:r>
            <a:endParaRPr lang="en-US" sz="1800" dirty="0"/>
          </a:p>
        </p:txBody>
      </p:sp>
      <p:sp>
        <p:nvSpPr>
          <p:cNvPr id="13" name="Text 11"/>
          <p:cNvSpPr/>
          <p:nvPr/>
        </p:nvSpPr>
        <p:spPr>
          <a:xfrm>
            <a:off x="3562261" y="1744266"/>
            <a:ext cx="3822604" cy="266700"/>
          </a:xfrm>
          <a:prstGeom prst="rect">
            <a:avLst/>
          </a:prstGeom>
          <a:noFill/>
          <a:ln/>
        </p:spPr>
        <p:txBody>
          <a:bodyPr wrap="none" lIns="0" tIns="0" rIns="0" bIns="0" rtlCol="0" anchor="t"/>
          <a:lstStyle/>
          <a:p>
            <a:pPr marL="0" indent="0" algn="ctr">
              <a:lnSpc>
                <a:spcPct val="117000"/>
              </a:lnSpc>
              <a:buNone/>
            </a:pPr>
            <a:r>
              <a:rPr lang="en-US" sz="1500" b="1" kern="100" spc="-28" dirty="0">
                <a:solidFill>
                  <a:srgbClr val="0B1220"/>
                </a:solidFill>
                <a:latin typeface="Inter Bold" pitchFamily="34" charset="0"/>
                <a:ea typeface="Inter Bold" pitchFamily="34" charset="-122"/>
                <a:cs typeface="Inter Bold" pitchFamily="34" charset="-120"/>
              </a:rPr>
              <a:t>BASELINE SEPARATION</a:t>
            </a:r>
            <a:endParaRPr lang="en-US" sz="1500" dirty="0"/>
          </a:p>
        </p:txBody>
      </p:sp>
      <p:sp>
        <p:nvSpPr>
          <p:cNvPr id="14" name="Shape 12"/>
          <p:cNvSpPr/>
          <p:nvPr/>
        </p:nvSpPr>
        <p:spPr>
          <a:xfrm>
            <a:off x="7416614" y="1244600"/>
            <a:ext cx="4165496" cy="787400"/>
          </a:xfrm>
          <a:prstGeom prst="roundRect">
            <a:avLst>
              <a:gd name="adj" fmla="val 11148"/>
            </a:avLst>
          </a:prstGeom>
          <a:solidFill>
            <a:srgbClr val="34D399"/>
          </a:solidFill>
          <a:ln/>
        </p:spPr>
        <p:txBody>
          <a:bodyPr/>
          <a:lstStyle/>
          <a:p>
            <a:endParaRPr lang="en-IN"/>
          </a:p>
        </p:txBody>
      </p:sp>
      <p:sp>
        <p:nvSpPr>
          <p:cNvPr id="15" name="Text 13"/>
          <p:cNvSpPr/>
          <p:nvPr/>
        </p:nvSpPr>
        <p:spPr>
          <a:xfrm>
            <a:off x="7168971" y="1265535"/>
            <a:ext cx="4660783" cy="319980"/>
          </a:xfrm>
          <a:prstGeom prst="rect">
            <a:avLst/>
          </a:prstGeom>
          <a:noFill/>
          <a:ln/>
        </p:spPr>
        <p:txBody>
          <a:bodyPr wrap="none" lIns="0" tIns="0" rIns="0" bIns="0" rtlCol="0" anchor="t"/>
          <a:lstStyle/>
          <a:p>
            <a:pPr marL="0" indent="0" algn="ctr">
              <a:lnSpc>
                <a:spcPct val="117000"/>
              </a:lnSpc>
              <a:buNone/>
            </a:pPr>
            <a:r>
              <a:rPr lang="en-US" sz="1800" b="1" kern="100" spc="-28" dirty="0">
                <a:solidFill>
                  <a:srgbClr val="0B1220"/>
                </a:solidFill>
                <a:latin typeface="Inter Bold" pitchFamily="34" charset="0"/>
                <a:ea typeface="Inter Bold" pitchFamily="34" charset="-122"/>
                <a:cs typeface="Inter Bold" pitchFamily="34" charset="-120"/>
              </a:rPr>
              <a:t>PHASE 2B</a:t>
            </a:r>
            <a:endParaRPr lang="en-US" sz="1800" dirty="0"/>
          </a:p>
        </p:txBody>
      </p:sp>
      <p:sp>
        <p:nvSpPr>
          <p:cNvPr id="16" name="Text 14"/>
          <p:cNvSpPr/>
          <p:nvPr/>
        </p:nvSpPr>
        <p:spPr>
          <a:xfrm>
            <a:off x="7168971" y="1744266"/>
            <a:ext cx="4660783" cy="266700"/>
          </a:xfrm>
          <a:prstGeom prst="rect">
            <a:avLst/>
          </a:prstGeom>
          <a:noFill/>
          <a:ln/>
        </p:spPr>
        <p:txBody>
          <a:bodyPr wrap="none" lIns="0" tIns="0" rIns="0" bIns="0" rtlCol="0" anchor="t"/>
          <a:lstStyle/>
          <a:p>
            <a:pPr marL="0" indent="0" algn="ctr">
              <a:lnSpc>
                <a:spcPct val="117000"/>
              </a:lnSpc>
              <a:buNone/>
            </a:pPr>
            <a:r>
              <a:rPr lang="en-US" sz="1500" b="1" kern="100" spc="-28" dirty="0">
                <a:solidFill>
                  <a:srgbClr val="0B1220"/>
                </a:solidFill>
                <a:latin typeface="Inter Bold" pitchFamily="34" charset="0"/>
                <a:ea typeface="Inter Bold" pitchFamily="34" charset="-122"/>
                <a:cs typeface="Inter Bold" pitchFamily="34" charset="-120"/>
              </a:rPr>
              <a:t>SCALING + OPTIMIZATION</a:t>
            </a:r>
            <a:endParaRPr lang="en-US" sz="1500" dirty="0"/>
          </a:p>
        </p:txBody>
      </p:sp>
      <p:sp>
        <p:nvSpPr>
          <p:cNvPr id="17" name="Shape 15"/>
          <p:cNvSpPr/>
          <p:nvPr/>
        </p:nvSpPr>
        <p:spPr>
          <a:xfrm>
            <a:off x="3543211" y="3670300"/>
            <a:ext cx="152396" cy="25400"/>
          </a:xfrm>
          <a:prstGeom prst="roundRect">
            <a:avLst>
              <a:gd name="adj" fmla="val 49999"/>
            </a:avLst>
          </a:prstGeom>
          <a:solidFill>
            <a:srgbClr val="94A3B8"/>
          </a:solidFill>
          <a:ln/>
        </p:spPr>
        <p:txBody>
          <a:bodyPr/>
          <a:lstStyle/>
          <a:p>
            <a:endParaRPr lang="en-IN"/>
          </a:p>
        </p:txBody>
      </p:sp>
      <p:sp>
        <p:nvSpPr>
          <p:cNvPr id="18" name="Shape 16"/>
          <p:cNvSpPr/>
          <p:nvPr/>
        </p:nvSpPr>
        <p:spPr>
          <a:xfrm>
            <a:off x="3695608" y="36322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19" name="Shape 17"/>
          <p:cNvSpPr/>
          <p:nvPr/>
        </p:nvSpPr>
        <p:spPr>
          <a:xfrm>
            <a:off x="7149921" y="3670300"/>
            <a:ext cx="152396" cy="25400"/>
          </a:xfrm>
          <a:prstGeom prst="roundRect">
            <a:avLst>
              <a:gd name="adj" fmla="val 49999"/>
            </a:avLst>
          </a:prstGeom>
          <a:solidFill>
            <a:srgbClr val="94A3B8"/>
          </a:solidFill>
          <a:ln/>
        </p:spPr>
        <p:txBody>
          <a:bodyPr/>
          <a:lstStyle/>
          <a:p>
            <a:endParaRPr lang="en-IN"/>
          </a:p>
        </p:txBody>
      </p:sp>
      <p:sp>
        <p:nvSpPr>
          <p:cNvPr id="20" name="Shape 18"/>
          <p:cNvSpPr/>
          <p:nvPr/>
        </p:nvSpPr>
        <p:spPr>
          <a:xfrm>
            <a:off x="7302317" y="3632200"/>
            <a:ext cx="101597" cy="101600"/>
          </a:xfrm>
          <a:custGeom>
            <a:avLst/>
            <a:gdLst/>
            <a:ahLst/>
            <a:cxnLst/>
            <a:rect l="l" t="t" r="r" b="b"/>
            <a:pathLst>
              <a:path w="101597" h="101600">
                <a:moveTo>
                  <a:pt x="101597" y="50800"/>
                </a:moveTo>
                <a:lnTo>
                  <a:pt x="0" y="0"/>
                </a:lnTo>
                <a:lnTo>
                  <a:pt x="0" y="101600"/>
                </a:lnTo>
                <a:close/>
              </a:path>
            </a:pathLst>
          </a:custGeom>
          <a:solidFill>
            <a:srgbClr val="94A3B8"/>
          </a:solidFill>
          <a:ln/>
        </p:spPr>
        <p:txBody>
          <a:bodyPr/>
          <a:lstStyle/>
          <a:p>
            <a:endParaRPr lang="en-IN"/>
          </a:p>
        </p:txBody>
      </p:sp>
      <p:sp>
        <p:nvSpPr>
          <p:cNvPr id="21" name="Shape 19"/>
          <p:cNvSpPr/>
          <p:nvPr/>
        </p:nvSpPr>
        <p:spPr>
          <a:xfrm>
            <a:off x="761981" y="2209800"/>
            <a:ext cx="2616135" cy="1092200"/>
          </a:xfrm>
          <a:prstGeom prst="roundRect">
            <a:avLst>
              <a:gd name="adj" fmla="val 8037"/>
            </a:avLst>
          </a:prstGeom>
          <a:solidFill>
            <a:srgbClr val="0B1220"/>
          </a:solidFill>
          <a:ln w="12700">
            <a:solidFill>
              <a:srgbClr val="22D3EE"/>
            </a:solidFill>
            <a:prstDash val="solid"/>
          </a:ln>
        </p:spPr>
        <p:txBody>
          <a:bodyPr/>
          <a:lstStyle/>
          <a:p>
            <a:endParaRPr lang="en-IN"/>
          </a:p>
        </p:txBody>
      </p:sp>
      <p:sp>
        <p:nvSpPr>
          <p:cNvPr id="22" name="Text 20"/>
          <p:cNvSpPr/>
          <p:nvPr/>
        </p:nvSpPr>
        <p:spPr>
          <a:xfrm>
            <a:off x="514337" y="2578100"/>
            <a:ext cx="3111422" cy="355600"/>
          </a:xfrm>
          <a:prstGeom prst="rect">
            <a:avLst/>
          </a:prstGeom>
          <a:noFill/>
          <a:ln/>
        </p:spPr>
        <p:txBody>
          <a:bodyPr wrap="none" lIns="0" tIns="0" rIns="0" bIns="0" rtlCol="0" anchor="t"/>
          <a:lstStyle/>
          <a:p>
            <a:pPr marL="0" indent="0" algn="ctr">
              <a:lnSpc>
                <a:spcPct val="117000"/>
              </a:lnSpc>
              <a:buNone/>
            </a:pPr>
            <a:r>
              <a:rPr lang="en-US" sz="2000" b="1" kern="100" spc="-28" dirty="0">
                <a:solidFill>
                  <a:srgbClr val="F1F5F9"/>
                </a:solidFill>
                <a:latin typeface="Inter Bold" pitchFamily="34" charset="0"/>
                <a:ea typeface="Inter Bold" pitchFamily="34" charset="-122"/>
                <a:cs typeface="Inter Bold" pitchFamily="34" charset="-120"/>
              </a:rPr>
              <a:t>Spectrogram U-Net</a:t>
            </a:r>
            <a:endParaRPr lang="en-US" sz="2000" dirty="0"/>
          </a:p>
        </p:txBody>
      </p:sp>
      <p:sp>
        <p:nvSpPr>
          <p:cNvPr id="23" name="Shape 21"/>
          <p:cNvSpPr/>
          <p:nvPr/>
        </p:nvSpPr>
        <p:spPr>
          <a:xfrm>
            <a:off x="761981" y="3479800"/>
            <a:ext cx="2616135" cy="1092200"/>
          </a:xfrm>
          <a:prstGeom prst="roundRect">
            <a:avLst>
              <a:gd name="adj" fmla="val 8037"/>
            </a:avLst>
          </a:prstGeom>
          <a:solidFill>
            <a:srgbClr val="0B1220"/>
          </a:solidFill>
          <a:ln w="12700">
            <a:solidFill>
              <a:srgbClr val="22D3EE"/>
            </a:solidFill>
            <a:prstDash val="solid"/>
          </a:ln>
        </p:spPr>
        <p:txBody>
          <a:bodyPr/>
          <a:lstStyle/>
          <a:p>
            <a:endParaRPr lang="en-IN"/>
          </a:p>
        </p:txBody>
      </p:sp>
      <p:sp>
        <p:nvSpPr>
          <p:cNvPr id="24" name="Text 22"/>
          <p:cNvSpPr/>
          <p:nvPr/>
        </p:nvSpPr>
        <p:spPr>
          <a:xfrm>
            <a:off x="514337" y="3848100"/>
            <a:ext cx="3111422" cy="355600"/>
          </a:xfrm>
          <a:prstGeom prst="rect">
            <a:avLst/>
          </a:prstGeom>
          <a:noFill/>
          <a:ln/>
        </p:spPr>
        <p:txBody>
          <a:bodyPr wrap="none" lIns="0" tIns="0" rIns="0" bIns="0" rtlCol="0" anchor="t"/>
          <a:lstStyle/>
          <a:p>
            <a:pPr marL="0" indent="0" algn="ctr">
              <a:lnSpc>
                <a:spcPct val="117000"/>
              </a:lnSpc>
              <a:buNone/>
            </a:pPr>
            <a:r>
              <a:rPr lang="en-US" sz="2000" b="1" kern="100" spc="-28" dirty="0">
                <a:solidFill>
                  <a:srgbClr val="F1F5F9"/>
                </a:solidFill>
                <a:latin typeface="Inter Bold" pitchFamily="34" charset="0"/>
                <a:ea typeface="Inter Bold" pitchFamily="34" charset="-122"/>
                <a:cs typeface="Inter Bold" pitchFamily="34" charset="-120"/>
              </a:rPr>
              <a:t>Conv-TasNet</a:t>
            </a:r>
            <a:endParaRPr lang="en-US" sz="2000" dirty="0"/>
          </a:p>
        </p:txBody>
      </p:sp>
      <p:sp>
        <p:nvSpPr>
          <p:cNvPr id="25" name="Shape 23"/>
          <p:cNvSpPr/>
          <p:nvPr/>
        </p:nvSpPr>
        <p:spPr>
          <a:xfrm>
            <a:off x="761981" y="4749800"/>
            <a:ext cx="2616135" cy="1092200"/>
          </a:xfrm>
          <a:prstGeom prst="roundRect">
            <a:avLst>
              <a:gd name="adj" fmla="val 8037"/>
            </a:avLst>
          </a:prstGeom>
          <a:solidFill>
            <a:srgbClr val="0B1220"/>
          </a:solidFill>
          <a:ln w="12700">
            <a:solidFill>
              <a:srgbClr val="22D3EE"/>
            </a:solidFill>
            <a:prstDash val="solid"/>
          </a:ln>
        </p:spPr>
        <p:txBody>
          <a:bodyPr/>
          <a:lstStyle/>
          <a:p>
            <a:endParaRPr lang="en-IN"/>
          </a:p>
        </p:txBody>
      </p:sp>
      <p:sp>
        <p:nvSpPr>
          <p:cNvPr id="26" name="Text 24"/>
          <p:cNvSpPr/>
          <p:nvPr/>
        </p:nvSpPr>
        <p:spPr>
          <a:xfrm>
            <a:off x="514337" y="5118100"/>
            <a:ext cx="3111422" cy="355600"/>
          </a:xfrm>
          <a:prstGeom prst="rect">
            <a:avLst/>
          </a:prstGeom>
          <a:noFill/>
          <a:ln/>
        </p:spPr>
        <p:txBody>
          <a:bodyPr wrap="none" lIns="0" tIns="0" rIns="0" bIns="0" rtlCol="0" anchor="t"/>
          <a:lstStyle/>
          <a:p>
            <a:pPr marL="0" indent="0" algn="ctr">
              <a:lnSpc>
                <a:spcPct val="117000"/>
              </a:lnSpc>
              <a:buNone/>
            </a:pPr>
            <a:r>
              <a:rPr lang="en-US" sz="2000" b="1" kern="100" spc="-28" dirty="0">
                <a:solidFill>
                  <a:srgbClr val="F1F5F9"/>
                </a:solidFill>
                <a:latin typeface="Inter Bold" pitchFamily="34" charset="0"/>
                <a:ea typeface="Inter Bold" pitchFamily="34" charset="-122"/>
                <a:cs typeface="Inter Bold" pitchFamily="34" charset="-120"/>
              </a:rPr>
              <a:t>Environmental noise</a:t>
            </a:r>
            <a:endParaRPr lang="en-US" sz="2000" dirty="0"/>
          </a:p>
        </p:txBody>
      </p:sp>
      <p:sp>
        <p:nvSpPr>
          <p:cNvPr id="27" name="Shape 25"/>
          <p:cNvSpPr/>
          <p:nvPr/>
        </p:nvSpPr>
        <p:spPr>
          <a:xfrm>
            <a:off x="3962301" y="2209800"/>
            <a:ext cx="3022524" cy="1092200"/>
          </a:xfrm>
          <a:prstGeom prst="roundRect">
            <a:avLst>
              <a:gd name="adj" fmla="val 8037"/>
            </a:avLst>
          </a:prstGeom>
          <a:solidFill>
            <a:srgbClr val="0B1220"/>
          </a:solidFill>
          <a:ln w="12700">
            <a:solidFill>
              <a:srgbClr val="FBBF24"/>
            </a:solidFill>
            <a:prstDash val="solid"/>
          </a:ln>
        </p:spPr>
        <p:txBody>
          <a:bodyPr/>
          <a:lstStyle/>
          <a:p>
            <a:endParaRPr lang="en-IN"/>
          </a:p>
        </p:txBody>
      </p:sp>
      <p:sp>
        <p:nvSpPr>
          <p:cNvPr id="28" name="Text 26"/>
          <p:cNvSpPr/>
          <p:nvPr/>
        </p:nvSpPr>
        <p:spPr>
          <a:xfrm>
            <a:off x="3714657" y="2249785"/>
            <a:ext cx="3517812" cy="568920"/>
          </a:xfrm>
          <a:prstGeom prst="rect">
            <a:avLst/>
          </a:prstGeom>
          <a:noFill/>
          <a:ln/>
        </p:spPr>
        <p:txBody>
          <a:bodyPr wrap="none" lIns="0" tIns="0" rIns="0" bIns="0" rtlCol="0" anchor="t"/>
          <a:lstStyle/>
          <a:p>
            <a:pPr marL="0" indent="0" algn="ctr">
              <a:lnSpc>
                <a:spcPct val="117000"/>
              </a:lnSpc>
              <a:buNone/>
            </a:pPr>
            <a:r>
              <a:rPr lang="en-US" sz="3200" b="1" kern="100" spc="-28" dirty="0">
                <a:solidFill>
                  <a:srgbClr val="FBBF24"/>
                </a:solidFill>
                <a:latin typeface="Inter Bold" pitchFamily="34" charset="0"/>
                <a:ea typeface="Inter Bold" pitchFamily="34" charset="-122"/>
                <a:cs typeface="Inter Bold" pitchFamily="34" charset="-120"/>
              </a:rPr>
              <a:t>2,700</a:t>
            </a:r>
            <a:endParaRPr lang="en-US" sz="3200" dirty="0"/>
          </a:p>
        </p:txBody>
      </p:sp>
      <p:sp>
        <p:nvSpPr>
          <p:cNvPr id="29" name="Text 27"/>
          <p:cNvSpPr/>
          <p:nvPr/>
        </p:nvSpPr>
        <p:spPr>
          <a:xfrm>
            <a:off x="3714657" y="2977455"/>
            <a:ext cx="3517812"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94A3B8"/>
                </a:solidFill>
                <a:latin typeface="Inter" pitchFamily="34" charset="0"/>
                <a:ea typeface="Inter" pitchFamily="34" charset="-122"/>
                <a:cs typeface="Inter" pitchFamily="34" charset="-120"/>
              </a:rPr>
              <a:t>training pairs</a:t>
            </a:r>
            <a:endParaRPr lang="en-US" sz="1600" dirty="0"/>
          </a:p>
        </p:txBody>
      </p:sp>
      <p:sp>
        <p:nvSpPr>
          <p:cNvPr id="30" name="Shape 28"/>
          <p:cNvSpPr/>
          <p:nvPr/>
        </p:nvSpPr>
        <p:spPr>
          <a:xfrm>
            <a:off x="3962301" y="3479800"/>
            <a:ext cx="3022524" cy="1092200"/>
          </a:xfrm>
          <a:prstGeom prst="roundRect">
            <a:avLst>
              <a:gd name="adj" fmla="val 8037"/>
            </a:avLst>
          </a:prstGeom>
          <a:solidFill>
            <a:srgbClr val="0B1220"/>
          </a:solidFill>
          <a:ln w="12700">
            <a:solidFill>
              <a:srgbClr val="FBBF24"/>
            </a:solidFill>
            <a:prstDash val="solid"/>
          </a:ln>
        </p:spPr>
        <p:txBody>
          <a:bodyPr/>
          <a:lstStyle/>
          <a:p>
            <a:endParaRPr lang="en-IN"/>
          </a:p>
        </p:txBody>
      </p:sp>
      <p:sp>
        <p:nvSpPr>
          <p:cNvPr id="31" name="Text 29"/>
          <p:cNvSpPr/>
          <p:nvPr/>
        </p:nvSpPr>
        <p:spPr>
          <a:xfrm>
            <a:off x="3714657" y="3519785"/>
            <a:ext cx="3517812" cy="568920"/>
          </a:xfrm>
          <a:prstGeom prst="rect">
            <a:avLst/>
          </a:prstGeom>
          <a:noFill/>
          <a:ln/>
        </p:spPr>
        <p:txBody>
          <a:bodyPr wrap="none" lIns="0" tIns="0" rIns="0" bIns="0" rtlCol="0" anchor="t"/>
          <a:lstStyle/>
          <a:p>
            <a:pPr marL="0" indent="0" algn="ctr">
              <a:lnSpc>
                <a:spcPct val="117000"/>
              </a:lnSpc>
              <a:buNone/>
            </a:pPr>
            <a:r>
              <a:rPr lang="en-US" sz="3200" b="1" kern="100" spc="-28" dirty="0">
                <a:solidFill>
                  <a:srgbClr val="FBBF24"/>
                </a:solidFill>
                <a:latin typeface="Inter Bold" pitchFamily="34" charset="0"/>
                <a:ea typeface="Inter Bold" pitchFamily="34" charset="-122"/>
                <a:cs typeface="Inter Bold" pitchFamily="34" charset="-120"/>
              </a:rPr>
              <a:t>1.4M</a:t>
            </a:r>
            <a:endParaRPr lang="en-US" sz="3200" dirty="0"/>
          </a:p>
        </p:txBody>
      </p:sp>
      <p:sp>
        <p:nvSpPr>
          <p:cNvPr id="32" name="Text 30"/>
          <p:cNvSpPr/>
          <p:nvPr/>
        </p:nvSpPr>
        <p:spPr>
          <a:xfrm>
            <a:off x="3714657" y="4247455"/>
            <a:ext cx="3517812"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94A3B8"/>
                </a:solidFill>
                <a:latin typeface="Inter" pitchFamily="34" charset="0"/>
                <a:ea typeface="Inter" pitchFamily="34" charset="-122"/>
                <a:cs typeface="Inter" pitchFamily="34" charset="-120"/>
              </a:rPr>
              <a:t>parameters</a:t>
            </a:r>
            <a:endParaRPr lang="en-US" sz="1600" dirty="0"/>
          </a:p>
        </p:txBody>
      </p:sp>
      <p:sp>
        <p:nvSpPr>
          <p:cNvPr id="33" name="Shape 31"/>
          <p:cNvSpPr/>
          <p:nvPr/>
        </p:nvSpPr>
        <p:spPr>
          <a:xfrm>
            <a:off x="3962301" y="4749800"/>
            <a:ext cx="3022524" cy="1092200"/>
          </a:xfrm>
          <a:prstGeom prst="roundRect">
            <a:avLst>
              <a:gd name="adj" fmla="val 8037"/>
            </a:avLst>
          </a:prstGeom>
          <a:solidFill>
            <a:srgbClr val="0B1220"/>
          </a:solidFill>
          <a:ln w="12700">
            <a:solidFill>
              <a:srgbClr val="FBBF24"/>
            </a:solidFill>
            <a:prstDash val="solid"/>
          </a:ln>
        </p:spPr>
        <p:txBody>
          <a:bodyPr/>
          <a:lstStyle/>
          <a:p>
            <a:endParaRPr lang="en-IN"/>
          </a:p>
        </p:txBody>
      </p:sp>
      <p:sp>
        <p:nvSpPr>
          <p:cNvPr id="34" name="Text 32"/>
          <p:cNvSpPr/>
          <p:nvPr/>
        </p:nvSpPr>
        <p:spPr>
          <a:xfrm>
            <a:off x="3714657" y="4789785"/>
            <a:ext cx="3517812" cy="568920"/>
          </a:xfrm>
          <a:prstGeom prst="rect">
            <a:avLst/>
          </a:prstGeom>
          <a:noFill/>
          <a:ln/>
        </p:spPr>
        <p:txBody>
          <a:bodyPr wrap="none" lIns="0" tIns="0" rIns="0" bIns="0" rtlCol="0" anchor="t"/>
          <a:lstStyle/>
          <a:p>
            <a:pPr marL="0" indent="0" algn="ctr">
              <a:lnSpc>
                <a:spcPct val="117000"/>
              </a:lnSpc>
              <a:buNone/>
            </a:pPr>
            <a:r>
              <a:rPr lang="en-US" sz="3200" b="1" kern="100" spc="-28" dirty="0">
                <a:solidFill>
                  <a:srgbClr val="FBBF24"/>
                </a:solidFill>
                <a:latin typeface="Inter Bold" pitchFamily="34" charset="0"/>
                <a:ea typeface="Inter Bold" pitchFamily="34" charset="-122"/>
                <a:cs typeface="Inter Bold" pitchFamily="34" charset="-120"/>
              </a:rPr>
              <a:t>+6.98 dB</a:t>
            </a:r>
            <a:endParaRPr lang="en-US" sz="3200" dirty="0"/>
          </a:p>
        </p:txBody>
      </p:sp>
      <p:sp>
        <p:nvSpPr>
          <p:cNvPr id="35" name="Text 33"/>
          <p:cNvSpPr/>
          <p:nvPr/>
        </p:nvSpPr>
        <p:spPr>
          <a:xfrm>
            <a:off x="3714657" y="5517455"/>
            <a:ext cx="3517812" cy="284460"/>
          </a:xfrm>
          <a:prstGeom prst="rect">
            <a:avLst/>
          </a:prstGeom>
          <a:noFill/>
          <a:ln/>
        </p:spPr>
        <p:txBody>
          <a:bodyPr wrap="none" lIns="0" tIns="0" rIns="0" bIns="0" rtlCol="0" anchor="t"/>
          <a:lstStyle/>
          <a:p>
            <a:pPr marL="0" indent="0" algn="ctr">
              <a:lnSpc>
                <a:spcPct val="117000"/>
              </a:lnSpc>
              <a:buNone/>
            </a:pPr>
            <a:r>
              <a:rPr lang="en-US" sz="1600" kern="100" spc="-28" dirty="0">
                <a:solidFill>
                  <a:srgbClr val="94A3B8"/>
                </a:solidFill>
                <a:latin typeface="Inter" pitchFamily="34" charset="0"/>
                <a:ea typeface="Inter" pitchFamily="34" charset="-122"/>
                <a:cs typeface="Inter" pitchFamily="34" charset="-120"/>
              </a:rPr>
              <a:t>test SI-SDRi</a:t>
            </a:r>
            <a:endParaRPr lang="en-US" sz="1600" dirty="0"/>
          </a:p>
        </p:txBody>
      </p:sp>
      <p:sp>
        <p:nvSpPr>
          <p:cNvPr id="36" name="Shape 34"/>
          <p:cNvSpPr/>
          <p:nvPr/>
        </p:nvSpPr>
        <p:spPr>
          <a:xfrm>
            <a:off x="7569011" y="2209800"/>
            <a:ext cx="1866853" cy="1092200"/>
          </a:xfrm>
          <a:prstGeom prst="roundRect">
            <a:avLst>
              <a:gd name="adj" fmla="val 8037"/>
            </a:avLst>
          </a:prstGeom>
          <a:solidFill>
            <a:srgbClr val="0B1220"/>
          </a:solidFill>
          <a:ln w="12700">
            <a:solidFill>
              <a:srgbClr val="34D399"/>
            </a:solidFill>
            <a:prstDash val="solid"/>
          </a:ln>
        </p:spPr>
        <p:txBody>
          <a:bodyPr/>
          <a:lstStyle/>
          <a:p>
            <a:endParaRPr lang="en-IN"/>
          </a:p>
        </p:txBody>
      </p:sp>
      <p:sp>
        <p:nvSpPr>
          <p:cNvPr id="37" name="Text 35"/>
          <p:cNvSpPr/>
          <p:nvPr/>
        </p:nvSpPr>
        <p:spPr>
          <a:xfrm>
            <a:off x="7321367" y="2356445"/>
            <a:ext cx="2362141" cy="373360"/>
          </a:xfrm>
          <a:prstGeom prst="rect">
            <a:avLst/>
          </a:prstGeom>
          <a:noFill/>
          <a:ln/>
        </p:spPr>
        <p:txBody>
          <a:bodyPr wrap="none" lIns="0" tIns="0" rIns="0" bIns="0" rtlCol="0" anchor="t"/>
          <a:lstStyle/>
          <a:p>
            <a:pPr marL="0" indent="0" algn="ctr">
              <a:lnSpc>
                <a:spcPct val="117000"/>
              </a:lnSpc>
              <a:buNone/>
            </a:pPr>
            <a:r>
              <a:rPr lang="en-US" sz="2100" b="1" kern="100" spc="-28" dirty="0">
                <a:solidFill>
                  <a:srgbClr val="34D399"/>
                </a:solidFill>
                <a:latin typeface="Inter Bold" pitchFamily="34" charset="0"/>
                <a:ea typeface="Inter Bold" pitchFamily="34" charset="-122"/>
                <a:cs typeface="Inter Bold" pitchFamily="34" charset="-120"/>
              </a:rPr>
              <a:t>14,269</a:t>
            </a:r>
            <a:endParaRPr lang="en-US" sz="2100" dirty="0"/>
          </a:p>
        </p:txBody>
      </p:sp>
      <p:sp>
        <p:nvSpPr>
          <p:cNvPr id="38" name="Text 36"/>
          <p:cNvSpPr/>
          <p:nvPr/>
        </p:nvSpPr>
        <p:spPr>
          <a:xfrm>
            <a:off x="7321367" y="2888555"/>
            <a:ext cx="2362141"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training pairs</a:t>
            </a:r>
            <a:endParaRPr lang="en-US" sz="1500" dirty="0"/>
          </a:p>
        </p:txBody>
      </p:sp>
      <p:sp>
        <p:nvSpPr>
          <p:cNvPr id="39" name="Shape 37"/>
          <p:cNvSpPr/>
          <p:nvPr/>
        </p:nvSpPr>
        <p:spPr>
          <a:xfrm>
            <a:off x="9588260" y="2209800"/>
            <a:ext cx="1866853" cy="1092200"/>
          </a:xfrm>
          <a:prstGeom prst="roundRect">
            <a:avLst>
              <a:gd name="adj" fmla="val 8037"/>
            </a:avLst>
          </a:prstGeom>
          <a:solidFill>
            <a:srgbClr val="0B1220"/>
          </a:solidFill>
          <a:ln w="12700">
            <a:solidFill>
              <a:srgbClr val="34D399"/>
            </a:solidFill>
            <a:prstDash val="solid"/>
          </a:ln>
        </p:spPr>
        <p:txBody>
          <a:bodyPr/>
          <a:lstStyle/>
          <a:p>
            <a:endParaRPr lang="en-IN"/>
          </a:p>
        </p:txBody>
      </p:sp>
      <p:sp>
        <p:nvSpPr>
          <p:cNvPr id="40" name="Text 38"/>
          <p:cNvSpPr/>
          <p:nvPr/>
        </p:nvSpPr>
        <p:spPr>
          <a:xfrm>
            <a:off x="9340616" y="2356445"/>
            <a:ext cx="2362141" cy="373360"/>
          </a:xfrm>
          <a:prstGeom prst="rect">
            <a:avLst/>
          </a:prstGeom>
          <a:noFill/>
          <a:ln/>
        </p:spPr>
        <p:txBody>
          <a:bodyPr wrap="none" lIns="0" tIns="0" rIns="0" bIns="0" rtlCol="0" anchor="t"/>
          <a:lstStyle/>
          <a:p>
            <a:pPr marL="0" indent="0" algn="ctr">
              <a:lnSpc>
                <a:spcPct val="117000"/>
              </a:lnSpc>
              <a:buNone/>
            </a:pPr>
            <a:r>
              <a:rPr lang="en-US" sz="2100" b="1" kern="100" spc="-28" dirty="0">
                <a:solidFill>
                  <a:srgbClr val="34D399"/>
                </a:solidFill>
                <a:latin typeface="Inter Bold" pitchFamily="34" charset="0"/>
                <a:ea typeface="Inter Bold" pitchFamily="34" charset="-122"/>
                <a:cs typeface="Inter Bold" pitchFamily="34" charset="-120"/>
              </a:rPr>
              <a:t>3.4M</a:t>
            </a:r>
            <a:endParaRPr lang="en-US" sz="2100" dirty="0"/>
          </a:p>
        </p:txBody>
      </p:sp>
      <p:sp>
        <p:nvSpPr>
          <p:cNvPr id="41" name="Text 39"/>
          <p:cNvSpPr/>
          <p:nvPr/>
        </p:nvSpPr>
        <p:spPr>
          <a:xfrm>
            <a:off x="9340616" y="2888555"/>
            <a:ext cx="2362141"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parameters</a:t>
            </a:r>
            <a:endParaRPr lang="en-US" sz="1500" dirty="0"/>
          </a:p>
        </p:txBody>
      </p:sp>
      <p:sp>
        <p:nvSpPr>
          <p:cNvPr id="42" name="Shape 40"/>
          <p:cNvSpPr/>
          <p:nvPr/>
        </p:nvSpPr>
        <p:spPr>
          <a:xfrm>
            <a:off x="7569011" y="3479800"/>
            <a:ext cx="1866853" cy="1092200"/>
          </a:xfrm>
          <a:prstGeom prst="roundRect">
            <a:avLst>
              <a:gd name="adj" fmla="val 8037"/>
            </a:avLst>
          </a:prstGeom>
          <a:solidFill>
            <a:srgbClr val="0B1220"/>
          </a:solidFill>
          <a:ln w="12700">
            <a:solidFill>
              <a:srgbClr val="34D399"/>
            </a:solidFill>
            <a:prstDash val="solid"/>
          </a:ln>
        </p:spPr>
        <p:txBody>
          <a:bodyPr/>
          <a:lstStyle/>
          <a:p>
            <a:endParaRPr lang="en-IN"/>
          </a:p>
        </p:txBody>
      </p:sp>
      <p:sp>
        <p:nvSpPr>
          <p:cNvPr id="43" name="Text 41"/>
          <p:cNvSpPr/>
          <p:nvPr/>
        </p:nvSpPr>
        <p:spPr>
          <a:xfrm>
            <a:off x="7321367" y="3626445"/>
            <a:ext cx="2362141" cy="373360"/>
          </a:xfrm>
          <a:prstGeom prst="rect">
            <a:avLst/>
          </a:prstGeom>
          <a:noFill/>
          <a:ln/>
        </p:spPr>
        <p:txBody>
          <a:bodyPr wrap="none" lIns="0" tIns="0" rIns="0" bIns="0" rtlCol="0" anchor="t"/>
          <a:lstStyle/>
          <a:p>
            <a:pPr marL="0" indent="0" algn="ctr">
              <a:lnSpc>
                <a:spcPct val="117000"/>
              </a:lnSpc>
              <a:buNone/>
            </a:pPr>
            <a:r>
              <a:rPr lang="en-US" sz="2100" b="1" kern="100" spc="-28" dirty="0">
                <a:solidFill>
                  <a:srgbClr val="34D399"/>
                </a:solidFill>
                <a:latin typeface="Inter Bold" pitchFamily="34" charset="0"/>
                <a:ea typeface="Inter Bold" pitchFamily="34" charset="-122"/>
                <a:cs typeface="Inter Bold" pitchFamily="34" charset="-120"/>
              </a:rPr>
              <a:t>FP16/AMP</a:t>
            </a:r>
            <a:endParaRPr lang="en-US" sz="2100" dirty="0"/>
          </a:p>
        </p:txBody>
      </p:sp>
      <p:sp>
        <p:nvSpPr>
          <p:cNvPr id="44" name="Text 42"/>
          <p:cNvSpPr/>
          <p:nvPr/>
        </p:nvSpPr>
        <p:spPr>
          <a:xfrm>
            <a:off x="7321367" y="4158555"/>
            <a:ext cx="2362141"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mixed precision</a:t>
            </a:r>
            <a:endParaRPr lang="en-US" sz="1500" dirty="0"/>
          </a:p>
        </p:txBody>
      </p:sp>
      <p:sp>
        <p:nvSpPr>
          <p:cNvPr id="45" name="Shape 43"/>
          <p:cNvSpPr/>
          <p:nvPr/>
        </p:nvSpPr>
        <p:spPr>
          <a:xfrm>
            <a:off x="9588260" y="3479800"/>
            <a:ext cx="1866853" cy="1092200"/>
          </a:xfrm>
          <a:prstGeom prst="roundRect">
            <a:avLst>
              <a:gd name="adj" fmla="val 8037"/>
            </a:avLst>
          </a:prstGeom>
          <a:solidFill>
            <a:srgbClr val="0B1220"/>
          </a:solidFill>
          <a:ln w="12700">
            <a:solidFill>
              <a:srgbClr val="34D399"/>
            </a:solidFill>
            <a:prstDash val="solid"/>
          </a:ln>
        </p:spPr>
        <p:txBody>
          <a:bodyPr/>
          <a:lstStyle/>
          <a:p>
            <a:endParaRPr lang="en-IN"/>
          </a:p>
        </p:txBody>
      </p:sp>
      <p:sp>
        <p:nvSpPr>
          <p:cNvPr id="46" name="Text 44"/>
          <p:cNvSpPr/>
          <p:nvPr/>
        </p:nvSpPr>
        <p:spPr>
          <a:xfrm>
            <a:off x="9340616" y="3626445"/>
            <a:ext cx="2362141" cy="373360"/>
          </a:xfrm>
          <a:prstGeom prst="rect">
            <a:avLst/>
          </a:prstGeom>
          <a:noFill/>
          <a:ln/>
        </p:spPr>
        <p:txBody>
          <a:bodyPr wrap="none" lIns="0" tIns="0" rIns="0" bIns="0" rtlCol="0" anchor="t"/>
          <a:lstStyle/>
          <a:p>
            <a:pPr marL="0" indent="0" algn="ctr">
              <a:lnSpc>
                <a:spcPct val="117000"/>
              </a:lnSpc>
              <a:buNone/>
            </a:pPr>
            <a:r>
              <a:rPr lang="en-US" sz="2100" b="1" kern="100" spc="-28" dirty="0">
                <a:solidFill>
                  <a:srgbClr val="34D399"/>
                </a:solidFill>
                <a:latin typeface="Inter Bold" pitchFamily="34" charset="0"/>
                <a:ea typeface="Inter Bold" pitchFamily="34" charset="-122"/>
                <a:cs typeface="Inter Bold" pitchFamily="34" charset="-120"/>
              </a:rPr>
              <a:t>Batch 4 → 12</a:t>
            </a:r>
            <a:endParaRPr lang="en-US" sz="2100" dirty="0"/>
          </a:p>
        </p:txBody>
      </p:sp>
      <p:sp>
        <p:nvSpPr>
          <p:cNvPr id="47" name="Text 45"/>
          <p:cNvSpPr/>
          <p:nvPr/>
        </p:nvSpPr>
        <p:spPr>
          <a:xfrm>
            <a:off x="9340616" y="4158555"/>
            <a:ext cx="2362141"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batch size</a:t>
            </a:r>
            <a:endParaRPr lang="en-US" sz="1500" dirty="0"/>
          </a:p>
        </p:txBody>
      </p:sp>
      <p:sp>
        <p:nvSpPr>
          <p:cNvPr id="48" name="Shape 46"/>
          <p:cNvSpPr/>
          <p:nvPr/>
        </p:nvSpPr>
        <p:spPr>
          <a:xfrm>
            <a:off x="7569011" y="4749800"/>
            <a:ext cx="1866853" cy="1092200"/>
          </a:xfrm>
          <a:prstGeom prst="roundRect">
            <a:avLst>
              <a:gd name="adj" fmla="val 8037"/>
            </a:avLst>
          </a:prstGeom>
          <a:solidFill>
            <a:srgbClr val="0B1220"/>
          </a:solidFill>
          <a:ln w="12700">
            <a:solidFill>
              <a:srgbClr val="34D399"/>
            </a:solidFill>
            <a:prstDash val="solid"/>
          </a:ln>
        </p:spPr>
        <p:txBody>
          <a:bodyPr/>
          <a:lstStyle/>
          <a:p>
            <a:endParaRPr lang="en-IN"/>
          </a:p>
        </p:txBody>
      </p:sp>
      <p:sp>
        <p:nvSpPr>
          <p:cNvPr id="49" name="Text 47"/>
          <p:cNvSpPr/>
          <p:nvPr/>
        </p:nvSpPr>
        <p:spPr>
          <a:xfrm>
            <a:off x="7321367" y="4896445"/>
            <a:ext cx="2362141" cy="373360"/>
          </a:xfrm>
          <a:prstGeom prst="rect">
            <a:avLst/>
          </a:prstGeom>
          <a:noFill/>
          <a:ln/>
        </p:spPr>
        <p:txBody>
          <a:bodyPr wrap="none" lIns="0" tIns="0" rIns="0" bIns="0" rtlCol="0" anchor="t"/>
          <a:lstStyle/>
          <a:p>
            <a:pPr marL="0" indent="0" algn="ctr">
              <a:lnSpc>
                <a:spcPct val="117000"/>
              </a:lnSpc>
              <a:buNone/>
            </a:pPr>
            <a:r>
              <a:rPr lang="en-US" sz="2100" b="1" kern="100" spc="-28" dirty="0">
                <a:solidFill>
                  <a:srgbClr val="34D399"/>
                </a:solidFill>
                <a:latin typeface="Inter Bold" pitchFamily="34" charset="0"/>
                <a:ea typeface="Inter Bold" pitchFamily="34" charset="-122"/>
                <a:cs typeface="Inter Bold" pitchFamily="34" charset="-120"/>
              </a:rPr>
              <a:t>Local SSD</a:t>
            </a:r>
            <a:endParaRPr lang="en-US" sz="2100" dirty="0"/>
          </a:p>
        </p:txBody>
      </p:sp>
      <p:sp>
        <p:nvSpPr>
          <p:cNvPr id="50" name="Text 48"/>
          <p:cNvSpPr/>
          <p:nvPr/>
        </p:nvSpPr>
        <p:spPr>
          <a:xfrm>
            <a:off x="7321367" y="5428555"/>
            <a:ext cx="2362141"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data staging</a:t>
            </a:r>
            <a:endParaRPr lang="en-US" sz="1500" dirty="0"/>
          </a:p>
        </p:txBody>
      </p:sp>
      <p:sp>
        <p:nvSpPr>
          <p:cNvPr id="51" name="Shape 49"/>
          <p:cNvSpPr/>
          <p:nvPr/>
        </p:nvSpPr>
        <p:spPr>
          <a:xfrm>
            <a:off x="9588260" y="4749800"/>
            <a:ext cx="1866853" cy="1092200"/>
          </a:xfrm>
          <a:prstGeom prst="roundRect">
            <a:avLst>
              <a:gd name="adj" fmla="val 8037"/>
            </a:avLst>
          </a:prstGeom>
          <a:solidFill>
            <a:srgbClr val="0B1220"/>
          </a:solidFill>
          <a:ln w="12700">
            <a:solidFill>
              <a:srgbClr val="34D399"/>
            </a:solidFill>
            <a:prstDash val="solid"/>
          </a:ln>
        </p:spPr>
        <p:txBody>
          <a:bodyPr/>
          <a:lstStyle/>
          <a:p>
            <a:endParaRPr lang="en-IN"/>
          </a:p>
        </p:txBody>
      </p:sp>
      <p:sp>
        <p:nvSpPr>
          <p:cNvPr id="52" name="Text 50"/>
          <p:cNvSpPr/>
          <p:nvPr/>
        </p:nvSpPr>
        <p:spPr>
          <a:xfrm>
            <a:off x="9340616" y="4896445"/>
            <a:ext cx="2362141" cy="373360"/>
          </a:xfrm>
          <a:prstGeom prst="rect">
            <a:avLst/>
          </a:prstGeom>
          <a:noFill/>
          <a:ln/>
        </p:spPr>
        <p:txBody>
          <a:bodyPr wrap="none" lIns="0" tIns="0" rIns="0" bIns="0" rtlCol="0" anchor="t"/>
          <a:lstStyle/>
          <a:p>
            <a:pPr marL="0" indent="0" algn="ctr">
              <a:lnSpc>
                <a:spcPct val="117000"/>
              </a:lnSpc>
              <a:buNone/>
            </a:pPr>
            <a:r>
              <a:rPr lang="en-US" sz="2100" b="1" kern="100" spc="-28" dirty="0">
                <a:solidFill>
                  <a:srgbClr val="34D399"/>
                </a:solidFill>
                <a:latin typeface="Inter Bold" pitchFamily="34" charset="0"/>
                <a:ea typeface="Inter Bold" pitchFamily="34" charset="-122"/>
                <a:cs typeface="Inter Bold" pitchFamily="34" charset="-120"/>
              </a:rPr>
              <a:t>14 → 4.5 min</a:t>
            </a:r>
            <a:endParaRPr lang="en-US" sz="2100" dirty="0"/>
          </a:p>
        </p:txBody>
      </p:sp>
      <p:sp>
        <p:nvSpPr>
          <p:cNvPr id="53" name="Text 51"/>
          <p:cNvSpPr/>
          <p:nvPr/>
        </p:nvSpPr>
        <p:spPr>
          <a:xfrm>
            <a:off x="9340616" y="5428555"/>
            <a:ext cx="2362141"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per epoch</a:t>
            </a:r>
            <a:endParaRPr lang="en-US" sz="1500" dirty="0"/>
          </a:p>
        </p:txBody>
      </p:sp>
      <p:sp>
        <p:nvSpPr>
          <p:cNvPr id="54" name="Text 52"/>
          <p:cNvSpPr/>
          <p:nvPr/>
        </p:nvSpPr>
        <p:spPr>
          <a:xfrm>
            <a:off x="11338237" y="6527155"/>
            <a:ext cx="676457" cy="174129"/>
          </a:xfrm>
          <a:prstGeom prst="rect">
            <a:avLst/>
          </a:prstGeom>
          <a:noFill/>
          <a:ln/>
        </p:spPr>
        <p:txBody>
          <a:bodyPr wrap="none" lIns="0" tIns="0" rIns="0" bIns="0" rtlCol="0" anchor="ctr"/>
          <a:lstStyle/>
          <a:p>
            <a:pPr marL="0" indent="0" algn="l">
              <a:lnSpc>
                <a:spcPct val="117000"/>
              </a:lnSpc>
              <a:buNone/>
            </a:pPr>
            <a:r>
              <a:rPr lang="en-US" sz="1000" kern="100" spc="-28" dirty="0">
                <a:solidFill>
                  <a:srgbClr val="94A3B8"/>
                </a:solidFill>
                <a:latin typeface="Inter" pitchFamily="34" charset="0"/>
                <a:ea typeface="Inter" pitchFamily="34" charset="-122"/>
                <a:cs typeface="Inter"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09585" y="390128"/>
            <a:ext cx="97530" cy="609600"/>
          </a:xfrm>
          <a:prstGeom prst="rect">
            <a:avLst/>
          </a:prstGeom>
          <a:solidFill>
            <a:srgbClr val="22D3EE"/>
          </a:solidFill>
          <a:ln w="12700">
            <a:solidFill>
              <a:srgbClr val="22D3EE"/>
            </a:solidFill>
            <a:prstDash val="solid"/>
          </a:ln>
        </p:spPr>
        <p:txBody>
          <a:bodyPr/>
          <a:lstStyle/>
          <a:p>
            <a:endParaRPr lang="en-IN"/>
          </a:p>
        </p:txBody>
      </p:sp>
      <p:sp>
        <p:nvSpPr>
          <p:cNvPr id="3" name="Text 1"/>
          <p:cNvSpPr/>
          <p:nvPr/>
        </p:nvSpPr>
        <p:spPr>
          <a:xfrm>
            <a:off x="877766" y="318790"/>
            <a:ext cx="10728652" cy="705048"/>
          </a:xfrm>
          <a:prstGeom prst="rect">
            <a:avLst/>
          </a:prstGeom>
          <a:noFill/>
          <a:ln/>
        </p:spPr>
        <p:txBody>
          <a:bodyPr wrap="none" lIns="0" tIns="110170" rIns="0" bIns="110170" rtlCol="0" anchor="t"/>
          <a:lstStyle/>
          <a:p>
            <a:pPr marL="0" indent="0" algn="l">
              <a:lnSpc>
                <a:spcPct val="92000"/>
              </a:lnSpc>
              <a:buNone/>
            </a:pPr>
            <a:r>
              <a:rPr lang="en-US" sz="3450" b="1" kern="100" spc="-69" dirty="0">
                <a:solidFill>
                  <a:srgbClr val="F1F5F9"/>
                </a:solidFill>
                <a:latin typeface="Petrona Bold" pitchFamily="34" charset="0"/>
                <a:ea typeface="Petrona Bold" pitchFamily="34" charset="-122"/>
                <a:cs typeface="Petrona Bold" pitchFamily="34" charset="-120"/>
              </a:rPr>
              <a:t>Results Obtained</a:t>
            </a:r>
            <a:endParaRPr lang="en-US" sz="3450" dirty="0"/>
          </a:p>
        </p:txBody>
      </p:sp>
      <p:sp>
        <p:nvSpPr>
          <p:cNvPr id="5" name="Shape 3"/>
          <p:cNvSpPr/>
          <p:nvPr/>
        </p:nvSpPr>
        <p:spPr>
          <a:xfrm>
            <a:off x="609585" y="1219200"/>
            <a:ext cx="3555911" cy="1270000"/>
          </a:xfrm>
          <a:prstGeom prst="roundRect">
            <a:avLst>
              <a:gd name="adj" fmla="val 6912"/>
            </a:avLst>
          </a:prstGeom>
          <a:solidFill>
            <a:srgbClr val="15233B"/>
          </a:solidFill>
          <a:ln w="12700">
            <a:solidFill>
              <a:srgbClr val="22D3EE"/>
            </a:solidFill>
            <a:prstDash val="solid"/>
          </a:ln>
        </p:spPr>
        <p:txBody>
          <a:bodyPr/>
          <a:lstStyle/>
          <a:p>
            <a:endParaRPr lang="en-IN"/>
          </a:p>
        </p:txBody>
      </p:sp>
      <p:sp>
        <p:nvSpPr>
          <p:cNvPr id="6" name="Text 4"/>
          <p:cNvSpPr/>
          <p:nvPr/>
        </p:nvSpPr>
        <p:spPr>
          <a:xfrm>
            <a:off x="361941" y="1285875"/>
            <a:ext cx="4051199" cy="675580"/>
          </a:xfrm>
          <a:prstGeom prst="rect">
            <a:avLst/>
          </a:prstGeom>
          <a:noFill/>
          <a:ln/>
        </p:spPr>
        <p:txBody>
          <a:bodyPr wrap="none" lIns="0" tIns="0" rIns="0" bIns="0" rtlCol="0" anchor="t"/>
          <a:lstStyle/>
          <a:p>
            <a:pPr marL="0" indent="0" algn="ctr">
              <a:lnSpc>
                <a:spcPct val="117000"/>
              </a:lnSpc>
              <a:buNone/>
            </a:pPr>
            <a:r>
              <a:rPr lang="en-US" sz="3800" b="1" kern="100" spc="-28" dirty="0">
                <a:solidFill>
                  <a:srgbClr val="22D3EE"/>
                </a:solidFill>
                <a:latin typeface="Inter Bold" pitchFamily="34" charset="0"/>
                <a:ea typeface="Inter Bold" pitchFamily="34" charset="-122"/>
                <a:cs typeface="Inter Bold" pitchFamily="34" charset="-120"/>
              </a:rPr>
              <a:t>+11.76 dB</a:t>
            </a:r>
            <a:endParaRPr lang="en-US" sz="3800" dirty="0"/>
          </a:p>
        </p:txBody>
      </p:sp>
      <p:sp>
        <p:nvSpPr>
          <p:cNvPr id="7" name="Text 5"/>
          <p:cNvSpPr/>
          <p:nvPr/>
        </p:nvSpPr>
        <p:spPr>
          <a:xfrm>
            <a:off x="361941" y="2120205"/>
            <a:ext cx="4051199" cy="302220"/>
          </a:xfrm>
          <a:prstGeom prst="rect">
            <a:avLst/>
          </a:prstGeom>
          <a:noFill/>
          <a:ln/>
        </p:spPr>
        <p:txBody>
          <a:bodyPr wrap="none" lIns="0" tIns="0" rIns="0" bIns="0" rtlCol="0" anchor="t"/>
          <a:lstStyle/>
          <a:p>
            <a:pPr marL="0" indent="0" algn="ctr">
              <a:lnSpc>
                <a:spcPct val="117000"/>
              </a:lnSpc>
              <a:buNone/>
            </a:pPr>
            <a:r>
              <a:rPr lang="en-US" sz="1700" kern="100" spc="-28" dirty="0">
                <a:solidFill>
                  <a:srgbClr val="F1F5F9"/>
                </a:solidFill>
                <a:latin typeface="Inter" pitchFamily="34" charset="0"/>
                <a:ea typeface="Inter" pitchFamily="34" charset="-122"/>
                <a:cs typeface="Inter" pitchFamily="34" charset="-120"/>
              </a:rPr>
              <a:t>Best Validation SI-SDR</a:t>
            </a:r>
            <a:endParaRPr lang="en-US" sz="1700" dirty="0"/>
          </a:p>
        </p:txBody>
      </p:sp>
      <p:sp>
        <p:nvSpPr>
          <p:cNvPr id="8" name="Shape 6"/>
          <p:cNvSpPr/>
          <p:nvPr/>
        </p:nvSpPr>
        <p:spPr>
          <a:xfrm>
            <a:off x="4317892" y="1219200"/>
            <a:ext cx="3555911" cy="1270000"/>
          </a:xfrm>
          <a:prstGeom prst="roundRect">
            <a:avLst>
              <a:gd name="adj" fmla="val 6912"/>
            </a:avLst>
          </a:prstGeom>
          <a:solidFill>
            <a:srgbClr val="15233B"/>
          </a:solidFill>
          <a:ln w="12700">
            <a:solidFill>
              <a:srgbClr val="E879F9"/>
            </a:solidFill>
            <a:prstDash val="solid"/>
          </a:ln>
        </p:spPr>
        <p:txBody>
          <a:bodyPr/>
          <a:lstStyle/>
          <a:p>
            <a:endParaRPr lang="en-IN"/>
          </a:p>
        </p:txBody>
      </p:sp>
      <p:sp>
        <p:nvSpPr>
          <p:cNvPr id="9" name="Text 7"/>
          <p:cNvSpPr/>
          <p:nvPr/>
        </p:nvSpPr>
        <p:spPr>
          <a:xfrm>
            <a:off x="4070248" y="1285875"/>
            <a:ext cx="4051199" cy="675580"/>
          </a:xfrm>
          <a:prstGeom prst="rect">
            <a:avLst/>
          </a:prstGeom>
          <a:noFill/>
          <a:ln/>
        </p:spPr>
        <p:txBody>
          <a:bodyPr wrap="none" lIns="0" tIns="0" rIns="0" bIns="0" rtlCol="0" anchor="t"/>
          <a:lstStyle/>
          <a:p>
            <a:pPr marL="0" indent="0" algn="ctr">
              <a:lnSpc>
                <a:spcPct val="117000"/>
              </a:lnSpc>
              <a:buNone/>
            </a:pPr>
            <a:r>
              <a:rPr lang="en-US" sz="3800" b="1" kern="100" spc="-28" dirty="0">
                <a:solidFill>
                  <a:srgbClr val="E879F9"/>
                </a:solidFill>
                <a:latin typeface="Inter Bold" pitchFamily="34" charset="0"/>
                <a:ea typeface="Inter Bold" pitchFamily="34" charset="-122"/>
                <a:cs typeface="Inter Bold" pitchFamily="34" charset="-120"/>
              </a:rPr>
              <a:t>+11.06 dB</a:t>
            </a:r>
            <a:endParaRPr lang="en-US" sz="3800" dirty="0"/>
          </a:p>
        </p:txBody>
      </p:sp>
      <p:sp>
        <p:nvSpPr>
          <p:cNvPr id="10" name="Text 8"/>
          <p:cNvSpPr/>
          <p:nvPr/>
        </p:nvSpPr>
        <p:spPr>
          <a:xfrm>
            <a:off x="4070248" y="2120205"/>
            <a:ext cx="4051199" cy="302220"/>
          </a:xfrm>
          <a:prstGeom prst="rect">
            <a:avLst/>
          </a:prstGeom>
          <a:noFill/>
          <a:ln/>
        </p:spPr>
        <p:txBody>
          <a:bodyPr wrap="none" lIns="0" tIns="0" rIns="0" bIns="0" rtlCol="0" anchor="t"/>
          <a:lstStyle/>
          <a:p>
            <a:pPr marL="0" indent="0" algn="ctr">
              <a:lnSpc>
                <a:spcPct val="117000"/>
              </a:lnSpc>
              <a:buNone/>
            </a:pPr>
            <a:r>
              <a:rPr lang="en-US" sz="1700" kern="100" spc="-28" dirty="0">
                <a:solidFill>
                  <a:srgbClr val="F1F5F9"/>
                </a:solidFill>
                <a:latin typeface="Inter" pitchFamily="34" charset="0"/>
                <a:ea typeface="Inter" pitchFamily="34" charset="-122"/>
                <a:cs typeface="Inter" pitchFamily="34" charset="-120"/>
              </a:rPr>
              <a:t>Mean Test SI-SDRi</a:t>
            </a:r>
            <a:endParaRPr lang="en-US" sz="1700" dirty="0"/>
          </a:p>
        </p:txBody>
      </p:sp>
      <p:sp>
        <p:nvSpPr>
          <p:cNvPr id="11" name="Shape 9"/>
          <p:cNvSpPr/>
          <p:nvPr/>
        </p:nvSpPr>
        <p:spPr>
          <a:xfrm>
            <a:off x="8026199" y="1219200"/>
            <a:ext cx="3555911" cy="1270000"/>
          </a:xfrm>
          <a:prstGeom prst="roundRect">
            <a:avLst>
              <a:gd name="adj" fmla="val 6912"/>
            </a:avLst>
          </a:prstGeom>
          <a:solidFill>
            <a:srgbClr val="15233B"/>
          </a:solidFill>
          <a:ln w="12700">
            <a:solidFill>
              <a:srgbClr val="34D399"/>
            </a:solidFill>
            <a:prstDash val="solid"/>
          </a:ln>
        </p:spPr>
        <p:txBody>
          <a:bodyPr/>
          <a:lstStyle/>
          <a:p>
            <a:endParaRPr lang="en-IN"/>
          </a:p>
        </p:txBody>
      </p:sp>
      <p:sp>
        <p:nvSpPr>
          <p:cNvPr id="12" name="Text 10"/>
          <p:cNvSpPr/>
          <p:nvPr/>
        </p:nvSpPr>
        <p:spPr>
          <a:xfrm>
            <a:off x="7778555" y="1285875"/>
            <a:ext cx="4051199" cy="675580"/>
          </a:xfrm>
          <a:prstGeom prst="rect">
            <a:avLst/>
          </a:prstGeom>
          <a:noFill/>
          <a:ln/>
        </p:spPr>
        <p:txBody>
          <a:bodyPr wrap="none" lIns="0" tIns="0" rIns="0" bIns="0" rtlCol="0" anchor="t"/>
          <a:lstStyle/>
          <a:p>
            <a:pPr marL="0" indent="0" algn="ctr">
              <a:lnSpc>
                <a:spcPct val="117000"/>
              </a:lnSpc>
              <a:buNone/>
            </a:pPr>
            <a:r>
              <a:rPr lang="en-US" sz="3800" b="1" kern="100" spc="-28" dirty="0">
                <a:solidFill>
                  <a:srgbClr val="34D399"/>
                </a:solidFill>
                <a:latin typeface="Inter Bold" pitchFamily="34" charset="0"/>
                <a:ea typeface="Inter Bold" pitchFamily="34" charset="-122"/>
                <a:cs typeface="Inter Bold" pitchFamily="34" charset="-120"/>
              </a:rPr>
              <a:t>14 → 4.5 min</a:t>
            </a:r>
            <a:endParaRPr lang="en-US" sz="3800" dirty="0"/>
          </a:p>
        </p:txBody>
      </p:sp>
      <p:sp>
        <p:nvSpPr>
          <p:cNvPr id="13" name="Text 11"/>
          <p:cNvSpPr/>
          <p:nvPr/>
        </p:nvSpPr>
        <p:spPr>
          <a:xfrm>
            <a:off x="7778555" y="2120205"/>
            <a:ext cx="4051199" cy="302220"/>
          </a:xfrm>
          <a:prstGeom prst="rect">
            <a:avLst/>
          </a:prstGeom>
          <a:noFill/>
          <a:ln/>
        </p:spPr>
        <p:txBody>
          <a:bodyPr wrap="none" lIns="0" tIns="0" rIns="0" bIns="0" rtlCol="0" anchor="t"/>
          <a:lstStyle/>
          <a:p>
            <a:pPr marL="0" indent="0" algn="ctr">
              <a:lnSpc>
                <a:spcPct val="117000"/>
              </a:lnSpc>
              <a:buNone/>
            </a:pPr>
            <a:r>
              <a:rPr lang="en-US" sz="1700" kern="100" spc="-28" dirty="0">
                <a:solidFill>
                  <a:srgbClr val="F1F5F9"/>
                </a:solidFill>
                <a:latin typeface="Inter" pitchFamily="34" charset="0"/>
                <a:ea typeface="Inter" pitchFamily="34" charset="-122"/>
                <a:cs typeface="Inter" pitchFamily="34" charset="-120"/>
              </a:rPr>
              <a:t>Training time per epoch</a:t>
            </a:r>
            <a:endParaRPr lang="en-US" sz="1700" dirty="0"/>
          </a:p>
        </p:txBody>
      </p:sp>
      <p:sp>
        <p:nvSpPr>
          <p:cNvPr id="14" name="Text 12"/>
          <p:cNvSpPr/>
          <p:nvPr/>
        </p:nvSpPr>
        <p:spPr>
          <a:xfrm>
            <a:off x="666733" y="2616200"/>
            <a:ext cx="4813180" cy="284460"/>
          </a:xfrm>
          <a:prstGeom prst="rect">
            <a:avLst/>
          </a:prstGeom>
          <a:noFill/>
          <a:ln/>
        </p:spPr>
        <p:txBody>
          <a:bodyPr wrap="none" lIns="0" tIns="0" rIns="0" bIns="0" rtlCol="0" anchor="t"/>
          <a:lstStyle/>
          <a:p>
            <a:pPr marL="0" indent="0" algn="l">
              <a:lnSpc>
                <a:spcPct val="117000"/>
              </a:lnSpc>
              <a:buNone/>
            </a:pPr>
            <a:r>
              <a:rPr lang="en-US" sz="1600" b="1" kern="100" spc="-28" dirty="0">
                <a:solidFill>
                  <a:srgbClr val="22D3EE"/>
                </a:solidFill>
                <a:latin typeface="Inter Bold" pitchFamily="34" charset="0"/>
                <a:ea typeface="Inter Bold" pitchFamily="34" charset="-122"/>
                <a:cs typeface="Inter Bold" pitchFamily="34" charset="-120"/>
              </a:rPr>
              <a:t>Training vs validation SI-SDR (dB)</a:t>
            </a:r>
            <a:endParaRPr lang="en-US" sz="1600" dirty="0"/>
          </a:p>
        </p:txBody>
      </p:sp>
      <p:pic>
        <p:nvPicPr>
          <p:cNvPr id="15" name="Image 0" descr="preencoded.png"/>
          <p:cNvPicPr>
            <a:picLocks noChangeAspect="1"/>
          </p:cNvPicPr>
          <p:nvPr/>
        </p:nvPicPr>
        <p:blipFill>
          <a:blip r:embed="rId3"/>
          <a:stretch>
            <a:fillRect/>
          </a:stretch>
        </p:blipFill>
        <p:spPr>
          <a:xfrm>
            <a:off x="666733" y="3079750"/>
            <a:ext cx="4203595" cy="2774355"/>
          </a:xfrm>
          <a:prstGeom prst="rect">
            <a:avLst/>
          </a:prstGeom>
        </p:spPr>
      </p:pic>
      <p:sp>
        <p:nvSpPr>
          <p:cNvPr id="16" name="Text 13"/>
          <p:cNvSpPr/>
          <p:nvPr/>
        </p:nvSpPr>
        <p:spPr>
          <a:xfrm>
            <a:off x="666733" y="5969000"/>
            <a:ext cx="4203595" cy="497681"/>
          </a:xfrm>
          <a:prstGeom prst="rect">
            <a:avLst/>
          </a:prstGeom>
          <a:noFill/>
          <a:ln/>
        </p:spPr>
        <p:txBody>
          <a:bodyPr wrap="square" lIns="0" tIns="0" rIns="0" bIns="0" rtlCol="0" anchor="t">
            <a:normAutofit/>
          </a:bodyPr>
          <a:lstStyle/>
          <a:p>
            <a:pPr marL="0" indent="0" algn="l">
              <a:lnSpc>
                <a:spcPct val="117000"/>
              </a:lnSpc>
              <a:buNone/>
            </a:pPr>
            <a:r>
              <a:rPr lang="en-US" sz="1400" kern="100" spc="-28" dirty="0">
                <a:solidFill>
                  <a:srgbClr val="94A3B8"/>
                </a:solidFill>
                <a:latin typeface="Inter" pitchFamily="34" charset="0"/>
                <a:ea typeface="Inter" pitchFamily="34" charset="-122"/>
                <a:cs typeface="Inter" pitchFamily="34" charset="-120"/>
              </a:rPr>
              <a:t>Best val +11.76 dB (epoch 48); train +12.99 dB (epoch 49)</a:t>
            </a:r>
            <a:endParaRPr lang="en-US" sz="1400" dirty="0"/>
          </a:p>
        </p:txBody>
      </p:sp>
      <p:sp>
        <p:nvSpPr>
          <p:cNvPr id="17" name="Shape 14"/>
          <p:cNvSpPr/>
          <p:nvPr/>
        </p:nvSpPr>
        <p:spPr>
          <a:xfrm>
            <a:off x="5130672" y="2616200"/>
            <a:ext cx="3149521" cy="1066800"/>
          </a:xfrm>
          <a:prstGeom prst="roundRect">
            <a:avLst>
              <a:gd name="adj" fmla="val 8228"/>
            </a:avLst>
          </a:prstGeom>
          <a:solidFill>
            <a:srgbClr val="15233B"/>
          </a:solidFill>
          <a:ln w="12700">
            <a:solidFill>
              <a:srgbClr val="34D399"/>
            </a:solidFill>
            <a:prstDash val="solid"/>
          </a:ln>
        </p:spPr>
        <p:txBody>
          <a:bodyPr/>
          <a:lstStyle/>
          <a:p>
            <a:endParaRPr lang="en-IN"/>
          </a:p>
        </p:txBody>
      </p:sp>
      <p:sp>
        <p:nvSpPr>
          <p:cNvPr id="18" name="Text 15"/>
          <p:cNvSpPr/>
          <p:nvPr/>
        </p:nvSpPr>
        <p:spPr>
          <a:xfrm>
            <a:off x="4883028" y="2687935"/>
            <a:ext cx="3644809"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PESQ · perceived quality</a:t>
            </a:r>
            <a:endParaRPr lang="en-US" sz="1500" dirty="0"/>
          </a:p>
        </p:txBody>
      </p:sp>
      <p:sp>
        <p:nvSpPr>
          <p:cNvPr id="19" name="Text 16"/>
          <p:cNvSpPr/>
          <p:nvPr/>
        </p:nvSpPr>
        <p:spPr>
          <a:xfrm>
            <a:off x="4883028" y="3113385"/>
            <a:ext cx="3644809" cy="497780"/>
          </a:xfrm>
          <a:prstGeom prst="rect">
            <a:avLst/>
          </a:prstGeom>
          <a:noFill/>
          <a:ln/>
        </p:spPr>
        <p:txBody>
          <a:bodyPr wrap="none" lIns="0" tIns="0" rIns="0" bIns="0" rtlCol="0" anchor="t"/>
          <a:lstStyle/>
          <a:p>
            <a:pPr marL="0" indent="0" algn="ctr">
              <a:lnSpc>
                <a:spcPct val="117000"/>
              </a:lnSpc>
              <a:buNone/>
            </a:pPr>
            <a:r>
              <a:rPr lang="en-US" sz="2800" b="1" kern="100" spc="-28" dirty="0">
                <a:solidFill>
                  <a:srgbClr val="34D399"/>
                </a:solidFill>
                <a:latin typeface="Inter Bold" pitchFamily="34" charset="0"/>
                <a:ea typeface="Inter Bold" pitchFamily="34" charset="-122"/>
                <a:cs typeface="Inter Bold" pitchFamily="34" charset="-120"/>
              </a:rPr>
              <a:t>1.59 → 2.36</a:t>
            </a:r>
            <a:endParaRPr lang="en-US" sz="2800" dirty="0"/>
          </a:p>
        </p:txBody>
      </p:sp>
      <p:sp>
        <p:nvSpPr>
          <p:cNvPr id="20" name="Shape 17"/>
          <p:cNvSpPr/>
          <p:nvPr/>
        </p:nvSpPr>
        <p:spPr>
          <a:xfrm>
            <a:off x="8432589" y="2616200"/>
            <a:ext cx="3149521" cy="1066800"/>
          </a:xfrm>
          <a:prstGeom prst="roundRect">
            <a:avLst>
              <a:gd name="adj" fmla="val 8228"/>
            </a:avLst>
          </a:prstGeom>
          <a:solidFill>
            <a:srgbClr val="15233B"/>
          </a:solidFill>
          <a:ln w="12700">
            <a:solidFill>
              <a:srgbClr val="34D399"/>
            </a:solidFill>
            <a:prstDash val="solid"/>
          </a:ln>
        </p:spPr>
        <p:txBody>
          <a:bodyPr/>
          <a:lstStyle/>
          <a:p>
            <a:endParaRPr lang="en-IN"/>
          </a:p>
        </p:txBody>
      </p:sp>
      <p:sp>
        <p:nvSpPr>
          <p:cNvPr id="21" name="Text 18"/>
          <p:cNvSpPr/>
          <p:nvPr/>
        </p:nvSpPr>
        <p:spPr>
          <a:xfrm>
            <a:off x="8184945" y="2687935"/>
            <a:ext cx="3644809" cy="266700"/>
          </a:xfrm>
          <a:prstGeom prst="rect">
            <a:avLst/>
          </a:prstGeom>
          <a:noFill/>
          <a:ln/>
        </p:spPr>
        <p:txBody>
          <a:bodyPr wrap="none" lIns="0" tIns="0" rIns="0" bIns="0" rtlCol="0" anchor="t"/>
          <a:lstStyle/>
          <a:p>
            <a:pPr marL="0" indent="0" algn="ctr">
              <a:lnSpc>
                <a:spcPct val="117000"/>
              </a:lnSpc>
              <a:buNone/>
            </a:pPr>
            <a:r>
              <a:rPr lang="en-US" sz="1500" kern="100" spc="-28" dirty="0">
                <a:solidFill>
                  <a:srgbClr val="94A3B8"/>
                </a:solidFill>
                <a:latin typeface="Inter" pitchFamily="34" charset="0"/>
                <a:ea typeface="Inter" pitchFamily="34" charset="-122"/>
                <a:cs typeface="Inter" pitchFamily="34" charset="-120"/>
              </a:rPr>
              <a:t>STOI · intelligibility</a:t>
            </a:r>
            <a:endParaRPr lang="en-US" sz="1500" dirty="0"/>
          </a:p>
        </p:txBody>
      </p:sp>
      <p:sp>
        <p:nvSpPr>
          <p:cNvPr id="22" name="Text 19"/>
          <p:cNvSpPr/>
          <p:nvPr/>
        </p:nvSpPr>
        <p:spPr>
          <a:xfrm>
            <a:off x="8184945" y="3113385"/>
            <a:ext cx="3644809" cy="497780"/>
          </a:xfrm>
          <a:prstGeom prst="rect">
            <a:avLst/>
          </a:prstGeom>
          <a:noFill/>
          <a:ln/>
        </p:spPr>
        <p:txBody>
          <a:bodyPr wrap="none" lIns="0" tIns="0" rIns="0" bIns="0" rtlCol="0" anchor="t"/>
          <a:lstStyle/>
          <a:p>
            <a:pPr marL="0" indent="0" algn="ctr">
              <a:lnSpc>
                <a:spcPct val="117000"/>
              </a:lnSpc>
              <a:buNone/>
            </a:pPr>
            <a:r>
              <a:rPr lang="en-US" sz="2800" b="1" kern="100" spc="-28" dirty="0">
                <a:solidFill>
                  <a:srgbClr val="34D399"/>
                </a:solidFill>
                <a:latin typeface="Inter Bold" pitchFamily="34" charset="0"/>
                <a:ea typeface="Inter Bold" pitchFamily="34" charset="-122"/>
                <a:cs typeface="Inter Bold" pitchFamily="34" charset="-120"/>
              </a:rPr>
              <a:t>71.3% → 88.1%</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130672" y="3835400"/>
          <a:ext cx="6451438" cy="1523730"/>
        </p:xfrm>
        <a:graphic>
          <a:graphicData uri="http://schemas.openxmlformats.org/drawingml/2006/table">
            <a:tbl>
              <a:tblPr/>
              <a:tblGrid>
                <a:gridCol w="2838541">
                  <a:extLst>
                    <a:ext uri="{9D8B030D-6E8A-4147-A177-3AD203B41FA5}">
                      <a16:colId xmlns:a16="http://schemas.microsoft.com/office/drawing/2014/main" val="20000"/>
                    </a:ext>
                  </a:extLst>
                </a:gridCol>
                <a:gridCol w="1677306">
                  <a:extLst>
                    <a:ext uri="{9D8B030D-6E8A-4147-A177-3AD203B41FA5}">
                      <a16:colId xmlns:a16="http://schemas.microsoft.com/office/drawing/2014/main" val="20001"/>
                    </a:ext>
                  </a:extLst>
                </a:gridCol>
                <a:gridCol w="1935591">
                  <a:extLst>
                    <a:ext uri="{9D8B030D-6E8A-4147-A177-3AD203B41FA5}">
                      <a16:colId xmlns:a16="http://schemas.microsoft.com/office/drawing/2014/main" val="20002"/>
                    </a:ext>
                  </a:extLst>
                </a:gridCol>
              </a:tblGrid>
              <a:tr h="307273">
                <a:tc>
                  <a:txBody>
                    <a:bodyPr/>
                    <a:lstStyle/>
                    <a:p>
                      <a:pPr marL="0" indent="0" algn="l">
                        <a:buNone/>
                      </a:pPr>
                      <a:r>
                        <a:rPr lang="en-US" sz="1600" b="1" kern="100" spc="-28" dirty="0">
                          <a:solidFill>
                            <a:srgbClr val="0B1220"/>
                          </a:solidFill>
                          <a:latin typeface="Carlito" pitchFamily="34" charset="0"/>
                          <a:ea typeface="Carlito" pitchFamily="34" charset="-122"/>
                          <a:cs typeface="Carlito" pitchFamily="34" charset="-120"/>
                        </a:rPr>
                        <a:t>Phase 2A → 2B</a:t>
                      </a:r>
                      <a:endParaRPr lang="en-US" sz="1600" dirty="0">
                        <a:latin typeface="Carlito" charset="0"/>
                        <a:ea typeface="Carlito" charset="0"/>
                        <a:cs typeface="Carlito" charset="0"/>
                      </a:endParaRPr>
                    </a:p>
                  </a:txBody>
                  <a:tcPr marL="101598" marR="105027"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E879F9"/>
                    </a:solidFill>
                  </a:tcPr>
                </a:tc>
                <a:tc>
                  <a:txBody>
                    <a:bodyPr/>
                    <a:lstStyle/>
                    <a:p>
                      <a:pPr marL="0" indent="0" algn="l">
                        <a:buNone/>
                      </a:pPr>
                      <a:r>
                        <a:rPr lang="en-US" sz="1600" b="1" kern="100" spc="-28" dirty="0">
                          <a:solidFill>
                            <a:srgbClr val="0B1220"/>
                          </a:solidFill>
                          <a:latin typeface="Carlito" pitchFamily="34" charset="0"/>
                          <a:ea typeface="Carlito" pitchFamily="34" charset="-122"/>
                          <a:cs typeface="Carlito" pitchFamily="34" charset="-120"/>
                        </a:rPr>
                        <a:t>2A</a:t>
                      </a:r>
                      <a:endParaRPr lang="en-US" sz="1600" dirty="0">
                        <a:latin typeface="Carlito" charset="0"/>
                        <a:ea typeface="Carlito" charset="0"/>
                        <a:cs typeface="Carlito" charset="0"/>
                      </a:endParaRPr>
                    </a:p>
                  </a:txBody>
                  <a:tcPr marL="101598" marR="105027"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E879F9"/>
                    </a:solidFill>
                  </a:tcPr>
                </a:tc>
                <a:tc>
                  <a:txBody>
                    <a:bodyPr/>
                    <a:lstStyle/>
                    <a:p>
                      <a:pPr marL="0" indent="0" algn="l">
                        <a:buNone/>
                      </a:pPr>
                      <a:r>
                        <a:rPr lang="en-US" sz="1600" b="1" kern="100" spc="-28" dirty="0">
                          <a:solidFill>
                            <a:srgbClr val="0B1220"/>
                          </a:solidFill>
                          <a:latin typeface="Carlito" pitchFamily="34" charset="0"/>
                          <a:ea typeface="Carlito" pitchFamily="34" charset="-122"/>
                          <a:cs typeface="Carlito" pitchFamily="34" charset="-120"/>
                        </a:rPr>
                        <a:t>2B</a:t>
                      </a:r>
                      <a:endParaRPr lang="en-US" sz="1600" dirty="0">
                        <a:latin typeface="Carlito" charset="0"/>
                        <a:ea typeface="Carlito" charset="0"/>
                        <a:cs typeface="Carlito" charset="0"/>
                      </a:endParaRPr>
                    </a:p>
                  </a:txBody>
                  <a:tcPr marL="101598" marR="101598"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E879F9"/>
                    </a:solidFill>
                  </a:tcPr>
                </a:tc>
                <a:extLst>
                  <a:ext uri="{0D108BD9-81ED-4DB2-BD59-A6C34878D82A}">
                    <a16:rowId xmlns:a16="http://schemas.microsoft.com/office/drawing/2014/main" val="10000"/>
                  </a:ext>
                </a:extLst>
              </a:tr>
              <a:tr h="307273">
                <a:tc>
                  <a:txBody>
                    <a:bodyPr/>
                    <a:lstStyle/>
                    <a:p>
                      <a:pPr marL="0" indent="0" algn="l">
                        <a:buNone/>
                      </a:pPr>
                      <a:r>
                        <a:rPr lang="en-US" sz="1600" kern="100" spc="-28" dirty="0">
                          <a:solidFill>
                            <a:srgbClr val="F1F5F9"/>
                          </a:solidFill>
                          <a:latin typeface="Carlito" pitchFamily="34" charset="0"/>
                          <a:ea typeface="Carlito" pitchFamily="34" charset="-122"/>
                          <a:cs typeface="Carlito" pitchFamily="34" charset="-120"/>
                        </a:rPr>
                        <a:t>Training pairs</a:t>
                      </a:r>
                      <a:endParaRPr lang="en-US" sz="1600" dirty="0">
                        <a:latin typeface="Carlito" charset="0"/>
                        <a:ea typeface="Carlito" charset="0"/>
                        <a:cs typeface="Carlito" charset="0"/>
                      </a:endParaRPr>
                    </a:p>
                  </a:txBody>
                  <a:tcPr marL="101598" marR="105027"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600" kern="100" spc="-28" dirty="0">
                          <a:solidFill>
                            <a:srgbClr val="94A3B8"/>
                          </a:solidFill>
                          <a:latin typeface="Carlito" pitchFamily="34" charset="0"/>
                          <a:ea typeface="Carlito" pitchFamily="34" charset="-122"/>
                          <a:cs typeface="Carlito" pitchFamily="34" charset="-120"/>
                        </a:rPr>
                        <a:t>2,700</a:t>
                      </a:r>
                      <a:endParaRPr lang="en-US" sz="1600" dirty="0">
                        <a:latin typeface="Carlito" charset="0"/>
                        <a:ea typeface="Carlito" charset="0"/>
                        <a:cs typeface="Carlito" charset="0"/>
                      </a:endParaRPr>
                    </a:p>
                  </a:txBody>
                  <a:tcPr marL="101598" marR="105027"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600" b="1" kern="100" spc="-28" dirty="0">
                          <a:solidFill>
                            <a:srgbClr val="34D399"/>
                          </a:solidFill>
                          <a:latin typeface="Carlito" pitchFamily="34" charset="0"/>
                          <a:ea typeface="Carlito" pitchFamily="34" charset="-122"/>
                          <a:cs typeface="Carlito" pitchFamily="34" charset="-120"/>
                        </a:rPr>
                        <a:t>14,269</a:t>
                      </a:r>
                      <a:endParaRPr lang="en-US" sz="1600" dirty="0">
                        <a:latin typeface="Carlito" charset="0"/>
                        <a:ea typeface="Carlito" charset="0"/>
                        <a:cs typeface="Carlito" charset="0"/>
                      </a:endParaRPr>
                    </a:p>
                  </a:txBody>
                  <a:tcPr marL="101598" marR="101598"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extLst>
                  <a:ext uri="{0D108BD9-81ED-4DB2-BD59-A6C34878D82A}">
                    <a16:rowId xmlns:a16="http://schemas.microsoft.com/office/drawing/2014/main" val="10001"/>
                  </a:ext>
                </a:extLst>
              </a:tr>
              <a:tr h="307273">
                <a:tc>
                  <a:txBody>
                    <a:bodyPr/>
                    <a:lstStyle/>
                    <a:p>
                      <a:pPr marL="0" indent="0" algn="l">
                        <a:buNone/>
                      </a:pPr>
                      <a:r>
                        <a:rPr lang="en-US" sz="1600" kern="100" spc="-28" dirty="0">
                          <a:solidFill>
                            <a:srgbClr val="F1F5F9"/>
                          </a:solidFill>
                          <a:latin typeface="Carlito" pitchFamily="34" charset="0"/>
                          <a:ea typeface="Carlito" pitchFamily="34" charset="-122"/>
                          <a:cs typeface="Carlito" pitchFamily="34" charset="-120"/>
                        </a:rPr>
                        <a:t>Parameters</a:t>
                      </a:r>
                      <a:endParaRPr lang="en-US" sz="1600" dirty="0">
                        <a:latin typeface="Carlito" charset="0"/>
                        <a:ea typeface="Carlito" charset="0"/>
                        <a:cs typeface="Carlito" charset="0"/>
                      </a:endParaRPr>
                    </a:p>
                  </a:txBody>
                  <a:tcPr marL="101598" marR="105027"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600" kern="100" spc="-28" dirty="0">
                          <a:solidFill>
                            <a:srgbClr val="94A3B8"/>
                          </a:solidFill>
                          <a:latin typeface="Carlito" pitchFamily="34" charset="0"/>
                          <a:ea typeface="Carlito" pitchFamily="34" charset="-122"/>
                          <a:cs typeface="Carlito" pitchFamily="34" charset="-120"/>
                        </a:rPr>
                        <a:t>1.4M</a:t>
                      </a:r>
                      <a:endParaRPr lang="en-US" sz="1600" dirty="0">
                        <a:latin typeface="Carlito" charset="0"/>
                        <a:ea typeface="Carlito" charset="0"/>
                        <a:cs typeface="Carlito" charset="0"/>
                      </a:endParaRPr>
                    </a:p>
                  </a:txBody>
                  <a:tcPr marL="101598" marR="105027"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600" b="1" kern="100" spc="-28" dirty="0">
                          <a:solidFill>
                            <a:srgbClr val="34D399"/>
                          </a:solidFill>
                          <a:latin typeface="Carlito" pitchFamily="34" charset="0"/>
                          <a:ea typeface="Carlito" pitchFamily="34" charset="-122"/>
                          <a:cs typeface="Carlito" pitchFamily="34" charset="-120"/>
                        </a:rPr>
                        <a:t>3.4M</a:t>
                      </a:r>
                      <a:endParaRPr lang="en-US" sz="1600" dirty="0">
                        <a:latin typeface="Carlito" charset="0"/>
                        <a:ea typeface="Carlito" charset="0"/>
                        <a:cs typeface="Carlito" charset="0"/>
                      </a:endParaRPr>
                    </a:p>
                  </a:txBody>
                  <a:tcPr marL="101598" marR="101598"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extLst>
                  <a:ext uri="{0D108BD9-81ED-4DB2-BD59-A6C34878D82A}">
                    <a16:rowId xmlns:a16="http://schemas.microsoft.com/office/drawing/2014/main" val="10002"/>
                  </a:ext>
                </a:extLst>
              </a:tr>
              <a:tr h="307273">
                <a:tc>
                  <a:txBody>
                    <a:bodyPr/>
                    <a:lstStyle/>
                    <a:p>
                      <a:pPr marL="0" indent="0" algn="l">
                        <a:buNone/>
                      </a:pPr>
                      <a:r>
                        <a:rPr lang="en-US" sz="1600" kern="100" spc="-28" dirty="0">
                          <a:solidFill>
                            <a:srgbClr val="F1F5F9"/>
                          </a:solidFill>
                          <a:latin typeface="Carlito" pitchFamily="34" charset="0"/>
                          <a:ea typeface="Carlito" pitchFamily="34" charset="-122"/>
                          <a:cs typeface="Carlito" pitchFamily="34" charset="-120"/>
                        </a:rPr>
                        <a:t>Validation SI-SDR</a:t>
                      </a:r>
                      <a:endParaRPr lang="en-US" sz="1600" dirty="0">
                        <a:latin typeface="Carlito" charset="0"/>
                        <a:ea typeface="Carlito" charset="0"/>
                        <a:cs typeface="Carlito" charset="0"/>
                      </a:endParaRPr>
                    </a:p>
                  </a:txBody>
                  <a:tcPr marL="101598" marR="105027"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600" kern="100" spc="-28" dirty="0">
                          <a:solidFill>
                            <a:srgbClr val="94A3B8"/>
                          </a:solidFill>
                          <a:latin typeface="Carlito" pitchFamily="34" charset="0"/>
                          <a:ea typeface="Carlito" pitchFamily="34" charset="-122"/>
                          <a:cs typeface="Carlito" pitchFamily="34" charset="-120"/>
                        </a:rPr>
                        <a:t>8.66 dB</a:t>
                      </a:r>
                      <a:endParaRPr lang="en-US" sz="1600" dirty="0">
                        <a:latin typeface="Carlito" charset="0"/>
                        <a:ea typeface="Carlito" charset="0"/>
                        <a:cs typeface="Carlito" charset="0"/>
                      </a:endParaRPr>
                    </a:p>
                  </a:txBody>
                  <a:tcPr marL="101598" marR="105027"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600" b="1" kern="100" spc="-28" dirty="0">
                          <a:solidFill>
                            <a:srgbClr val="34D399"/>
                          </a:solidFill>
                          <a:latin typeface="Carlito" pitchFamily="34" charset="0"/>
                          <a:ea typeface="Carlito" pitchFamily="34" charset="-122"/>
                          <a:cs typeface="Carlito" pitchFamily="34" charset="-120"/>
                        </a:rPr>
                        <a:t>11.76 dB</a:t>
                      </a:r>
                      <a:endParaRPr lang="en-US" sz="1600" dirty="0">
                        <a:latin typeface="Carlito" charset="0"/>
                        <a:ea typeface="Carlito" charset="0"/>
                        <a:cs typeface="Carlito" charset="0"/>
                      </a:endParaRPr>
                    </a:p>
                  </a:txBody>
                  <a:tcPr marL="101598" marR="101598"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extLst>
                  <a:ext uri="{0D108BD9-81ED-4DB2-BD59-A6C34878D82A}">
                    <a16:rowId xmlns:a16="http://schemas.microsoft.com/office/drawing/2014/main" val="10003"/>
                  </a:ext>
                </a:extLst>
              </a:tr>
              <a:tr h="294573">
                <a:tc>
                  <a:txBody>
                    <a:bodyPr/>
                    <a:lstStyle/>
                    <a:p>
                      <a:pPr marL="0" indent="0" algn="l">
                        <a:buNone/>
                      </a:pPr>
                      <a:r>
                        <a:rPr lang="en-US" sz="1600" kern="100" spc="-28" dirty="0">
                          <a:solidFill>
                            <a:srgbClr val="F1F5F9"/>
                          </a:solidFill>
                          <a:latin typeface="Carlito" pitchFamily="34" charset="0"/>
                          <a:ea typeface="Carlito" pitchFamily="34" charset="-122"/>
                          <a:cs typeface="Carlito" pitchFamily="34" charset="-120"/>
                        </a:rPr>
                        <a:t>Test SI-SDRi (mean)</a:t>
                      </a:r>
                      <a:endParaRPr lang="en-US" sz="1600" dirty="0">
                        <a:latin typeface="Carlito" charset="0"/>
                        <a:ea typeface="Carlito" charset="0"/>
                        <a:cs typeface="Carlito" charset="0"/>
                      </a:endParaRPr>
                    </a:p>
                  </a:txBody>
                  <a:tcPr marL="101598" marR="105027"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600" kern="100" spc="-28" dirty="0">
                          <a:solidFill>
                            <a:srgbClr val="94A3B8"/>
                          </a:solidFill>
                          <a:latin typeface="Carlito" pitchFamily="34" charset="0"/>
                          <a:ea typeface="Carlito" pitchFamily="34" charset="-122"/>
                          <a:cs typeface="Carlito" pitchFamily="34" charset="-120"/>
                        </a:rPr>
                        <a:t>6.98 dB</a:t>
                      </a:r>
                      <a:endParaRPr lang="en-US" sz="1600" dirty="0">
                        <a:latin typeface="Carlito" charset="0"/>
                        <a:ea typeface="Carlito" charset="0"/>
                        <a:cs typeface="Carlito" charset="0"/>
                      </a:endParaRPr>
                    </a:p>
                  </a:txBody>
                  <a:tcPr marL="101598" marR="105027"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tc>
                  <a:txBody>
                    <a:bodyPr/>
                    <a:lstStyle/>
                    <a:p>
                      <a:pPr marL="0" indent="0" algn="l">
                        <a:buNone/>
                      </a:pPr>
                      <a:r>
                        <a:rPr lang="en-US" sz="1600" b="1" kern="100" spc="-28" dirty="0">
                          <a:solidFill>
                            <a:srgbClr val="34D399"/>
                          </a:solidFill>
                          <a:latin typeface="Carlito" pitchFamily="34" charset="0"/>
                          <a:ea typeface="Carlito" pitchFamily="34" charset="-122"/>
                          <a:cs typeface="Carlito" pitchFamily="34" charset="-120"/>
                        </a:rPr>
                        <a:t>11.06 dB</a:t>
                      </a:r>
                      <a:endParaRPr lang="en-US" sz="1600" dirty="0">
                        <a:latin typeface="Carlito" charset="0"/>
                        <a:ea typeface="Carlito" charset="0"/>
                        <a:cs typeface="Carlito" charset="0"/>
                      </a:endParaRPr>
                    </a:p>
                  </a:txBody>
                  <a:tcPr marL="101598" marR="101598" marT="25399" marB="25399" anchor="ctr">
                    <a:lnL w="12700" cap="flat" cmpd="sng" algn="ctr">
                      <a:solidFill>
                        <a:srgbClr val="464159"/>
                      </a:solidFill>
                      <a:prstDash val="solid"/>
                      <a:round/>
                      <a:headEnd type="none" w="med" len="med"/>
                      <a:tailEnd type="none" w="med" len="med"/>
                    </a:lnL>
                    <a:lnR w="12700" cap="flat" cmpd="sng" algn="ctr">
                      <a:solidFill>
                        <a:srgbClr val="464159"/>
                      </a:solidFill>
                      <a:prstDash val="solid"/>
                      <a:round/>
                      <a:headEnd type="none" w="med" len="med"/>
                      <a:tailEnd type="none" w="med" len="med"/>
                    </a:lnR>
                    <a:lnT w="12700" cap="flat" cmpd="sng" algn="ctr">
                      <a:solidFill>
                        <a:srgbClr val="464159"/>
                      </a:solidFill>
                      <a:prstDash val="solid"/>
                      <a:round/>
                      <a:headEnd type="none" w="med" len="med"/>
                      <a:tailEnd type="none" w="med" len="med"/>
                    </a:lnT>
                    <a:lnB w="12700" cap="flat" cmpd="sng" algn="ctr">
                      <a:solidFill>
                        <a:srgbClr val="464159"/>
                      </a:solidFill>
                      <a:prstDash val="solid"/>
                      <a:round/>
                      <a:headEnd type="none" w="med" len="med"/>
                      <a:tailEnd type="none" w="med" len="med"/>
                    </a:lnB>
                    <a:solidFill>
                      <a:srgbClr val="15233B"/>
                    </a:solidFill>
                  </a:tcPr>
                </a:tc>
                <a:extLst>
                  <a:ext uri="{0D108BD9-81ED-4DB2-BD59-A6C34878D82A}">
                    <a16:rowId xmlns:a16="http://schemas.microsoft.com/office/drawing/2014/main" val="10004"/>
                  </a:ext>
                </a:extLst>
              </a:tr>
            </a:tbl>
          </a:graphicData>
        </a:graphic>
      </p:graphicFrame>
      <p:sp>
        <p:nvSpPr>
          <p:cNvPr id="24" name="Text 20"/>
          <p:cNvSpPr/>
          <p:nvPr/>
        </p:nvSpPr>
        <p:spPr>
          <a:xfrm>
            <a:off x="5187820" y="5969000"/>
            <a:ext cx="6337141" cy="497681"/>
          </a:xfrm>
          <a:prstGeom prst="rect">
            <a:avLst/>
          </a:prstGeom>
          <a:noFill/>
          <a:ln/>
        </p:spPr>
        <p:txBody>
          <a:bodyPr wrap="square" lIns="0" tIns="0" rIns="0" bIns="0" rtlCol="0" anchor="t">
            <a:normAutofit/>
          </a:bodyPr>
          <a:lstStyle/>
          <a:p>
            <a:pPr marL="0" indent="0" algn="l">
              <a:lnSpc>
                <a:spcPct val="117000"/>
              </a:lnSpc>
              <a:buNone/>
            </a:pPr>
            <a:r>
              <a:rPr lang="en-US" sz="1400" kern="100" spc="-28" dirty="0">
                <a:solidFill>
                  <a:srgbClr val="94A3B8"/>
                </a:solidFill>
                <a:latin typeface="Inter" pitchFamily="34" charset="0"/>
                <a:ea typeface="Inter" pitchFamily="34" charset="-122"/>
                <a:cs typeface="Inter" pitchFamily="34" charset="-120"/>
              </a:rPr>
              <a:t>SI-SDR = validation quality (4-s crops) · SI-SDRi = test improvement over the mixture</a:t>
            </a:r>
            <a:endParaRPr lang="en-US" sz="1400" dirty="0"/>
          </a:p>
        </p:txBody>
      </p:sp>
      <p:sp>
        <p:nvSpPr>
          <p:cNvPr id="25" name="Text 21"/>
          <p:cNvSpPr/>
          <p:nvPr/>
        </p:nvSpPr>
        <p:spPr>
          <a:xfrm>
            <a:off x="11338237" y="6527155"/>
            <a:ext cx="683005" cy="174129"/>
          </a:xfrm>
          <a:prstGeom prst="rect">
            <a:avLst/>
          </a:prstGeom>
          <a:noFill/>
          <a:ln/>
        </p:spPr>
        <p:txBody>
          <a:bodyPr wrap="none" lIns="0" tIns="0" rIns="0" bIns="0" rtlCol="0" anchor="ctr"/>
          <a:lstStyle/>
          <a:p>
            <a:pPr marL="0" indent="0" algn="l">
              <a:lnSpc>
                <a:spcPct val="117000"/>
              </a:lnSpc>
              <a:buNone/>
            </a:pPr>
            <a:r>
              <a:rPr lang="en-US" sz="1000" kern="100" spc="-28" dirty="0">
                <a:solidFill>
                  <a:srgbClr val="94A3B8"/>
                </a:solidFill>
                <a:latin typeface="Inter" pitchFamily="34" charset="0"/>
                <a:ea typeface="Inter" pitchFamily="34" charset="-122"/>
                <a:cs typeface="Inter"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09585" y="390128"/>
            <a:ext cx="97530" cy="609600"/>
          </a:xfrm>
          <a:prstGeom prst="rect">
            <a:avLst/>
          </a:prstGeom>
          <a:solidFill>
            <a:srgbClr val="22D3EE"/>
          </a:solidFill>
          <a:ln w="12700">
            <a:solidFill>
              <a:srgbClr val="22D3EE"/>
            </a:solidFill>
            <a:prstDash val="solid"/>
          </a:ln>
        </p:spPr>
        <p:txBody>
          <a:bodyPr/>
          <a:lstStyle/>
          <a:p>
            <a:endParaRPr lang="en-IN"/>
          </a:p>
        </p:txBody>
      </p:sp>
      <p:sp>
        <p:nvSpPr>
          <p:cNvPr id="3" name="Text 1"/>
          <p:cNvSpPr/>
          <p:nvPr/>
        </p:nvSpPr>
        <p:spPr>
          <a:xfrm>
            <a:off x="877766" y="318790"/>
            <a:ext cx="10728652" cy="705048"/>
          </a:xfrm>
          <a:prstGeom prst="rect">
            <a:avLst/>
          </a:prstGeom>
          <a:noFill/>
          <a:ln/>
        </p:spPr>
        <p:txBody>
          <a:bodyPr wrap="none" lIns="0" tIns="110170" rIns="0" bIns="110170" rtlCol="0" anchor="t"/>
          <a:lstStyle/>
          <a:p>
            <a:pPr marL="0" indent="0" algn="l">
              <a:lnSpc>
                <a:spcPct val="92000"/>
              </a:lnSpc>
              <a:buNone/>
            </a:pPr>
            <a:r>
              <a:rPr lang="en-US" sz="3450" b="1" kern="100" spc="-69" dirty="0">
                <a:solidFill>
                  <a:srgbClr val="F1F5F9"/>
                </a:solidFill>
                <a:latin typeface="Petrona Bold" pitchFamily="34" charset="0"/>
                <a:ea typeface="Petrona Bold" pitchFamily="34" charset="-122"/>
                <a:cs typeface="Petrona Bold" pitchFamily="34" charset="-120"/>
              </a:rPr>
              <a:t>Conclusion &amp; Future Work</a:t>
            </a:r>
            <a:endParaRPr lang="en-US" sz="3450" dirty="0"/>
          </a:p>
        </p:txBody>
      </p:sp>
      <p:sp>
        <p:nvSpPr>
          <p:cNvPr id="5" name="Shape 3"/>
          <p:cNvSpPr/>
          <p:nvPr/>
        </p:nvSpPr>
        <p:spPr>
          <a:xfrm>
            <a:off x="609585" y="1219200"/>
            <a:ext cx="6603835" cy="3911600"/>
          </a:xfrm>
          <a:prstGeom prst="roundRect">
            <a:avLst>
              <a:gd name="adj" fmla="val 2244"/>
            </a:avLst>
          </a:prstGeom>
          <a:solidFill>
            <a:srgbClr val="15233B"/>
          </a:solidFill>
          <a:ln w="12700">
            <a:solidFill>
              <a:srgbClr val="34D399"/>
            </a:solidFill>
            <a:prstDash val="solid"/>
          </a:ln>
        </p:spPr>
        <p:txBody>
          <a:bodyPr/>
          <a:lstStyle/>
          <a:p>
            <a:endParaRPr lang="en-IN"/>
          </a:p>
        </p:txBody>
      </p:sp>
      <p:sp>
        <p:nvSpPr>
          <p:cNvPr id="6" name="Shape 4"/>
          <p:cNvSpPr/>
          <p:nvPr/>
        </p:nvSpPr>
        <p:spPr>
          <a:xfrm>
            <a:off x="7365816" y="1219200"/>
            <a:ext cx="4216295" cy="3911600"/>
          </a:xfrm>
          <a:prstGeom prst="roundRect">
            <a:avLst>
              <a:gd name="adj" fmla="val 2244"/>
            </a:avLst>
          </a:prstGeom>
          <a:solidFill>
            <a:srgbClr val="15233B"/>
          </a:solidFill>
          <a:ln w="12700">
            <a:solidFill>
              <a:srgbClr val="22D3EE"/>
            </a:solidFill>
            <a:prstDash val="solid"/>
          </a:ln>
        </p:spPr>
        <p:txBody>
          <a:bodyPr/>
          <a:lstStyle/>
          <a:p>
            <a:endParaRPr lang="en-IN"/>
          </a:p>
        </p:txBody>
      </p:sp>
      <p:sp>
        <p:nvSpPr>
          <p:cNvPr id="7" name="Text 5"/>
          <p:cNvSpPr/>
          <p:nvPr/>
        </p:nvSpPr>
        <p:spPr>
          <a:xfrm>
            <a:off x="869928" y="1320800"/>
            <a:ext cx="6591135" cy="391120"/>
          </a:xfrm>
          <a:prstGeom prst="rect">
            <a:avLst/>
          </a:prstGeom>
          <a:noFill/>
          <a:ln/>
        </p:spPr>
        <p:txBody>
          <a:bodyPr wrap="none" lIns="0" tIns="0" rIns="0" bIns="0" rtlCol="0" anchor="t"/>
          <a:lstStyle/>
          <a:p>
            <a:pPr marL="0" indent="0" algn="l">
              <a:lnSpc>
                <a:spcPct val="117000"/>
              </a:lnSpc>
              <a:buNone/>
            </a:pPr>
            <a:r>
              <a:rPr lang="en-US" sz="2200" b="1" kern="100" spc="-28" dirty="0">
                <a:solidFill>
                  <a:srgbClr val="34D399"/>
                </a:solidFill>
                <a:latin typeface="Inter Bold" pitchFamily="34" charset="0"/>
                <a:ea typeface="Inter Bold" pitchFamily="34" charset="-122"/>
                <a:cs typeface="Inter Bold" pitchFamily="34" charset="-120"/>
              </a:rPr>
              <a:t>WHAT WE ACHIEVED</a:t>
            </a:r>
            <a:endParaRPr lang="en-US" sz="2200" dirty="0"/>
          </a:p>
        </p:txBody>
      </p:sp>
      <p:sp>
        <p:nvSpPr>
          <p:cNvPr id="8" name="Text 6"/>
          <p:cNvSpPr/>
          <p:nvPr/>
        </p:nvSpPr>
        <p:spPr>
          <a:xfrm>
            <a:off x="565136" y="1877020"/>
            <a:ext cx="1054074" cy="462260"/>
          </a:xfrm>
          <a:prstGeom prst="rect">
            <a:avLst/>
          </a:prstGeom>
          <a:noFill/>
          <a:ln/>
        </p:spPr>
        <p:txBody>
          <a:bodyPr wrap="none" lIns="0" tIns="0" rIns="0" bIns="0" rtlCol="0" anchor="t"/>
          <a:lstStyle/>
          <a:p>
            <a:pPr marL="0" indent="0" algn="ctr">
              <a:lnSpc>
                <a:spcPct val="117000"/>
              </a:lnSpc>
              <a:buNone/>
            </a:pPr>
            <a:r>
              <a:rPr lang="en-US" sz="2600" b="1" kern="100" spc="-28" dirty="0">
                <a:solidFill>
                  <a:srgbClr val="34D399"/>
                </a:solidFill>
                <a:latin typeface="Inter Bold" pitchFamily="34" charset="0"/>
                <a:ea typeface="Inter Bold" pitchFamily="34" charset="-122"/>
                <a:cs typeface="Inter Bold" pitchFamily="34" charset="-120"/>
              </a:rPr>
              <a:t>1</a:t>
            </a:r>
            <a:endParaRPr lang="en-US" sz="2600" dirty="0"/>
          </a:p>
        </p:txBody>
      </p:sp>
      <p:sp>
        <p:nvSpPr>
          <p:cNvPr id="9" name="Text 7"/>
          <p:cNvSpPr/>
          <p:nvPr/>
        </p:nvSpPr>
        <p:spPr>
          <a:xfrm>
            <a:off x="1479513" y="1803400"/>
            <a:ext cx="6210145" cy="355600"/>
          </a:xfrm>
          <a:prstGeom prst="rect">
            <a:avLst/>
          </a:prstGeom>
          <a:noFill/>
          <a:ln/>
        </p:spPr>
        <p:txBody>
          <a:bodyPr wrap="none" lIns="0" tIns="0" rIns="0" bIns="0" rtlCol="0" anchor="t"/>
          <a:lstStyle/>
          <a:p>
            <a:pPr marL="0" indent="0" algn="l">
              <a:lnSpc>
                <a:spcPct val="117000"/>
              </a:lnSpc>
              <a:buNone/>
            </a:pPr>
            <a:r>
              <a:rPr lang="en-US" sz="2000" kern="100" spc="-28" dirty="0">
                <a:solidFill>
                  <a:srgbClr val="F1F5F9"/>
                </a:solidFill>
                <a:latin typeface="Inter" pitchFamily="34" charset="0"/>
                <a:ea typeface="Inter" pitchFamily="34" charset="-122"/>
                <a:cs typeface="Inter" pitchFamily="34" charset="-120"/>
              </a:rPr>
              <a:t>Denoising → true 2-speaker separation</a:t>
            </a:r>
            <a:endParaRPr lang="en-US" sz="2000" dirty="0"/>
          </a:p>
        </p:txBody>
      </p:sp>
      <p:sp>
        <p:nvSpPr>
          <p:cNvPr id="10" name="Text 8"/>
          <p:cNvSpPr/>
          <p:nvPr/>
        </p:nvSpPr>
        <p:spPr>
          <a:xfrm>
            <a:off x="565136" y="2524720"/>
            <a:ext cx="1054074" cy="462260"/>
          </a:xfrm>
          <a:prstGeom prst="rect">
            <a:avLst/>
          </a:prstGeom>
          <a:noFill/>
          <a:ln/>
        </p:spPr>
        <p:txBody>
          <a:bodyPr wrap="none" lIns="0" tIns="0" rIns="0" bIns="0" rtlCol="0" anchor="t"/>
          <a:lstStyle/>
          <a:p>
            <a:pPr marL="0" indent="0" algn="ctr">
              <a:lnSpc>
                <a:spcPct val="117000"/>
              </a:lnSpc>
              <a:buNone/>
            </a:pPr>
            <a:r>
              <a:rPr lang="en-US" sz="2600" b="1" kern="100" spc="-28" dirty="0">
                <a:solidFill>
                  <a:srgbClr val="34D399"/>
                </a:solidFill>
                <a:latin typeface="Inter Bold" pitchFamily="34" charset="0"/>
                <a:ea typeface="Inter Bold" pitchFamily="34" charset="-122"/>
                <a:cs typeface="Inter Bold" pitchFamily="34" charset="-120"/>
              </a:rPr>
              <a:t>2</a:t>
            </a:r>
            <a:endParaRPr lang="en-US" sz="2600" dirty="0"/>
          </a:p>
        </p:txBody>
      </p:sp>
      <p:sp>
        <p:nvSpPr>
          <p:cNvPr id="11" name="Text 9"/>
          <p:cNvSpPr/>
          <p:nvPr/>
        </p:nvSpPr>
        <p:spPr>
          <a:xfrm>
            <a:off x="1479513" y="2451100"/>
            <a:ext cx="6210145" cy="355600"/>
          </a:xfrm>
          <a:prstGeom prst="rect">
            <a:avLst/>
          </a:prstGeom>
          <a:noFill/>
          <a:ln/>
        </p:spPr>
        <p:txBody>
          <a:bodyPr wrap="none" lIns="0" tIns="0" rIns="0" bIns="0" rtlCol="0" anchor="t"/>
          <a:lstStyle/>
          <a:p>
            <a:pPr marL="0" indent="0" algn="l">
              <a:lnSpc>
                <a:spcPct val="117000"/>
              </a:lnSpc>
              <a:buNone/>
            </a:pPr>
            <a:r>
              <a:rPr lang="en-US" sz="2000" kern="100" spc="-28" dirty="0">
                <a:solidFill>
                  <a:srgbClr val="F1F5F9"/>
                </a:solidFill>
                <a:latin typeface="Inter" pitchFamily="34" charset="0"/>
                <a:ea typeface="Inter" pitchFamily="34" charset="-122"/>
                <a:cs typeface="Inter" pitchFamily="34" charset="-120"/>
              </a:rPr>
              <a:t>2,700 → 14,269 pairs</a:t>
            </a:r>
            <a:endParaRPr lang="en-US" sz="2000" dirty="0"/>
          </a:p>
        </p:txBody>
      </p:sp>
      <p:sp>
        <p:nvSpPr>
          <p:cNvPr id="12" name="Text 10"/>
          <p:cNvSpPr/>
          <p:nvPr/>
        </p:nvSpPr>
        <p:spPr>
          <a:xfrm>
            <a:off x="565136" y="3172420"/>
            <a:ext cx="1054074" cy="462260"/>
          </a:xfrm>
          <a:prstGeom prst="rect">
            <a:avLst/>
          </a:prstGeom>
          <a:noFill/>
          <a:ln/>
        </p:spPr>
        <p:txBody>
          <a:bodyPr wrap="none" lIns="0" tIns="0" rIns="0" bIns="0" rtlCol="0" anchor="t"/>
          <a:lstStyle/>
          <a:p>
            <a:pPr marL="0" indent="0" algn="ctr">
              <a:lnSpc>
                <a:spcPct val="117000"/>
              </a:lnSpc>
              <a:buNone/>
            </a:pPr>
            <a:r>
              <a:rPr lang="en-US" sz="2600" b="1" kern="100" spc="-28" dirty="0">
                <a:solidFill>
                  <a:srgbClr val="34D399"/>
                </a:solidFill>
                <a:latin typeface="Inter Bold" pitchFamily="34" charset="0"/>
                <a:ea typeface="Inter Bold" pitchFamily="34" charset="-122"/>
                <a:cs typeface="Inter Bold" pitchFamily="34" charset="-120"/>
              </a:rPr>
              <a:t>3</a:t>
            </a:r>
            <a:endParaRPr lang="en-US" sz="2600" dirty="0"/>
          </a:p>
        </p:txBody>
      </p:sp>
      <p:sp>
        <p:nvSpPr>
          <p:cNvPr id="13" name="Text 11"/>
          <p:cNvSpPr/>
          <p:nvPr/>
        </p:nvSpPr>
        <p:spPr>
          <a:xfrm>
            <a:off x="1479513" y="3098800"/>
            <a:ext cx="6210145" cy="355600"/>
          </a:xfrm>
          <a:prstGeom prst="rect">
            <a:avLst/>
          </a:prstGeom>
          <a:noFill/>
          <a:ln/>
        </p:spPr>
        <p:txBody>
          <a:bodyPr wrap="none" lIns="0" tIns="0" rIns="0" bIns="0" rtlCol="0" anchor="t"/>
          <a:lstStyle/>
          <a:p>
            <a:pPr marL="0" indent="0" algn="l">
              <a:lnSpc>
                <a:spcPct val="117000"/>
              </a:lnSpc>
              <a:buNone/>
            </a:pPr>
            <a:r>
              <a:rPr lang="en-US" sz="2000" kern="100" spc="-28" dirty="0">
                <a:solidFill>
                  <a:srgbClr val="F1F5F9"/>
                </a:solidFill>
                <a:latin typeface="Inter" pitchFamily="34" charset="0"/>
                <a:ea typeface="Inter" pitchFamily="34" charset="-122"/>
                <a:cs typeface="Inter" pitchFamily="34" charset="-120"/>
              </a:rPr>
              <a:t>1.4M → 3.4M parameters</a:t>
            </a:r>
            <a:endParaRPr lang="en-US" sz="2000" dirty="0"/>
          </a:p>
        </p:txBody>
      </p:sp>
      <p:sp>
        <p:nvSpPr>
          <p:cNvPr id="14" name="Text 12"/>
          <p:cNvSpPr/>
          <p:nvPr/>
        </p:nvSpPr>
        <p:spPr>
          <a:xfrm>
            <a:off x="565136" y="3820120"/>
            <a:ext cx="1054074" cy="462260"/>
          </a:xfrm>
          <a:prstGeom prst="rect">
            <a:avLst/>
          </a:prstGeom>
          <a:noFill/>
          <a:ln/>
        </p:spPr>
        <p:txBody>
          <a:bodyPr wrap="none" lIns="0" tIns="0" rIns="0" bIns="0" rtlCol="0" anchor="t"/>
          <a:lstStyle/>
          <a:p>
            <a:pPr marL="0" indent="0" algn="ctr">
              <a:lnSpc>
                <a:spcPct val="117000"/>
              </a:lnSpc>
              <a:buNone/>
            </a:pPr>
            <a:r>
              <a:rPr lang="en-US" sz="2600" b="1" kern="100" spc="-28" dirty="0">
                <a:solidFill>
                  <a:srgbClr val="34D399"/>
                </a:solidFill>
                <a:latin typeface="Inter Bold" pitchFamily="34" charset="0"/>
                <a:ea typeface="Inter Bold" pitchFamily="34" charset="-122"/>
                <a:cs typeface="Inter Bold" pitchFamily="34" charset="-120"/>
              </a:rPr>
              <a:t>4</a:t>
            </a:r>
            <a:endParaRPr lang="en-US" sz="2600" dirty="0"/>
          </a:p>
        </p:txBody>
      </p:sp>
      <p:sp>
        <p:nvSpPr>
          <p:cNvPr id="15" name="Text 13"/>
          <p:cNvSpPr/>
          <p:nvPr/>
        </p:nvSpPr>
        <p:spPr>
          <a:xfrm>
            <a:off x="1479513" y="3746500"/>
            <a:ext cx="6210145" cy="355600"/>
          </a:xfrm>
          <a:prstGeom prst="rect">
            <a:avLst/>
          </a:prstGeom>
          <a:noFill/>
          <a:ln/>
        </p:spPr>
        <p:txBody>
          <a:bodyPr wrap="none" lIns="0" tIns="0" rIns="0" bIns="0" rtlCol="0" anchor="t"/>
          <a:lstStyle/>
          <a:p>
            <a:pPr marL="0" indent="0" algn="l">
              <a:lnSpc>
                <a:spcPct val="117000"/>
              </a:lnSpc>
              <a:buNone/>
            </a:pPr>
            <a:r>
              <a:rPr lang="en-US" sz="2000" kern="100" spc="-28" dirty="0">
                <a:solidFill>
                  <a:srgbClr val="F1F5F9"/>
                </a:solidFill>
                <a:latin typeface="Inter" pitchFamily="34" charset="0"/>
                <a:ea typeface="Inter" pitchFamily="34" charset="-122"/>
                <a:cs typeface="Inter" pitchFamily="34" charset="-120"/>
              </a:rPr>
              <a:t>14 → 4.5 min/epoch</a:t>
            </a:r>
            <a:endParaRPr lang="en-US" sz="2000" dirty="0"/>
          </a:p>
        </p:txBody>
      </p:sp>
      <p:sp>
        <p:nvSpPr>
          <p:cNvPr id="16" name="Text 14"/>
          <p:cNvSpPr/>
          <p:nvPr/>
        </p:nvSpPr>
        <p:spPr>
          <a:xfrm>
            <a:off x="565136" y="4467820"/>
            <a:ext cx="1054074" cy="462260"/>
          </a:xfrm>
          <a:prstGeom prst="rect">
            <a:avLst/>
          </a:prstGeom>
          <a:noFill/>
          <a:ln/>
        </p:spPr>
        <p:txBody>
          <a:bodyPr wrap="none" lIns="0" tIns="0" rIns="0" bIns="0" rtlCol="0" anchor="t"/>
          <a:lstStyle/>
          <a:p>
            <a:pPr marL="0" indent="0" algn="ctr">
              <a:lnSpc>
                <a:spcPct val="117000"/>
              </a:lnSpc>
              <a:buNone/>
            </a:pPr>
            <a:r>
              <a:rPr lang="en-US" sz="2600" b="1" kern="100" spc="-28" dirty="0">
                <a:solidFill>
                  <a:srgbClr val="34D399"/>
                </a:solidFill>
                <a:latin typeface="Inter Bold" pitchFamily="34" charset="0"/>
                <a:ea typeface="Inter Bold" pitchFamily="34" charset="-122"/>
                <a:cs typeface="Inter Bold" pitchFamily="34" charset="-120"/>
              </a:rPr>
              <a:t>5</a:t>
            </a:r>
            <a:endParaRPr lang="en-US" sz="2600" dirty="0"/>
          </a:p>
        </p:txBody>
      </p:sp>
      <p:sp>
        <p:nvSpPr>
          <p:cNvPr id="17" name="Text 15"/>
          <p:cNvSpPr/>
          <p:nvPr/>
        </p:nvSpPr>
        <p:spPr>
          <a:xfrm>
            <a:off x="1479513" y="4394200"/>
            <a:ext cx="6210145" cy="355600"/>
          </a:xfrm>
          <a:prstGeom prst="rect">
            <a:avLst/>
          </a:prstGeom>
          <a:noFill/>
          <a:ln/>
        </p:spPr>
        <p:txBody>
          <a:bodyPr wrap="none" lIns="0" tIns="0" rIns="0" bIns="0" rtlCol="0" anchor="t"/>
          <a:lstStyle/>
          <a:p>
            <a:pPr marL="0" indent="0" algn="l">
              <a:lnSpc>
                <a:spcPct val="117000"/>
              </a:lnSpc>
              <a:buNone/>
            </a:pPr>
            <a:r>
              <a:rPr lang="en-US" sz="2000" b="1" kern="100" spc="-28" dirty="0">
                <a:solidFill>
                  <a:srgbClr val="F1F5F9"/>
                </a:solidFill>
                <a:latin typeface="Inter Bold" pitchFamily="34" charset="0"/>
                <a:ea typeface="Inter Bold" pitchFamily="34" charset="-122"/>
                <a:cs typeface="Inter Bold" pitchFamily="34" charset="-120"/>
              </a:rPr>
              <a:t>Best validation SI-SDR = +11.76 dB</a:t>
            </a:r>
            <a:endParaRPr lang="en-US" sz="2000" dirty="0"/>
          </a:p>
        </p:txBody>
      </p:sp>
      <p:sp>
        <p:nvSpPr>
          <p:cNvPr id="18" name="Text 16"/>
          <p:cNvSpPr/>
          <p:nvPr/>
        </p:nvSpPr>
        <p:spPr>
          <a:xfrm>
            <a:off x="7626159" y="1320800"/>
            <a:ext cx="4305192" cy="391120"/>
          </a:xfrm>
          <a:prstGeom prst="rect">
            <a:avLst/>
          </a:prstGeom>
          <a:noFill/>
          <a:ln/>
        </p:spPr>
        <p:txBody>
          <a:bodyPr wrap="none" lIns="0" tIns="0" rIns="0" bIns="0" rtlCol="0" anchor="t"/>
          <a:lstStyle/>
          <a:p>
            <a:pPr marL="0" indent="0" algn="l">
              <a:lnSpc>
                <a:spcPct val="117000"/>
              </a:lnSpc>
              <a:buNone/>
            </a:pPr>
            <a:r>
              <a:rPr lang="en-US" sz="2200" b="1" kern="100" spc="-28" dirty="0">
                <a:solidFill>
                  <a:srgbClr val="22D3EE"/>
                </a:solidFill>
                <a:latin typeface="Inter Bold" pitchFamily="34" charset="0"/>
                <a:ea typeface="Inter Bold" pitchFamily="34" charset="-122"/>
                <a:cs typeface="Inter Bold" pitchFamily="34" charset="-120"/>
              </a:rPr>
              <a:t>FUTURE WORK</a:t>
            </a:r>
            <a:endParaRPr lang="en-US" sz="2200" dirty="0"/>
          </a:p>
        </p:txBody>
      </p:sp>
      <p:sp>
        <p:nvSpPr>
          <p:cNvPr id="19" name="Text 17"/>
          <p:cNvSpPr/>
          <p:nvPr/>
        </p:nvSpPr>
        <p:spPr>
          <a:xfrm>
            <a:off x="7626159" y="1854200"/>
            <a:ext cx="3695608" cy="2097683"/>
          </a:xfrm>
          <a:prstGeom prst="rect">
            <a:avLst/>
          </a:prstGeom>
          <a:noFill/>
          <a:ln/>
        </p:spPr>
        <p:txBody>
          <a:bodyPr wrap="square" lIns="0" tIns="0" rIns="0" bIns="0" rtlCol="0" anchor="t">
            <a:normAutofit/>
          </a:bodyPr>
          <a:lstStyle/>
          <a:p>
            <a:pPr marL="365760" indent="-365760" algn="l">
              <a:lnSpc>
                <a:spcPct val="117000"/>
              </a:lnSpc>
              <a:buSzPct val="100000"/>
              <a:buChar char="•"/>
            </a:pPr>
            <a:r>
              <a:rPr lang="en-US" sz="1800" kern="100" spc="-28" dirty="0">
                <a:solidFill>
                  <a:srgbClr val="F1F5F9"/>
                </a:solidFill>
                <a:latin typeface="Inter" pitchFamily="34" charset="0"/>
                <a:ea typeface="Inter" pitchFamily="34" charset="-122"/>
                <a:cs typeface="Inter" pitchFamily="34" charset="-120"/>
              </a:rPr>
              <a:t>Continue training with LR decay</a:t>
            </a:r>
            <a:endParaRPr lang="en-US" sz="1800" dirty="0"/>
          </a:p>
          <a:p>
            <a:pPr marL="365760" indent="-365760" algn="l">
              <a:lnSpc>
                <a:spcPct val="117000"/>
              </a:lnSpc>
              <a:buSzPct val="100000"/>
              <a:buChar char="•"/>
            </a:pPr>
            <a:r>
              <a:rPr lang="en-US" sz="1800" kern="100" spc="-28" dirty="0">
                <a:solidFill>
                  <a:srgbClr val="F1F5F9"/>
                </a:solidFill>
                <a:latin typeface="Inter" pitchFamily="34" charset="0"/>
                <a:ea typeface="Inter" pitchFamily="34" charset="-122"/>
                <a:cs typeface="Inter" pitchFamily="34" charset="-120"/>
              </a:rPr>
              <a:t>Full-length held-out test evaluation</a:t>
            </a:r>
            <a:endParaRPr lang="en-US" sz="1800" dirty="0"/>
          </a:p>
          <a:p>
            <a:pPr marL="365760" indent="-365760" algn="l">
              <a:lnSpc>
                <a:spcPct val="117000"/>
              </a:lnSpc>
              <a:buSzPct val="100000"/>
              <a:buChar char="•"/>
            </a:pPr>
            <a:r>
              <a:rPr lang="en-US" sz="1800" kern="100" spc="-28" dirty="0">
                <a:solidFill>
                  <a:srgbClr val="F1F5F9"/>
                </a:solidFill>
                <a:latin typeface="Inter" pitchFamily="34" charset="0"/>
                <a:ea typeface="Inter" pitchFamily="34" charset="-122"/>
                <a:cs typeface="Inter" pitchFamily="34" charset="-120"/>
              </a:rPr>
              <a:t>Speaker + environmental noise</a:t>
            </a:r>
            <a:endParaRPr lang="en-US" sz="1800" dirty="0"/>
          </a:p>
          <a:p>
            <a:pPr marL="365760" indent="-365760" algn="l">
              <a:lnSpc>
                <a:spcPct val="117000"/>
              </a:lnSpc>
              <a:buSzPct val="100000"/>
              <a:buChar char="•"/>
            </a:pPr>
            <a:r>
              <a:rPr lang="en-US" sz="1800" kern="100" spc="-28" dirty="0">
                <a:solidFill>
                  <a:srgbClr val="F1F5F9"/>
                </a:solidFill>
                <a:latin typeface="Inter" pitchFamily="34" charset="0"/>
                <a:ea typeface="Inter" pitchFamily="34" charset="-122"/>
                <a:cs typeface="Inter" pitchFamily="34" charset="-120"/>
              </a:rPr>
              <a:t>SepFormer comparison</a:t>
            </a:r>
            <a:endParaRPr lang="en-US" sz="1800" dirty="0"/>
          </a:p>
          <a:p>
            <a:pPr marL="365760" indent="-365760" algn="l">
              <a:lnSpc>
                <a:spcPct val="117000"/>
              </a:lnSpc>
              <a:buSzPct val="100000"/>
              <a:buChar char="•"/>
            </a:pPr>
            <a:r>
              <a:rPr lang="en-US" sz="1800" kern="100" spc="-28" dirty="0">
                <a:solidFill>
                  <a:srgbClr val="F1F5F9"/>
                </a:solidFill>
                <a:latin typeface="Inter" pitchFamily="34" charset="0"/>
                <a:ea typeface="Inter" pitchFamily="34" charset="-122"/>
                <a:cs typeface="Inter" pitchFamily="34" charset="-120"/>
              </a:rPr>
              <a:t>Harder real-world conditions</a:t>
            </a:r>
            <a:endParaRPr lang="en-US" sz="1800" dirty="0"/>
          </a:p>
        </p:txBody>
      </p:sp>
      <p:sp>
        <p:nvSpPr>
          <p:cNvPr id="20" name="Shape 18"/>
          <p:cNvSpPr/>
          <p:nvPr/>
        </p:nvSpPr>
        <p:spPr>
          <a:xfrm>
            <a:off x="609585" y="5283200"/>
            <a:ext cx="10972526" cy="660400"/>
          </a:xfrm>
          <a:prstGeom prst="roundRect">
            <a:avLst>
              <a:gd name="adj" fmla="val 13292"/>
            </a:avLst>
          </a:prstGeom>
          <a:solidFill>
            <a:srgbClr val="22D3EE"/>
          </a:solidFill>
          <a:ln/>
        </p:spPr>
        <p:txBody>
          <a:bodyPr/>
          <a:lstStyle/>
          <a:p>
            <a:endParaRPr lang="en-IN"/>
          </a:p>
        </p:txBody>
      </p:sp>
      <p:sp>
        <p:nvSpPr>
          <p:cNvPr id="21" name="Text 19"/>
          <p:cNvSpPr/>
          <p:nvPr/>
        </p:nvSpPr>
        <p:spPr>
          <a:xfrm>
            <a:off x="361941" y="5311180"/>
            <a:ext cx="11467813" cy="604441"/>
          </a:xfrm>
          <a:prstGeom prst="rect">
            <a:avLst/>
          </a:prstGeom>
          <a:noFill/>
          <a:ln/>
        </p:spPr>
        <p:txBody>
          <a:bodyPr wrap="none" lIns="0" tIns="0" rIns="0" bIns="0" rtlCol="0" anchor="t"/>
          <a:lstStyle/>
          <a:p>
            <a:pPr marL="0" indent="0" algn="ctr">
              <a:lnSpc>
                <a:spcPct val="117000"/>
              </a:lnSpc>
              <a:buNone/>
            </a:pPr>
            <a:r>
              <a:rPr lang="en-US" sz="3400" b="1" kern="100" spc="-28" dirty="0">
                <a:solidFill>
                  <a:srgbClr val="0B1220"/>
                </a:solidFill>
                <a:latin typeface="Inter Bold" pitchFamily="34" charset="0"/>
                <a:ea typeface="Inter Bold" pitchFamily="34" charset="-122"/>
                <a:cs typeface="Inter Bold" pitchFamily="34" charset="-120"/>
              </a:rPr>
              <a:t>THANK YOU</a:t>
            </a:r>
            <a:endParaRPr lang="en-US" sz="3400" dirty="0"/>
          </a:p>
        </p:txBody>
      </p:sp>
      <p:sp>
        <p:nvSpPr>
          <p:cNvPr id="22" name="Text 20"/>
          <p:cNvSpPr/>
          <p:nvPr/>
        </p:nvSpPr>
        <p:spPr>
          <a:xfrm>
            <a:off x="11338237" y="6527155"/>
            <a:ext cx="683203" cy="174129"/>
          </a:xfrm>
          <a:prstGeom prst="rect">
            <a:avLst/>
          </a:prstGeom>
          <a:noFill/>
          <a:ln/>
        </p:spPr>
        <p:txBody>
          <a:bodyPr wrap="none" lIns="0" tIns="0" rIns="0" bIns="0" rtlCol="0" anchor="ctr"/>
          <a:lstStyle/>
          <a:p>
            <a:pPr marL="0" indent="0" algn="l">
              <a:lnSpc>
                <a:spcPct val="117000"/>
              </a:lnSpc>
              <a:buNone/>
            </a:pPr>
            <a:r>
              <a:rPr lang="en-US" sz="1000" kern="100" spc="-28" dirty="0">
                <a:solidFill>
                  <a:srgbClr val="94A3B8"/>
                </a:solidFill>
                <a:latin typeface="Inter" pitchFamily="34" charset="0"/>
                <a:ea typeface="Inter" pitchFamily="34" charset="-122"/>
                <a:cs typeface="Inter" pitchFamily="34" charset="-120"/>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1910</Words>
  <Application>Microsoft Office PowerPoint</Application>
  <PresentationFormat>Widescreen</PresentationFormat>
  <Paragraphs>223</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Petrona Bold</vt:lpstr>
      <vt:lpstr>Arial</vt:lpstr>
      <vt:lpstr>Inter</vt:lpstr>
      <vt:lpstr>Inter Bold</vt:lpstr>
      <vt:lpstr>Carlito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YATHARTH</dc:creator>
  <cp:lastModifiedBy>YATHARTH TADVI</cp:lastModifiedBy>
  <cp:revision>2</cp:revision>
  <dcterms:created xsi:type="dcterms:W3CDTF">2026-10-02T08:09:22Z</dcterms:created>
  <dcterms:modified xsi:type="dcterms:W3CDTF">2026-10-02T08:11:14Z</dcterms:modified>
</cp:coreProperties>
</file>